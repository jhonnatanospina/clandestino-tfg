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1.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ortada" id="{144dc66f-3058-92b7-dfe8-7a5a4de3ab85}">
          <p14:sldIdLst>
            <p14:sldId id="256"/>
          </p14:sldIdLst>
        </p14:section>
        <p14:section name="Recorrido" id="{0d0a58cf-f234-536f-d8cf-d19f03e8a853}">
          <p14:sldIdLst>
            <p14:sldId id="257"/>
          </p14:sldIdLst>
        </p14:section>
        <p14:section name="Introducción" id="{c80c1899-cd0e-4b9e-712c-cd9898faf35c}">
          <p14:sldIdLst>
            <p14:sldId id="258"/>
            <p14:sldId id="259"/>
          </p14:sldIdLst>
        </p14:section>
        <p14:section name="Objetivos" id="{b30607e7-981b-d267-c11c-5b82bcdbab3b}">
          <p14:sldIdLst>
            <p14:sldId id="260"/>
          </p14:sldIdLst>
        </p14:section>
        <p14:section name="Contenidos" id="{e2b21640-25d3-fa6c-269f-3dc93b6c939c}">
          <p14:sldIdLst>
            <p14:sldId id="261"/>
            <p14:sldId id="262"/>
            <p14:sldId id="263"/>
          </p14:sldIdLst>
        </p14:section>
        <p14:section name="Metodología" id="{c20d3521-93fe-232a-d2e0-14ff7140591d}">
          <p14:sldIdLst>
            <p14:sldId id="264"/>
          </p14:sldIdLst>
        </p14:section>
        <p14:section name="Desarrollo" id="{7a201909-d760-4c6e-4cb5-525b000899ba}">
          <p14:sldIdLst>
            <p14:sldId id="265"/>
            <p14:sldId id="266"/>
          </p14:sldIdLst>
        </p14:section>
        <p14:section name="Concurrencia" id="{6e6ad0be-4550-4505-695d-f4e86dc2bcc0}">
          <p14:sldIdLst>
            <p14:sldId id="267"/>
          </p14:sldIdLst>
        </p14:section>
        <p14:section name="Pruebas y demo" id="{f7ee7ad1-b19c-fd83-93c4-674a5fa01e8f}">
          <p14:sldIdLst>
            <p14:sldId id="268"/>
            <p14:sldId id="269"/>
          </p14:sldIdLst>
        </p14:section>
        <p14:section name="Conclusiones" id="{077438c4-f38a-8d30-78c8-9ae608373e93}">
          <p14:sldIdLst>
            <p14:sldId id="270"/>
          </p14:sldIdLst>
        </p14:section>
        <p14:section name="Cierre" id="{24d15681-bf1c-1ed8-9270-f9b9fc202fb8}">
          <p14:sldIdLst>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FFFFFF"/>
                </a:solidFill>
                <a:latin typeface="+mn-lt"/>
              </a:defRPr>
            </a:pPr>
            <a:r>
              <a:rPr sz="1400" b="0" i="0" u="none" strike="noStrike">
                <a:solidFill>
                  <a:srgbClr val="FFFFFF"/>
                </a:solidFill>
                <a:latin typeface="+mn-lt"/>
              </a:rPr>
              <a:t>Citas creadas con 5 peticiones a la vez</a:t>
            </a:r>
          </a:p>
        </c:rich>
      </c:tx>
      <c:layout/>
      <c:overlay val="0"/>
    </c:title>
    <c:autoTitleDeleted val="0"/>
    <c:plotArea>
      <c:layout/>
      <c:barChart>
        <c:barDir val="col"/>
        <c:grouping val="clustered"/>
        <c:varyColors val="0"/>
        <c:ser>
          <c:idx val="0"/>
          <c:order val="0"/>
          <c:tx>
            <c:strRef>
              <c:f>Sheet1!$B$1</c:f>
              <c:strCache>
                <c:ptCount val="1"/>
                <c:pt idx="0">
                  <c:v>Citas creadas</c:v>
                </c:pt>
              </c:strCache>
            </c:strRef>
          </c:tx>
          <c:spPr>
            <a:solidFill>
              <a:srgbClr val="DD0426"/>
            </a:solidFill>
            <a:effectLst/>
          </c:spPr>
          <c:invertIfNegative val="0"/>
          <c:dLbls>
            <c:numFmt formatCode="#,##0" sourceLinked="0"/>
            <c:txPr>
              <a:bodyPr/>
              <a:lstStyle/>
              <a:p>
                <a:pPr>
                  <a:defRPr b="1" i="0" strike="noStrike" sz="1600" u="none">
                    <a:solidFill>
                      <a:srgbClr val="FFFFFF"/>
                    </a:solidFill>
                    <a:latin typeface="+mn-lt"/>
                  </a:defRPr>
                </a:pPr>
              </a:p>
            </c:txPr>
            <c:showLegendKey val="0"/>
            <c:showVal val="1"/>
            <c:showCatName val="0"/>
            <c:showSerName val="0"/>
            <c:showPercent val="0"/>
            <c:showBubbleSize val="0"/>
            <c:showLeaderLines val="0"/>
          </c:dLbls>
          <c:dPt>
            <c:idx val="0"/>
            <c:invertIfNegative val="0"/>
            <c:bubble3D val="0"/>
            <c:spPr>
              <a:solidFill>
                <a:srgbClr val="DD0426"/>
              </a:solidFill>
              <a:effectLst/>
            </c:spPr>
          </c:dPt>
          <c:dPt>
            <c:idx val="1"/>
            <c:invertIfNegative val="0"/>
            <c:bubble3D val="0"/>
            <c:spPr>
              <a:solidFill>
                <a:srgbClr val="8E8E93"/>
              </a:solidFill>
              <a:effectLst/>
            </c:spPr>
          </c:dPt>
          <c:dPt>
            <c:idx val="2"/>
            <c:invertIfNegative val="0"/>
            <c:bubble3D val="0"/>
            <c:spPr>
              <a:solidFill>
                <a:srgbClr val="8E8E93"/>
              </a:solidFill>
              <a:effectLst/>
            </c:spPr>
          </c:dPt>
          <c:cat>
            <c:multiLvlStrRef>
              <c:f>Sheet1!$A$2:$A$4</c:f>
              <c:multiLvlStrCache>
                <c:ptCount val="3"/>
                <c:lvl>
                  <c:pt idx="0">
                    <c:v>Cupo 1, sin cerrojo</c:v>
                  </c:pt>
                  <c:pt idx="1">
                    <c:v>Cupo 1, con cerrojo</c:v>
                  </c:pt>
                  <c:pt idx="2">
                    <c:v>Cupo 5, misma hora, sin cerrojo</c:v>
                  </c:pt>
                </c:lvl>
              </c:multiLvlStrCache>
            </c:multiLvlStrRef>
          </c:cat>
          <c:val>
            <c:numRef>
              <c:f>Sheet1!$B$2:$B$4</c:f>
              <c:numCache>
                <c:formatCode>General</c:formatCode>
                <c:ptCount val="3"/>
                <c:pt idx="0">
                  <c:v>5</c:v>
                </c:pt>
                <c:pt idx="1">
                  <c:v>1</c:v>
                </c:pt>
                <c:pt idx="2">
                  <c:v>1</c:v>
                </c:pt>
              </c:numCache>
            </c:numRef>
          </c:val>
        </c:ser>
        <c:dLbls>
          <c:numFmt formatCode="#,##0" sourceLinked="0"/>
          <c:txPr>
            <a:bodyPr/>
            <a:lstStyle/>
            <a:p>
              <a:pPr>
                <a:defRPr b="1" i="0" strike="noStrike" sz="1600" u="none">
                  <a:solidFill>
                    <a:srgbClr val="FFFFFF"/>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DADADF"/>
                </a:solidFill>
                <a:latin typeface="+mn-lt"/>
              </a:defRPr>
            </a:pPr>
            <a:endParaRPr lang="en-US"/>
          </a:p>
        </c:txPr>
        <c:crossAx val="2094734552"/>
        <c:crosses val="autoZero"/>
        <c:auto val="1"/>
        <c:lblAlgn val="ctr"/>
        <c:noMultiLvlLbl val="1"/>
      </c:catAx>
      <c:valAx>
        <c:axId val="2094734552"/>
        <c:scaling>
          <c:orientation val="minMax"/>
          <c:max val="6"/>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Buenos días. Soy [nombre] y presento Clandestino, mi trabajo de fin de grado del ciclo de DAM. Es una app Android para gestionar las citas de una barbería real que solo atiende con cita y a clientes invitados. Detrás de la app hay una API REST escrita en Java y una base de datos MySQL.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presentación sigue el mismo orden que la memoria. Empiezo por el problema y el mercado, sigo con los objetivos y el diseño, la metodología y el desarrollo, y me paro en lo más difícil, que es el cupo diario con peticiones simultáneas. Termino con las pruebas, una demostración y las conclusiones.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Clandestino es una barbería de una sola persona. Trabaja siempre con cita, solo acepta clientes que vienen invitados y cada día tiene un máximo de citas. Los datos públicos dicen que casi todo el mundo usa el móvil a diario y que en este sector predomina el negocio sin empleados, así que tiene sentido una app pensada primero para el teléfono.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Revisé siete aplicaciones de reservas en sus webs oficiales. Las especializadas, como Booksy, Fresha o Treatwell, giran en torno a un escaparate público que trae clientes nuevos a cambio de cuotas o comisiones. Las generalistas, como Setmore o Calendly, no entienden de cupos ni de aprobar clientes. Ninguna junta las tres reglas que necesita este negocio, y ese es el hueco del proyecto.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objetivo general es que la barbería gestione sus citas desde el móvil con sus tres reglas y sin reservas duplicadas. Lo concreté en cinco objetivos: una base de datos que bloquee por sí sola las dobles reservas, una API en Java sin frameworks, un cupo que aguante peticiones a la vez, una app Android con MVVM y pruebas que demuestren todo lo anterior.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Antes de programar dibujé once mockups en draw.io, uno por pantalla. A la izquierda está el de «Pedir cita» y a la derecha cómo quedó en la app. Se parecen mucho. El cambio principal es que el calendario solo enseña las dos semanas que se pueden reservar, así que sobraban las flechas para cambiar de 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base de datos tiene cinco tablas. La pieza más interesante está en «citas». Una columna generada, hora_ocupada, vale la hora de la cita solo mientras está pendiente o confirmada, y si no vale nulo. Con un índice único sobre la fecha y esa columna, MySQL rechaza por sí mismo una segunda cita activa a la misma hora, sin depender de la API.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Hay tres actores y diez casos de uso. El visitante solo puede registrarse con un código. El cliente consulta los días libres, pide cita y gestiona las suyas, y el barbero lleva las invitaciones, los clientes, las solicitudes, la agenda y los horarios. De ahí salieron treinta requisitos funcionales, y la memoria tiene una tabla que relaciona cada caso con su pantalla y sus rutas.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Seguí un ciclo incremental. Primero diseñé todo el sistema y después lo construí por piezas que se podían probar solas: la base de datos, la API y por último la app. De Scrum tomé la lista de trabajo por prioridades, P1, P2 y P3, y los ciclos cortos con revisión al final. El Gantt muestra las cuatro etapas. Lo macizo ya está hecho y lo discontinuo es el cierre.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sistema tiene tres piezas. La app no se conecta nunca a MySQL. Si lo hiciera, las credenciales irían dentro del APK y cualquiera podría sacarlas. La app habla por HTTP con la API, enviando JSON y un token, y la API es la única que entra en la base de datos. La API no usa ningún framework. Va sobre el servidor HTTP que trae el JDK, y las rutas, el JSON y las transacciones están escritos a mano para poder explicarlos.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seguridad la revisé con las categorías del estándar OWASP MASVS. Las contraseñas se guardan con PBKDF2 y seiscientas mil iteraciones. La sesión es un JWT que firmo yo con HMAC, y en el móvil se guarda cifrado con una clave del Keystore de Android. Además hay un límite de intentos de acceso y todas las consultas van con PreparedStatement, así que no cabe la inyección SQL.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es la parte más difícil del proyecto. Si dos clientes piden a la vez la última plaza del día, cada petición cuenta las citas, ve que queda sitio e inserta. El índice único no lo evita porque las horas son distintas, y ningún índice puede contar las citas de un día. Lo resolví con un cerrojo por fecha y una transacción que cuenta e inserta junta. La prueba lo demuestra: sin cerrojo entran cinco citas en un día con cupo uno, y con cerrojo solo una.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total hay ciento treinta y cuatro pruebas automáticas y todas pasan. Las de la API van contra una base de datos aparte y con un reloj que puedo mover, para comprobar reglas como que no se puede pedir una hora pasada. Además recorrí la app entera en el emulador siguiendo siete casos de prueba y comprobé a mano las respuestas de error de la API.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Ahora lo enseño funcionando en el emulador, con la API y MySQL en marcha en el ordenador. [Demo, unos 90 segundos] Entro como cliente y pido una cita para un día libre. Cambio al barbero, veo la solicitud y la confirmo moviéndola media hora. La cita aparece en la agenda de esa semana. Por último enseño la pantalla de horarios, donde se fijan el tramo y el cupo de cada día. Si la demo fallara, tengo grabado un vídeo corto de respaldo.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cinco objetivos están cumplidos y el prototipo cubre todo el ciclo de la cita. Tiene límites claros: no usa HTTPS, así que solo vale en local, el cerrojo del cupo solo funciona con una copia de la API y las solicitudes no caducan solas. Como trabajo futuro quedan las funciones de la segunda fase, los avisos al cliente y publicar la API con HTTPS. [Una frase de valoración personal.]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Esto es todo. Gracias por la atención. El código, la memoria y los anexos de instalación están en el repositorio.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ORTADA">
    <p:bg>
      <p:bgPr>
        <a:solidFill>
          <a:schemeClr val="tx1"/>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IDO">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11064240" cy="320040"/>
          </a:xfrm>
          <a:prstGeom prst="rect">
            <a:avLst/>
          </a:prstGeom>
          <a:noFill/>
          <a:ln/>
        </p:spPr>
        <p:txBody>
          <a:bodyPr wrap="square" rtlCol="0"/>
          <a:lstStyle>
            <a:lvl1pPr indent="0" marL="0">
              <a:buNone/>
              <a:defRPr lang="en-US" sz="1300" b="1" spc="300" kern="0" dirty="0">
                <a:solidFill>
                  <a:schemeClr val="accent1"/>
                </a:solidFill>
              </a:defRPr>
            </a:lvl1pPr>
          </a:lstStyle>
          <a:p>
            <a:pPr indent="0" marL="0">
              <a:buNone/>
            </a:pPr>
            <a:endParaRPr lang="en-US" sz="1300" dirty="0"/>
          </a:p>
        </p:txBody>
      </p:sp>
      <p:sp>
        <p:nvSpPr>
          <p:cNvPr id="3" name="Text 0"/>
          <p:cNvSpPr/>
          <p:nvPr>
            <p:ph idx="101" type="title" hasCustomPrompt="1"/>
          </p:nvPr>
        </p:nvSpPr>
        <p:spPr>
          <a:xfrm>
            <a:off x="548640" y="713232"/>
            <a:ext cx="11064240" cy="777240"/>
          </a:xfrm>
          <a:prstGeom prst="rect">
            <a:avLst/>
          </a:prstGeom>
          <a:noFill/>
          <a:ln/>
        </p:spPr>
        <p:txBody>
          <a:bodyPr wrap="square" rtlCol="0"/>
          <a:lstStyle>
            <a:lvl1pPr algn="l" indent="0" marL="0">
              <a:buNone/>
              <a:defRPr lang="en-US" sz="3600" dirty="0">
                <a:solidFill>
                  <a:schemeClr val="tx1"/>
                </a:solidFill>
              </a:defRPr>
            </a:lvl1pPr>
          </a:lstStyle>
          <a:p>
            <a:pPr algn="l" indent="0" marL="0">
              <a:buNone/>
            </a:pPr>
            <a:endParaRPr lang="en-US" sz="3600" dirty="0"/>
          </a:p>
        </p:txBody>
      </p:sp>
      <p:sp>
        <p:nvSpPr>
          <p:cNvPr id="4" name="Text 0"/>
          <p:cNvSpPr/>
          <p:nvPr/>
        </p:nvSpPr>
        <p:spPr>
          <a:xfrm>
            <a:off x="548640" y="6382512"/>
            <a:ext cx="5486400" cy="274320"/>
          </a:xfrm>
          <a:prstGeom prst="rect">
            <a:avLst/>
          </a:prstGeom>
          <a:noFill/>
          <a:ln/>
        </p:spPr>
        <p:txBody>
          <a:bodyPr wrap="square" lIns="0" tIns="0" rIns="0" bIns="0" rtlCol="0" anchor="ctr"/>
          <a:lstStyle/>
          <a:p>
            <a:pPr indent="0" marL="0">
              <a:buNone/>
            </a:pPr>
            <a:r>
              <a:rPr lang="en-US" sz="1000" dirty="0">
                <a:solidFill>
                  <a:schemeClr val="accent3"/>
                </a:solidFill>
              </a:rPr>
              <a:t>Clandestino · TFG DAM · Universae 2025-2026</a:t>
            </a:r>
            <a:endParaRPr lang="en-US" sz="1000" dirty="0"/>
          </a:p>
        </p:txBody>
      </p:sp>
      <p:sp>
        <p:nvSpPr>
          <p:cNvPr id="25" name="Slide Number Placeholder 0"/>
          <p:cNvSpPr>
            <a:spLocks noGrp="1"/>
          </p:cNvSpPr>
          <p:nvPr>
            <p:ph type="sldNum" sz="quarter" idx="4294967295"/>
          </p:nvPr>
        </p:nvSpPr>
        <p:spPr>
          <a:xfrm>
            <a:off x="11064240"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OSCURO">
    <p:bg>
      <p:bgPr>
        <a:solidFill>
          <a:schemeClr val="tx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11064240" cy="320040"/>
          </a:xfrm>
          <a:prstGeom prst="rect">
            <a:avLst/>
          </a:prstGeom>
          <a:noFill/>
          <a:ln/>
        </p:spPr>
        <p:txBody>
          <a:bodyPr wrap="square" rtlCol="0"/>
          <a:lstStyle>
            <a:lvl1pPr indent="0" marL="0">
              <a:buNone/>
              <a:defRPr lang="en-US" sz="1300" b="1" spc="300" kern="0" dirty="0">
                <a:solidFill>
                  <a:schemeClr val="accent1"/>
                </a:solidFill>
              </a:defRPr>
            </a:lvl1pPr>
          </a:lstStyle>
          <a:p>
            <a:pPr indent="0" marL="0">
              <a:buNone/>
            </a:pPr>
            <a:endParaRPr lang="en-US" sz="1300" dirty="0"/>
          </a:p>
        </p:txBody>
      </p:sp>
      <p:sp>
        <p:nvSpPr>
          <p:cNvPr id="3" name="Text 0"/>
          <p:cNvSpPr/>
          <p:nvPr>
            <p:ph idx="101" type="title" hasCustomPrompt="1"/>
          </p:nvPr>
        </p:nvSpPr>
        <p:spPr>
          <a:xfrm>
            <a:off x="548640" y="713232"/>
            <a:ext cx="11064240" cy="777240"/>
          </a:xfrm>
          <a:prstGeom prst="rect">
            <a:avLst/>
          </a:prstGeom>
          <a:noFill/>
          <a:ln/>
        </p:spPr>
        <p:txBody>
          <a:bodyPr wrap="square" rtlCol="0"/>
          <a:lstStyle>
            <a:lvl1pPr algn="l" indent="0" marL="0">
              <a:buNone/>
              <a:defRPr lang="en-US" sz="3600" dirty="0">
                <a:solidFill>
                  <a:schemeClr val="bg1"/>
                </a:solidFill>
              </a:defRPr>
            </a:lvl1pPr>
          </a:lstStyle>
          <a:p>
            <a:pPr algn="l" indent="0" marL="0">
              <a:buNone/>
            </a:pPr>
            <a:endParaRPr lang="en-US" sz="3600" dirty="0"/>
          </a:p>
        </p:txBody>
      </p:sp>
      <p:sp>
        <p:nvSpPr>
          <p:cNvPr id="4" name="Text 0"/>
          <p:cNvSpPr/>
          <p:nvPr/>
        </p:nvSpPr>
        <p:spPr>
          <a:xfrm>
            <a:off x="548640" y="6382512"/>
            <a:ext cx="5486400" cy="274320"/>
          </a:xfrm>
          <a:prstGeom prst="rect">
            <a:avLst/>
          </a:prstGeom>
          <a:noFill/>
          <a:ln/>
        </p:spPr>
        <p:txBody>
          <a:bodyPr wrap="square" lIns="0" tIns="0" rIns="0" bIns="0" rtlCol="0" anchor="ctr"/>
          <a:lstStyle/>
          <a:p>
            <a:pPr indent="0" marL="0">
              <a:buNone/>
            </a:pPr>
            <a:r>
              <a:rPr lang="en-US" sz="1000" dirty="0">
                <a:solidFill>
                  <a:schemeClr val="accent3"/>
                </a:solidFill>
              </a:rPr>
              <a:t>Clandestino · TFG DAM · Universae 2025-2026</a:t>
            </a:r>
            <a:endParaRPr lang="en-US" sz="1000" dirty="0"/>
          </a:p>
        </p:txBody>
      </p:sp>
      <p:sp>
        <p:nvSpPr>
          <p:cNvPr id="25" name="Slide Number Placeholder 0"/>
          <p:cNvSpPr>
            <a:spLocks noGrp="1"/>
          </p:cNvSpPr>
          <p:nvPr>
            <p:ph type="sldNum" sz="quarter" idx="4294967295"/>
          </p:nvPr>
        </p:nvSpPr>
        <p:spPr>
          <a:xfrm>
            <a:off x="11064240"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3.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3.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3.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3.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3.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3.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3.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slideLayout" Target="../slideLayouts/slideLayout3.xml"/><Relationship Id="rId8"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4.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3.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slideLayout" Target="../slideLayouts/slideLayout3.xml"/><Relationship Id="rId7"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3.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640080" y="1371600"/>
            <a:ext cx="6400800" cy="365760"/>
          </a:xfrm>
          <a:prstGeom prst="rect">
            <a:avLst/>
          </a:prstGeom>
          <a:noFill/>
          <a:ln/>
        </p:spPr>
        <p:txBody>
          <a:bodyPr wrap="square" lIns="0" tIns="0" rIns="0" bIns="0" rtlCol="0" anchor="t"/>
          <a:lstStyle/>
          <a:p>
            <a:pPr indent="0" marL="0">
              <a:buNone/>
            </a:pPr>
            <a:r>
              <a:rPr lang="en-US" sz="1400" b="1" spc="300" kern="0" dirty="0">
                <a:solidFill>
                  <a:schemeClr val="accent1"/>
                </a:solidFill>
              </a:rPr>
              <a:t>TRABAJO DE FIN DE GRADO · DAM</a:t>
            </a:r>
            <a:endParaRPr lang="en-US" sz="1400" dirty="0"/>
          </a:p>
        </p:txBody>
      </p:sp>
      <p:sp>
        <p:nvSpPr>
          <p:cNvPr id="3" name="Text 1"/>
          <p:cNvSpPr txBox="1"/>
          <p:nvPr/>
        </p:nvSpPr>
        <p:spPr>
          <a:xfrm>
            <a:off x="640080" y="1783080"/>
            <a:ext cx="6583680" cy="1325880"/>
          </a:xfrm>
          <a:prstGeom prst="rect">
            <a:avLst/>
          </a:prstGeom>
          <a:noFill/>
          <a:ln/>
        </p:spPr>
        <p:txBody>
          <a:bodyPr wrap="square" lIns="0" tIns="0" rIns="0" bIns="0" rtlCol="0" anchor="t"/>
          <a:lstStyle/>
          <a:p>
            <a:pPr indent="0" marL="0">
              <a:buNone/>
            </a:pPr>
            <a:r>
              <a:rPr lang="en-US" sz="8000" dirty="0">
                <a:solidFill>
                  <a:schemeClr val="bg1"/>
                </a:solidFill>
                <a:latin typeface="+mj-lt" pitchFamily="34" charset="0"/>
                <a:ea typeface="+mj-lt" pitchFamily="34" charset="-122"/>
                <a:cs typeface="+mj-lt" pitchFamily="34" charset="-120"/>
              </a:rPr>
              <a:t>CLANDESTINO</a:t>
            </a:r>
            <a:endParaRPr lang="en-US" sz="8000" dirty="0"/>
          </a:p>
        </p:txBody>
      </p:sp>
      <p:sp>
        <p:nvSpPr>
          <p:cNvPr id="4" name="Text 2"/>
          <p:cNvSpPr txBox="1"/>
          <p:nvPr/>
        </p:nvSpPr>
        <p:spPr>
          <a:xfrm>
            <a:off x="640080" y="3200400"/>
            <a:ext cx="6035040" cy="914400"/>
          </a:xfrm>
          <a:prstGeom prst="rect">
            <a:avLst/>
          </a:prstGeom>
          <a:noFill/>
          <a:ln/>
        </p:spPr>
        <p:txBody>
          <a:bodyPr wrap="square" lIns="0" tIns="0" rIns="0" bIns="0" rtlCol="0" anchor="t"/>
          <a:lstStyle/>
          <a:p>
            <a:pPr indent="0" marL="0">
              <a:buNone/>
            </a:pPr>
            <a:r>
              <a:rPr lang="en-US" sz="2200" dirty="0">
                <a:solidFill>
                  <a:schemeClr val="accent6"/>
                </a:solidFill>
              </a:rPr>
              <a:t>App Android para gestionar las citas de una barbería que trabaja solo por invitación</a:t>
            </a:r>
            <a:endParaRPr lang="en-US" sz="2200" dirty="0"/>
          </a:p>
        </p:txBody>
      </p:sp>
      <p:sp>
        <p:nvSpPr>
          <p:cNvPr id="5" name="Text 3"/>
          <p:cNvSpPr txBox="1"/>
          <p:nvPr/>
        </p:nvSpPr>
        <p:spPr>
          <a:xfrm>
            <a:off x="640080" y="4206240"/>
            <a:ext cx="6035040" cy="365760"/>
          </a:xfrm>
          <a:prstGeom prst="rect">
            <a:avLst/>
          </a:prstGeom>
          <a:noFill/>
          <a:ln/>
        </p:spPr>
        <p:txBody>
          <a:bodyPr wrap="square" lIns="0" tIns="0" rIns="0" bIns="0" rtlCol="0" anchor="t"/>
          <a:lstStyle/>
          <a:p>
            <a:pPr indent="0" marL="0">
              <a:buNone/>
            </a:pPr>
            <a:r>
              <a:rPr lang="en-US" sz="1600" dirty="0">
                <a:solidFill>
                  <a:schemeClr val="accent3"/>
                </a:solidFill>
              </a:rPr>
              <a:t>Java 21 · API REST propia · MySQL 9.7 · Android 8 a 16</a:t>
            </a:r>
            <a:endParaRPr lang="en-US" sz="1600" dirty="0"/>
          </a:p>
        </p:txBody>
      </p:sp>
      <p:sp>
        <p:nvSpPr>
          <p:cNvPr id="6" name="Text 4"/>
          <p:cNvSpPr txBox="1"/>
          <p:nvPr/>
        </p:nvSpPr>
        <p:spPr>
          <a:xfrm>
            <a:off x="640080" y="5212080"/>
            <a:ext cx="6035040" cy="365760"/>
          </a:xfrm>
          <a:prstGeom prst="rect">
            <a:avLst/>
          </a:prstGeom>
          <a:noFill/>
          <a:ln/>
        </p:spPr>
        <p:txBody>
          <a:bodyPr wrap="square" lIns="0" tIns="0" rIns="0" bIns="0" rtlCol="0" anchor="t"/>
          <a:lstStyle/>
          <a:p>
            <a:pPr indent="0" marL="0">
              <a:buNone/>
            </a:pPr>
            <a:r>
              <a:rPr lang="en-US" sz="1800" b="1" dirty="0">
                <a:solidFill>
                  <a:schemeClr val="bg1"/>
                </a:solidFill>
              </a:rPr>
              <a:t>[Nombre del alumno]</a:t>
            </a:r>
            <a:endParaRPr lang="en-US" sz="1800" dirty="0"/>
          </a:p>
        </p:txBody>
      </p:sp>
      <p:sp>
        <p:nvSpPr>
          <p:cNvPr id="7" name="Text 5"/>
          <p:cNvSpPr txBox="1"/>
          <p:nvPr/>
        </p:nvSpPr>
        <p:spPr>
          <a:xfrm>
            <a:off x="640080" y="5596128"/>
            <a:ext cx="6035040" cy="320040"/>
          </a:xfrm>
          <a:prstGeom prst="rect">
            <a:avLst/>
          </a:prstGeom>
          <a:noFill/>
          <a:ln/>
        </p:spPr>
        <p:txBody>
          <a:bodyPr wrap="square" lIns="0" tIns="0" rIns="0" bIns="0" rtlCol="0" anchor="t"/>
          <a:lstStyle/>
          <a:p>
            <a:pPr indent="0" marL="0">
              <a:buNone/>
            </a:pPr>
            <a:r>
              <a:rPr lang="en-US" sz="1400" dirty="0">
                <a:solidFill>
                  <a:schemeClr val="accent3"/>
                </a:solidFill>
              </a:rPr>
              <a:t>Tutor: [nombre del tutor] · Universae · Curso 2025-2026</a:t>
            </a:r>
            <a:endParaRPr lang="en-US" sz="1400" dirty="0"/>
          </a:p>
        </p:txBody>
      </p:sp>
      <p:sp>
        <p:nvSpPr>
          <p:cNvPr id="8" name="portada-c2-marco"/>
          <p:cNvSpPr/>
          <p:nvPr/>
        </p:nvSpPr>
        <p:spPr>
          <a:xfrm>
            <a:off x="7315200" y="1280160"/>
            <a:ext cx="2103120" cy="4517136"/>
          </a:xfrm>
          <a:prstGeom prst="roundRect">
            <a:avLst>
              <a:gd name="adj" fmla="val 6957"/>
            </a:avLst>
          </a:prstGeom>
          <a:solidFill>
            <a:srgbClr val="1E1E21"/>
          </a:solidFill>
          <a:ln/>
        </p:spPr>
      </p:sp>
      <p:pic>
        <p:nvPicPr>
          <p:cNvPr id="9" name="portada-c2-imagen" descr="C:\Dev\clandestino-tfg\docs\capturas\C2-pedir-cita.png">    </p:cNvPr>
          <p:cNvPicPr>
            <a:picLocks noChangeAspect="1"/>
          </p:cNvPicPr>
          <p:nvPr/>
        </p:nvPicPr>
        <p:blipFill>
          <a:blip r:embed="rId1"/>
          <a:stretch>
            <a:fillRect/>
          </a:stretch>
        </p:blipFill>
        <p:spPr>
          <a:xfrm>
            <a:off x="7379208" y="1344168"/>
            <a:ext cx="1975104" cy="4389120"/>
          </a:xfrm>
          <a:prstGeom prst="rect">
            <a:avLst/>
          </a:prstGeom>
        </p:spPr>
      </p:pic>
      <p:sp>
        <p:nvSpPr>
          <p:cNvPr id="10" name="portada-d2-marco"/>
          <p:cNvSpPr/>
          <p:nvPr/>
        </p:nvSpPr>
        <p:spPr>
          <a:xfrm>
            <a:off x="9601200" y="822960"/>
            <a:ext cx="2103120" cy="4517136"/>
          </a:xfrm>
          <a:prstGeom prst="roundRect">
            <a:avLst>
              <a:gd name="adj" fmla="val 6957"/>
            </a:avLst>
          </a:prstGeom>
          <a:solidFill>
            <a:srgbClr val="1E1E21"/>
          </a:solidFill>
          <a:ln/>
        </p:spPr>
      </p:sp>
      <p:pic>
        <p:nvPicPr>
          <p:cNvPr id="11" name="portada-d2-imagen" descr="C:\Dev\clandestino-tfg\docs\capturas\D2-agenda.png">    </p:cNvPr>
          <p:cNvPicPr>
            <a:picLocks noChangeAspect="1"/>
          </p:cNvPicPr>
          <p:nvPr/>
        </p:nvPicPr>
        <p:blipFill>
          <a:blip r:embed="rId2"/>
          <a:stretch>
            <a:fillRect/>
          </a:stretch>
        </p:blipFill>
        <p:spPr>
          <a:xfrm>
            <a:off x="9665208" y="886968"/>
            <a:ext cx="1975104" cy="438912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11064240" cy="320040"/>
          </a:xfrm>
          <a:prstGeom prst="rect">
            <a:avLst/>
          </a:prstGeom>
          <a:noFill/>
          <a:ln/>
        </p:spPr>
        <p:txBody>
          <a:bodyPr wrap="square" lIns="0" tIns="0" rIns="0" bIns="0" rtlCol="0" anchor="t"/>
          <a:lstStyle/>
          <a:p>
            <a:pPr indent="0" marL="0">
              <a:buNone/>
            </a:pPr>
            <a:r>
              <a:rPr lang="en-US" sz="1300" b="1" spc="300" kern="0" dirty="0">
                <a:solidFill>
                  <a:schemeClr val="accent1"/>
                </a:solidFill>
              </a:rPr>
              <a:t>RECORRIDO</a:t>
            </a:r>
            <a:endParaRPr lang="en-US" sz="1300" dirty="0"/>
          </a:p>
        </p:txBody>
      </p:sp>
      <p:sp>
        <p:nvSpPr>
          <p:cNvPr id="3" name="Text 0"/>
          <p:cNvSpPr/>
          <p:nvPr>
            <p:ph idx="101" type="title" hasCustomPrompt="1"/>
          </p:nvPr>
        </p:nvSpPr>
        <p:spPr>
          <a:xfrm>
            <a:off x="548640" y="713232"/>
            <a:ext cx="11064240" cy="777240"/>
          </a:xfrm>
          <a:prstGeom prst="rect">
            <a:avLst/>
          </a:prstGeom>
          <a:noFill/>
          <a:ln/>
        </p:spPr>
        <p:txBody>
          <a:bodyPr wrap="square" lIns="0" tIns="0" rIns="0" bIns="0" rtlCol="0" anchor="t"/>
          <a:lstStyle/>
          <a:p>
            <a:pPr algn="l" indent="0" marL="0">
              <a:buNone/>
            </a:pPr>
            <a:r>
              <a:rPr lang="en-US" sz="3600" dirty="0">
                <a:solidFill>
                  <a:schemeClr val="tx1"/>
                </a:solidFill>
              </a:rPr>
              <a:t>MISMO ORDEN QUE LA MEMORIA</a:t>
            </a:r>
            <a:endParaRPr lang="en-US" sz="3600" dirty="0"/>
          </a:p>
        </p:txBody>
      </p:sp>
      <p:sp>
        <p:nvSpPr>
          <p:cNvPr id="4" name="apartado-3"/>
          <p:cNvSpPr/>
          <p:nvPr/>
        </p:nvSpPr>
        <p:spPr>
          <a:xfrm>
            <a:off x="548640" y="1783080"/>
            <a:ext cx="2567178" cy="1965960"/>
          </a:xfrm>
          <a:prstGeom prst="roundRect">
            <a:avLst>
              <a:gd name="adj" fmla="val 5581"/>
            </a:avLst>
          </a:prstGeom>
          <a:solidFill>
            <a:schemeClr val="bg2"/>
          </a:solidFill>
          <a:ln/>
        </p:spPr>
      </p:sp>
      <p:sp>
        <p:nvSpPr>
          <p:cNvPr id="5" name="Text 3"/>
          <p:cNvSpPr txBox="1"/>
          <p:nvPr/>
        </p:nvSpPr>
        <p:spPr>
          <a:xfrm>
            <a:off x="822960" y="2011680"/>
            <a:ext cx="2018538" cy="685800"/>
          </a:xfrm>
          <a:prstGeom prst="rect">
            <a:avLst/>
          </a:prstGeom>
          <a:noFill/>
          <a:ln/>
        </p:spPr>
        <p:txBody>
          <a:bodyPr wrap="square" lIns="0" tIns="0" rIns="0" bIns="0" rtlCol="0" anchor="t"/>
          <a:lstStyle/>
          <a:p>
            <a:pPr indent="0" marL="0">
              <a:buNone/>
            </a:pPr>
            <a:r>
              <a:rPr lang="en-US" sz="4000" dirty="0">
                <a:solidFill>
                  <a:schemeClr val="accent1"/>
                </a:solidFill>
                <a:latin typeface="+mj-lt" pitchFamily="34" charset="0"/>
                <a:ea typeface="+mj-lt" pitchFamily="34" charset="-122"/>
                <a:cs typeface="+mj-lt" pitchFamily="34" charset="-120"/>
              </a:rPr>
              <a:t>3</a:t>
            </a:r>
            <a:endParaRPr lang="en-US" sz="4000" dirty="0"/>
          </a:p>
        </p:txBody>
      </p:sp>
      <p:sp>
        <p:nvSpPr>
          <p:cNvPr id="6" name="Text 4"/>
          <p:cNvSpPr txBox="1"/>
          <p:nvPr/>
        </p:nvSpPr>
        <p:spPr>
          <a:xfrm>
            <a:off x="822960" y="2743200"/>
            <a:ext cx="2018538" cy="411480"/>
          </a:xfrm>
          <a:prstGeom prst="rect">
            <a:avLst/>
          </a:prstGeom>
          <a:noFill/>
          <a:ln/>
        </p:spPr>
        <p:txBody>
          <a:bodyPr wrap="square" lIns="0" tIns="0" rIns="0" bIns="0" rtlCol="0" anchor="t"/>
          <a:lstStyle/>
          <a:p>
            <a:pPr indent="0" marL="0">
              <a:buNone/>
            </a:pPr>
            <a:r>
              <a:rPr lang="en-US" sz="2000" b="1" dirty="0">
                <a:solidFill>
                  <a:schemeClr val="tx1"/>
                </a:solidFill>
              </a:rPr>
              <a:t>Introducción</a:t>
            </a:r>
            <a:endParaRPr lang="en-US" sz="2000" dirty="0"/>
          </a:p>
        </p:txBody>
      </p:sp>
      <p:sp>
        <p:nvSpPr>
          <p:cNvPr id="7" name="Text 5"/>
          <p:cNvSpPr txBox="1"/>
          <p:nvPr/>
        </p:nvSpPr>
        <p:spPr>
          <a:xfrm>
            <a:off x="822960" y="3154680"/>
            <a:ext cx="2018538" cy="457200"/>
          </a:xfrm>
          <a:prstGeom prst="rect">
            <a:avLst/>
          </a:prstGeom>
          <a:noFill/>
          <a:ln/>
        </p:spPr>
        <p:txBody>
          <a:bodyPr wrap="square" lIns="0" tIns="0" rIns="0" bIns="0" rtlCol="0" anchor="t"/>
          <a:lstStyle/>
          <a:p>
            <a:pPr indent="0" marL="0">
              <a:buNone/>
            </a:pPr>
            <a:r>
              <a:rPr lang="en-US" sz="1400" dirty="0">
                <a:solidFill>
                  <a:schemeClr val="tx2"/>
                </a:solidFill>
              </a:rPr>
              <a:t>Problema y mercado</a:t>
            </a:r>
            <a:endParaRPr lang="en-US" sz="1400" dirty="0"/>
          </a:p>
        </p:txBody>
      </p:sp>
      <p:sp>
        <p:nvSpPr>
          <p:cNvPr id="8" name="apartado-4"/>
          <p:cNvSpPr/>
          <p:nvPr/>
        </p:nvSpPr>
        <p:spPr>
          <a:xfrm>
            <a:off x="3390138" y="1783080"/>
            <a:ext cx="2567178" cy="1965960"/>
          </a:xfrm>
          <a:prstGeom prst="roundRect">
            <a:avLst>
              <a:gd name="adj" fmla="val 5581"/>
            </a:avLst>
          </a:prstGeom>
          <a:solidFill>
            <a:schemeClr val="bg2"/>
          </a:solidFill>
          <a:ln/>
        </p:spPr>
      </p:sp>
      <p:sp>
        <p:nvSpPr>
          <p:cNvPr id="9" name="Text 7"/>
          <p:cNvSpPr txBox="1"/>
          <p:nvPr/>
        </p:nvSpPr>
        <p:spPr>
          <a:xfrm>
            <a:off x="3664458" y="2011680"/>
            <a:ext cx="2018538" cy="685800"/>
          </a:xfrm>
          <a:prstGeom prst="rect">
            <a:avLst/>
          </a:prstGeom>
          <a:noFill/>
          <a:ln/>
        </p:spPr>
        <p:txBody>
          <a:bodyPr wrap="square" lIns="0" tIns="0" rIns="0" bIns="0" rtlCol="0" anchor="t"/>
          <a:lstStyle/>
          <a:p>
            <a:pPr indent="0" marL="0">
              <a:buNone/>
            </a:pPr>
            <a:r>
              <a:rPr lang="en-US" sz="4000" dirty="0">
                <a:solidFill>
                  <a:schemeClr val="accent1"/>
                </a:solidFill>
                <a:latin typeface="+mj-lt" pitchFamily="34" charset="0"/>
                <a:ea typeface="+mj-lt" pitchFamily="34" charset="-122"/>
                <a:cs typeface="+mj-lt" pitchFamily="34" charset="-120"/>
              </a:rPr>
              <a:t>4</a:t>
            </a:r>
            <a:endParaRPr lang="en-US" sz="4000" dirty="0"/>
          </a:p>
        </p:txBody>
      </p:sp>
      <p:sp>
        <p:nvSpPr>
          <p:cNvPr id="10" name="Text 8"/>
          <p:cNvSpPr txBox="1"/>
          <p:nvPr/>
        </p:nvSpPr>
        <p:spPr>
          <a:xfrm>
            <a:off x="3664458" y="2743200"/>
            <a:ext cx="2018538" cy="411480"/>
          </a:xfrm>
          <a:prstGeom prst="rect">
            <a:avLst/>
          </a:prstGeom>
          <a:noFill/>
          <a:ln/>
        </p:spPr>
        <p:txBody>
          <a:bodyPr wrap="square" lIns="0" tIns="0" rIns="0" bIns="0" rtlCol="0" anchor="t"/>
          <a:lstStyle/>
          <a:p>
            <a:pPr indent="0" marL="0">
              <a:buNone/>
            </a:pPr>
            <a:r>
              <a:rPr lang="en-US" sz="2000" b="1" dirty="0">
                <a:solidFill>
                  <a:schemeClr val="tx1"/>
                </a:solidFill>
              </a:rPr>
              <a:t>Objetivos</a:t>
            </a:r>
            <a:endParaRPr lang="en-US" sz="2000" dirty="0"/>
          </a:p>
        </p:txBody>
      </p:sp>
      <p:sp>
        <p:nvSpPr>
          <p:cNvPr id="11" name="Text 9"/>
          <p:cNvSpPr txBox="1"/>
          <p:nvPr/>
        </p:nvSpPr>
        <p:spPr>
          <a:xfrm>
            <a:off x="3664458" y="3154680"/>
            <a:ext cx="2018538" cy="457200"/>
          </a:xfrm>
          <a:prstGeom prst="rect">
            <a:avLst/>
          </a:prstGeom>
          <a:noFill/>
          <a:ln/>
        </p:spPr>
        <p:txBody>
          <a:bodyPr wrap="square" lIns="0" tIns="0" rIns="0" bIns="0" rtlCol="0" anchor="t"/>
          <a:lstStyle/>
          <a:p>
            <a:pPr indent="0" marL="0">
              <a:buNone/>
            </a:pPr>
            <a:r>
              <a:rPr lang="en-US" sz="1400" dirty="0">
                <a:solidFill>
                  <a:schemeClr val="tx2"/>
                </a:solidFill>
              </a:rPr>
              <a:t>General y específicos</a:t>
            </a:r>
            <a:endParaRPr lang="en-US" sz="1400" dirty="0"/>
          </a:p>
        </p:txBody>
      </p:sp>
      <p:sp>
        <p:nvSpPr>
          <p:cNvPr id="12" name="apartado-5"/>
          <p:cNvSpPr/>
          <p:nvPr/>
        </p:nvSpPr>
        <p:spPr>
          <a:xfrm>
            <a:off x="6231636" y="1783080"/>
            <a:ext cx="2567178" cy="1965960"/>
          </a:xfrm>
          <a:prstGeom prst="roundRect">
            <a:avLst>
              <a:gd name="adj" fmla="val 5581"/>
            </a:avLst>
          </a:prstGeom>
          <a:solidFill>
            <a:schemeClr val="bg2"/>
          </a:solidFill>
          <a:ln/>
        </p:spPr>
      </p:sp>
      <p:sp>
        <p:nvSpPr>
          <p:cNvPr id="13" name="Text 11"/>
          <p:cNvSpPr txBox="1"/>
          <p:nvPr/>
        </p:nvSpPr>
        <p:spPr>
          <a:xfrm>
            <a:off x="6505956" y="2011680"/>
            <a:ext cx="2018538" cy="685800"/>
          </a:xfrm>
          <a:prstGeom prst="rect">
            <a:avLst/>
          </a:prstGeom>
          <a:noFill/>
          <a:ln/>
        </p:spPr>
        <p:txBody>
          <a:bodyPr wrap="square" lIns="0" tIns="0" rIns="0" bIns="0" rtlCol="0" anchor="t"/>
          <a:lstStyle/>
          <a:p>
            <a:pPr indent="0" marL="0">
              <a:buNone/>
            </a:pPr>
            <a:r>
              <a:rPr lang="en-US" sz="4000" dirty="0">
                <a:solidFill>
                  <a:schemeClr val="accent1"/>
                </a:solidFill>
                <a:latin typeface="+mj-lt" pitchFamily="34" charset="0"/>
                <a:ea typeface="+mj-lt" pitchFamily="34" charset="-122"/>
                <a:cs typeface="+mj-lt" pitchFamily="34" charset="-120"/>
              </a:rPr>
              <a:t>5</a:t>
            </a:r>
            <a:endParaRPr lang="en-US" sz="4000" dirty="0"/>
          </a:p>
        </p:txBody>
      </p:sp>
      <p:sp>
        <p:nvSpPr>
          <p:cNvPr id="14" name="Text 12"/>
          <p:cNvSpPr txBox="1"/>
          <p:nvPr/>
        </p:nvSpPr>
        <p:spPr>
          <a:xfrm>
            <a:off x="6505956" y="2743200"/>
            <a:ext cx="2018538" cy="411480"/>
          </a:xfrm>
          <a:prstGeom prst="rect">
            <a:avLst/>
          </a:prstGeom>
          <a:noFill/>
          <a:ln/>
        </p:spPr>
        <p:txBody>
          <a:bodyPr wrap="square" lIns="0" tIns="0" rIns="0" bIns="0" rtlCol="0" anchor="t"/>
          <a:lstStyle/>
          <a:p>
            <a:pPr indent="0" marL="0">
              <a:buNone/>
            </a:pPr>
            <a:r>
              <a:rPr lang="en-US" sz="2000" b="1" dirty="0">
                <a:solidFill>
                  <a:schemeClr val="tx1"/>
                </a:solidFill>
              </a:rPr>
              <a:t>Contenidos</a:t>
            </a:r>
            <a:endParaRPr lang="en-US" sz="2000" dirty="0"/>
          </a:p>
        </p:txBody>
      </p:sp>
      <p:sp>
        <p:nvSpPr>
          <p:cNvPr id="15" name="Text 13"/>
          <p:cNvSpPr txBox="1"/>
          <p:nvPr/>
        </p:nvSpPr>
        <p:spPr>
          <a:xfrm>
            <a:off x="6505956" y="3154680"/>
            <a:ext cx="2018538" cy="457200"/>
          </a:xfrm>
          <a:prstGeom prst="rect">
            <a:avLst/>
          </a:prstGeom>
          <a:noFill/>
          <a:ln/>
        </p:spPr>
        <p:txBody>
          <a:bodyPr wrap="square" lIns="0" tIns="0" rIns="0" bIns="0" rtlCol="0" anchor="t"/>
          <a:lstStyle/>
          <a:p>
            <a:pPr indent="0" marL="0">
              <a:buNone/>
            </a:pPr>
            <a:r>
              <a:rPr lang="en-US" sz="1400" dirty="0">
                <a:solidFill>
                  <a:schemeClr val="tx2"/>
                </a:solidFill>
              </a:rPr>
              <a:t>Mockups, datos y casos de uso</a:t>
            </a:r>
            <a:endParaRPr lang="en-US" sz="1400" dirty="0"/>
          </a:p>
        </p:txBody>
      </p:sp>
      <p:sp>
        <p:nvSpPr>
          <p:cNvPr id="16" name="apartado-6"/>
          <p:cNvSpPr/>
          <p:nvPr/>
        </p:nvSpPr>
        <p:spPr>
          <a:xfrm>
            <a:off x="9073134" y="1783080"/>
            <a:ext cx="2567178" cy="1965960"/>
          </a:xfrm>
          <a:prstGeom prst="roundRect">
            <a:avLst>
              <a:gd name="adj" fmla="val 5581"/>
            </a:avLst>
          </a:prstGeom>
          <a:solidFill>
            <a:schemeClr val="bg2"/>
          </a:solidFill>
          <a:ln/>
        </p:spPr>
      </p:sp>
      <p:sp>
        <p:nvSpPr>
          <p:cNvPr id="17" name="Text 15"/>
          <p:cNvSpPr txBox="1"/>
          <p:nvPr/>
        </p:nvSpPr>
        <p:spPr>
          <a:xfrm>
            <a:off x="9347454" y="2011680"/>
            <a:ext cx="2018538" cy="685800"/>
          </a:xfrm>
          <a:prstGeom prst="rect">
            <a:avLst/>
          </a:prstGeom>
          <a:noFill/>
          <a:ln/>
        </p:spPr>
        <p:txBody>
          <a:bodyPr wrap="square" lIns="0" tIns="0" rIns="0" bIns="0" rtlCol="0" anchor="t"/>
          <a:lstStyle/>
          <a:p>
            <a:pPr indent="0" marL="0">
              <a:buNone/>
            </a:pPr>
            <a:r>
              <a:rPr lang="en-US" sz="4000" dirty="0">
                <a:solidFill>
                  <a:schemeClr val="accent1"/>
                </a:solidFill>
                <a:latin typeface="+mj-lt" pitchFamily="34" charset="0"/>
                <a:ea typeface="+mj-lt" pitchFamily="34" charset="-122"/>
                <a:cs typeface="+mj-lt" pitchFamily="34" charset="-120"/>
              </a:rPr>
              <a:t>6</a:t>
            </a:r>
            <a:endParaRPr lang="en-US" sz="4000" dirty="0"/>
          </a:p>
        </p:txBody>
      </p:sp>
      <p:sp>
        <p:nvSpPr>
          <p:cNvPr id="18" name="Text 16"/>
          <p:cNvSpPr txBox="1"/>
          <p:nvPr/>
        </p:nvSpPr>
        <p:spPr>
          <a:xfrm>
            <a:off x="9347454" y="2743200"/>
            <a:ext cx="2018538" cy="411480"/>
          </a:xfrm>
          <a:prstGeom prst="rect">
            <a:avLst/>
          </a:prstGeom>
          <a:noFill/>
          <a:ln/>
        </p:spPr>
        <p:txBody>
          <a:bodyPr wrap="square" lIns="0" tIns="0" rIns="0" bIns="0" rtlCol="0" anchor="t"/>
          <a:lstStyle/>
          <a:p>
            <a:pPr indent="0" marL="0">
              <a:buNone/>
            </a:pPr>
            <a:r>
              <a:rPr lang="en-US" sz="2000" b="1" dirty="0">
                <a:solidFill>
                  <a:schemeClr val="tx1"/>
                </a:solidFill>
              </a:rPr>
              <a:t>Metodología</a:t>
            </a:r>
            <a:endParaRPr lang="en-US" sz="2000" dirty="0"/>
          </a:p>
        </p:txBody>
      </p:sp>
      <p:sp>
        <p:nvSpPr>
          <p:cNvPr id="19" name="Text 17"/>
          <p:cNvSpPr txBox="1"/>
          <p:nvPr/>
        </p:nvSpPr>
        <p:spPr>
          <a:xfrm>
            <a:off x="9347454" y="3154680"/>
            <a:ext cx="2018538" cy="457200"/>
          </a:xfrm>
          <a:prstGeom prst="rect">
            <a:avLst/>
          </a:prstGeom>
          <a:noFill/>
          <a:ln/>
        </p:spPr>
        <p:txBody>
          <a:bodyPr wrap="square" lIns="0" tIns="0" rIns="0" bIns="0" rtlCol="0" anchor="t"/>
          <a:lstStyle/>
          <a:p>
            <a:pPr indent="0" marL="0">
              <a:buNone/>
            </a:pPr>
            <a:r>
              <a:rPr lang="en-US" sz="1400" dirty="0">
                <a:solidFill>
                  <a:schemeClr val="tx2"/>
                </a:solidFill>
              </a:rPr>
              <a:t>Ciclo de vida y planificación</a:t>
            </a:r>
            <a:endParaRPr lang="en-US" sz="1400" dirty="0"/>
          </a:p>
        </p:txBody>
      </p:sp>
      <p:sp>
        <p:nvSpPr>
          <p:cNvPr id="20" name="apartado-7"/>
          <p:cNvSpPr/>
          <p:nvPr/>
        </p:nvSpPr>
        <p:spPr>
          <a:xfrm>
            <a:off x="548640" y="4023360"/>
            <a:ext cx="2567178" cy="1965960"/>
          </a:xfrm>
          <a:prstGeom prst="roundRect">
            <a:avLst>
              <a:gd name="adj" fmla="val 5581"/>
            </a:avLst>
          </a:prstGeom>
          <a:solidFill>
            <a:schemeClr val="bg2"/>
          </a:solidFill>
          <a:ln/>
        </p:spPr>
      </p:sp>
      <p:sp>
        <p:nvSpPr>
          <p:cNvPr id="21" name="Text 19"/>
          <p:cNvSpPr txBox="1"/>
          <p:nvPr/>
        </p:nvSpPr>
        <p:spPr>
          <a:xfrm>
            <a:off x="822960" y="4251960"/>
            <a:ext cx="2018538" cy="685800"/>
          </a:xfrm>
          <a:prstGeom prst="rect">
            <a:avLst/>
          </a:prstGeom>
          <a:noFill/>
          <a:ln/>
        </p:spPr>
        <p:txBody>
          <a:bodyPr wrap="square" lIns="0" tIns="0" rIns="0" bIns="0" rtlCol="0" anchor="t"/>
          <a:lstStyle/>
          <a:p>
            <a:pPr indent="0" marL="0">
              <a:buNone/>
            </a:pPr>
            <a:r>
              <a:rPr lang="en-US" sz="4000" dirty="0">
                <a:solidFill>
                  <a:schemeClr val="accent1"/>
                </a:solidFill>
                <a:latin typeface="+mj-lt" pitchFamily="34" charset="0"/>
                <a:ea typeface="+mj-lt" pitchFamily="34" charset="-122"/>
                <a:cs typeface="+mj-lt" pitchFamily="34" charset="-120"/>
              </a:rPr>
              <a:t>7</a:t>
            </a:r>
            <a:endParaRPr lang="en-US" sz="4000" dirty="0"/>
          </a:p>
        </p:txBody>
      </p:sp>
      <p:sp>
        <p:nvSpPr>
          <p:cNvPr id="22" name="Text 20"/>
          <p:cNvSpPr txBox="1"/>
          <p:nvPr/>
        </p:nvSpPr>
        <p:spPr>
          <a:xfrm>
            <a:off x="822960" y="4983480"/>
            <a:ext cx="2018538" cy="411480"/>
          </a:xfrm>
          <a:prstGeom prst="rect">
            <a:avLst/>
          </a:prstGeom>
          <a:noFill/>
          <a:ln/>
        </p:spPr>
        <p:txBody>
          <a:bodyPr wrap="square" lIns="0" tIns="0" rIns="0" bIns="0" rtlCol="0" anchor="t"/>
          <a:lstStyle/>
          <a:p>
            <a:pPr indent="0" marL="0">
              <a:buNone/>
            </a:pPr>
            <a:r>
              <a:rPr lang="en-US" sz="2000" b="1" dirty="0">
                <a:solidFill>
                  <a:schemeClr val="tx1"/>
                </a:solidFill>
              </a:rPr>
              <a:t>Desarrollo</a:t>
            </a:r>
            <a:endParaRPr lang="en-US" sz="2000" dirty="0"/>
          </a:p>
        </p:txBody>
      </p:sp>
      <p:sp>
        <p:nvSpPr>
          <p:cNvPr id="23" name="Text 21"/>
          <p:cNvSpPr txBox="1"/>
          <p:nvPr/>
        </p:nvSpPr>
        <p:spPr>
          <a:xfrm>
            <a:off x="822960" y="5394960"/>
            <a:ext cx="2018538" cy="457200"/>
          </a:xfrm>
          <a:prstGeom prst="rect">
            <a:avLst/>
          </a:prstGeom>
          <a:noFill/>
          <a:ln/>
        </p:spPr>
        <p:txBody>
          <a:bodyPr wrap="square" lIns="0" tIns="0" rIns="0" bIns="0" rtlCol="0" anchor="t"/>
          <a:lstStyle/>
          <a:p>
            <a:pPr indent="0" marL="0">
              <a:buNone/>
            </a:pPr>
            <a:r>
              <a:rPr lang="en-US" sz="1400" dirty="0">
                <a:solidFill>
                  <a:schemeClr val="tx2"/>
                </a:solidFill>
              </a:rPr>
              <a:t>Arquitectura y seguridad</a:t>
            </a:r>
            <a:endParaRPr lang="en-US" sz="1400" dirty="0"/>
          </a:p>
        </p:txBody>
      </p:sp>
      <p:sp>
        <p:nvSpPr>
          <p:cNvPr id="24" name="apartado-7.5"/>
          <p:cNvSpPr/>
          <p:nvPr/>
        </p:nvSpPr>
        <p:spPr>
          <a:xfrm>
            <a:off x="3390138" y="4023360"/>
            <a:ext cx="2567178" cy="1965960"/>
          </a:xfrm>
          <a:prstGeom prst="roundRect">
            <a:avLst>
              <a:gd name="adj" fmla="val 5581"/>
            </a:avLst>
          </a:prstGeom>
          <a:solidFill>
            <a:schemeClr val="bg2"/>
          </a:solidFill>
          <a:ln/>
        </p:spPr>
      </p:sp>
      <p:sp>
        <p:nvSpPr>
          <p:cNvPr id="25" name="Text 23"/>
          <p:cNvSpPr txBox="1"/>
          <p:nvPr/>
        </p:nvSpPr>
        <p:spPr>
          <a:xfrm>
            <a:off x="3664458" y="4251960"/>
            <a:ext cx="2018538" cy="685800"/>
          </a:xfrm>
          <a:prstGeom prst="rect">
            <a:avLst/>
          </a:prstGeom>
          <a:noFill/>
          <a:ln/>
        </p:spPr>
        <p:txBody>
          <a:bodyPr wrap="square" lIns="0" tIns="0" rIns="0" bIns="0" rtlCol="0" anchor="t"/>
          <a:lstStyle/>
          <a:p>
            <a:pPr indent="0" marL="0">
              <a:buNone/>
            </a:pPr>
            <a:r>
              <a:rPr lang="en-US" sz="4000" dirty="0">
                <a:solidFill>
                  <a:schemeClr val="accent1"/>
                </a:solidFill>
                <a:latin typeface="+mj-lt" pitchFamily="34" charset="0"/>
                <a:ea typeface="+mj-lt" pitchFamily="34" charset="-122"/>
                <a:cs typeface="+mj-lt" pitchFamily="34" charset="-120"/>
              </a:rPr>
              <a:t>7.5</a:t>
            </a:r>
            <a:endParaRPr lang="en-US" sz="4000" dirty="0"/>
          </a:p>
        </p:txBody>
      </p:sp>
      <p:sp>
        <p:nvSpPr>
          <p:cNvPr id="26" name="Text 24"/>
          <p:cNvSpPr txBox="1"/>
          <p:nvPr/>
        </p:nvSpPr>
        <p:spPr>
          <a:xfrm>
            <a:off x="3664458" y="4983480"/>
            <a:ext cx="2018538" cy="411480"/>
          </a:xfrm>
          <a:prstGeom prst="rect">
            <a:avLst/>
          </a:prstGeom>
          <a:noFill/>
          <a:ln/>
        </p:spPr>
        <p:txBody>
          <a:bodyPr wrap="square" lIns="0" tIns="0" rIns="0" bIns="0" rtlCol="0" anchor="t"/>
          <a:lstStyle/>
          <a:p>
            <a:pPr indent="0" marL="0">
              <a:buNone/>
            </a:pPr>
            <a:r>
              <a:rPr lang="en-US" sz="2000" b="1" dirty="0">
                <a:solidFill>
                  <a:schemeClr val="tx1"/>
                </a:solidFill>
              </a:rPr>
              <a:t>Concurrencia</a:t>
            </a:r>
            <a:endParaRPr lang="en-US" sz="2000" dirty="0"/>
          </a:p>
        </p:txBody>
      </p:sp>
      <p:sp>
        <p:nvSpPr>
          <p:cNvPr id="27" name="Text 25"/>
          <p:cNvSpPr txBox="1"/>
          <p:nvPr/>
        </p:nvSpPr>
        <p:spPr>
          <a:xfrm>
            <a:off x="3664458" y="5394960"/>
            <a:ext cx="2018538" cy="457200"/>
          </a:xfrm>
          <a:prstGeom prst="rect">
            <a:avLst/>
          </a:prstGeom>
          <a:noFill/>
          <a:ln/>
        </p:spPr>
        <p:txBody>
          <a:bodyPr wrap="square" lIns="0" tIns="0" rIns="0" bIns="0" rtlCol="0" anchor="t"/>
          <a:lstStyle/>
          <a:p>
            <a:pPr indent="0" marL="0">
              <a:buNone/>
            </a:pPr>
            <a:r>
              <a:rPr lang="en-US" sz="1400" dirty="0">
                <a:solidFill>
                  <a:schemeClr val="tx2"/>
                </a:solidFill>
              </a:rPr>
              <a:t>El cupo diario</a:t>
            </a:r>
            <a:endParaRPr lang="en-US" sz="1400" dirty="0"/>
          </a:p>
        </p:txBody>
      </p:sp>
      <p:sp>
        <p:nvSpPr>
          <p:cNvPr id="28" name="apartado-7.8"/>
          <p:cNvSpPr/>
          <p:nvPr/>
        </p:nvSpPr>
        <p:spPr>
          <a:xfrm>
            <a:off x="6231636" y="4023360"/>
            <a:ext cx="2567178" cy="1965960"/>
          </a:xfrm>
          <a:prstGeom prst="roundRect">
            <a:avLst>
              <a:gd name="adj" fmla="val 5581"/>
            </a:avLst>
          </a:prstGeom>
          <a:solidFill>
            <a:schemeClr val="bg2"/>
          </a:solidFill>
          <a:ln/>
        </p:spPr>
      </p:sp>
      <p:sp>
        <p:nvSpPr>
          <p:cNvPr id="29" name="Text 27"/>
          <p:cNvSpPr txBox="1"/>
          <p:nvPr/>
        </p:nvSpPr>
        <p:spPr>
          <a:xfrm>
            <a:off x="6505956" y="4251960"/>
            <a:ext cx="2018538" cy="685800"/>
          </a:xfrm>
          <a:prstGeom prst="rect">
            <a:avLst/>
          </a:prstGeom>
          <a:noFill/>
          <a:ln/>
        </p:spPr>
        <p:txBody>
          <a:bodyPr wrap="square" lIns="0" tIns="0" rIns="0" bIns="0" rtlCol="0" anchor="t"/>
          <a:lstStyle/>
          <a:p>
            <a:pPr indent="0" marL="0">
              <a:buNone/>
            </a:pPr>
            <a:r>
              <a:rPr lang="en-US" sz="4000" dirty="0">
                <a:solidFill>
                  <a:schemeClr val="accent1"/>
                </a:solidFill>
                <a:latin typeface="+mj-lt" pitchFamily="34" charset="0"/>
                <a:ea typeface="+mj-lt" pitchFamily="34" charset="-122"/>
                <a:cs typeface="+mj-lt" pitchFamily="34" charset="-120"/>
              </a:rPr>
              <a:t>7.8</a:t>
            </a:r>
            <a:endParaRPr lang="en-US" sz="4000" dirty="0"/>
          </a:p>
        </p:txBody>
      </p:sp>
      <p:sp>
        <p:nvSpPr>
          <p:cNvPr id="30" name="Text 28"/>
          <p:cNvSpPr txBox="1"/>
          <p:nvPr/>
        </p:nvSpPr>
        <p:spPr>
          <a:xfrm>
            <a:off x="6505956" y="4983480"/>
            <a:ext cx="2018538" cy="411480"/>
          </a:xfrm>
          <a:prstGeom prst="rect">
            <a:avLst/>
          </a:prstGeom>
          <a:noFill/>
          <a:ln/>
        </p:spPr>
        <p:txBody>
          <a:bodyPr wrap="square" lIns="0" tIns="0" rIns="0" bIns="0" rtlCol="0" anchor="t"/>
          <a:lstStyle/>
          <a:p>
            <a:pPr indent="0" marL="0">
              <a:buNone/>
            </a:pPr>
            <a:r>
              <a:rPr lang="en-US" sz="2000" b="1" dirty="0">
                <a:solidFill>
                  <a:schemeClr val="tx1"/>
                </a:solidFill>
              </a:rPr>
              <a:t>Pruebas y demo</a:t>
            </a:r>
            <a:endParaRPr lang="en-US" sz="2000" dirty="0"/>
          </a:p>
        </p:txBody>
      </p:sp>
      <p:sp>
        <p:nvSpPr>
          <p:cNvPr id="31" name="Text 29"/>
          <p:cNvSpPr txBox="1"/>
          <p:nvPr/>
        </p:nvSpPr>
        <p:spPr>
          <a:xfrm>
            <a:off x="6505956" y="5394960"/>
            <a:ext cx="2018538" cy="457200"/>
          </a:xfrm>
          <a:prstGeom prst="rect">
            <a:avLst/>
          </a:prstGeom>
          <a:noFill/>
          <a:ln/>
        </p:spPr>
        <p:txBody>
          <a:bodyPr wrap="square" lIns="0" tIns="0" rIns="0" bIns="0" rtlCol="0" anchor="t"/>
          <a:lstStyle/>
          <a:p>
            <a:pPr indent="0" marL="0">
              <a:buNone/>
            </a:pPr>
            <a:r>
              <a:rPr lang="en-US" sz="1400" dirty="0">
                <a:solidFill>
                  <a:schemeClr val="tx2"/>
                </a:solidFill>
              </a:rPr>
              <a:t>Automáticas, manuales y en vivo</a:t>
            </a:r>
            <a:endParaRPr lang="en-US" sz="1400" dirty="0"/>
          </a:p>
        </p:txBody>
      </p:sp>
      <p:sp>
        <p:nvSpPr>
          <p:cNvPr id="32" name="apartado-8"/>
          <p:cNvSpPr/>
          <p:nvPr/>
        </p:nvSpPr>
        <p:spPr>
          <a:xfrm>
            <a:off x="9073134" y="4023360"/>
            <a:ext cx="2567178" cy="1965960"/>
          </a:xfrm>
          <a:prstGeom prst="roundRect">
            <a:avLst>
              <a:gd name="adj" fmla="val 5581"/>
            </a:avLst>
          </a:prstGeom>
          <a:solidFill>
            <a:schemeClr val="bg2"/>
          </a:solidFill>
          <a:ln/>
        </p:spPr>
      </p:sp>
      <p:sp>
        <p:nvSpPr>
          <p:cNvPr id="33" name="Text 31"/>
          <p:cNvSpPr txBox="1"/>
          <p:nvPr/>
        </p:nvSpPr>
        <p:spPr>
          <a:xfrm>
            <a:off x="9347454" y="4251960"/>
            <a:ext cx="2018538" cy="685800"/>
          </a:xfrm>
          <a:prstGeom prst="rect">
            <a:avLst/>
          </a:prstGeom>
          <a:noFill/>
          <a:ln/>
        </p:spPr>
        <p:txBody>
          <a:bodyPr wrap="square" lIns="0" tIns="0" rIns="0" bIns="0" rtlCol="0" anchor="t"/>
          <a:lstStyle/>
          <a:p>
            <a:pPr indent="0" marL="0">
              <a:buNone/>
            </a:pPr>
            <a:r>
              <a:rPr lang="en-US" sz="4000" dirty="0">
                <a:solidFill>
                  <a:schemeClr val="accent1"/>
                </a:solidFill>
                <a:latin typeface="+mj-lt" pitchFamily="34" charset="0"/>
                <a:ea typeface="+mj-lt" pitchFamily="34" charset="-122"/>
                <a:cs typeface="+mj-lt" pitchFamily="34" charset="-120"/>
              </a:rPr>
              <a:t>8</a:t>
            </a:r>
            <a:endParaRPr lang="en-US" sz="4000" dirty="0"/>
          </a:p>
        </p:txBody>
      </p:sp>
      <p:sp>
        <p:nvSpPr>
          <p:cNvPr id="34" name="Text 32"/>
          <p:cNvSpPr txBox="1"/>
          <p:nvPr/>
        </p:nvSpPr>
        <p:spPr>
          <a:xfrm>
            <a:off x="9347454" y="4983480"/>
            <a:ext cx="2018538" cy="411480"/>
          </a:xfrm>
          <a:prstGeom prst="rect">
            <a:avLst/>
          </a:prstGeom>
          <a:noFill/>
          <a:ln/>
        </p:spPr>
        <p:txBody>
          <a:bodyPr wrap="square" lIns="0" tIns="0" rIns="0" bIns="0" rtlCol="0" anchor="t"/>
          <a:lstStyle/>
          <a:p>
            <a:pPr indent="0" marL="0">
              <a:buNone/>
            </a:pPr>
            <a:r>
              <a:rPr lang="en-US" sz="2000" b="1" dirty="0">
                <a:solidFill>
                  <a:schemeClr val="tx1"/>
                </a:solidFill>
              </a:rPr>
              <a:t>Conclusiones</a:t>
            </a:r>
            <a:endParaRPr lang="en-US" sz="2000" dirty="0"/>
          </a:p>
        </p:txBody>
      </p:sp>
      <p:sp>
        <p:nvSpPr>
          <p:cNvPr id="35" name="Text 33"/>
          <p:cNvSpPr txBox="1"/>
          <p:nvPr/>
        </p:nvSpPr>
        <p:spPr>
          <a:xfrm>
            <a:off x="9347454" y="5394960"/>
            <a:ext cx="2018538" cy="457200"/>
          </a:xfrm>
          <a:prstGeom prst="rect">
            <a:avLst/>
          </a:prstGeom>
          <a:noFill/>
          <a:ln/>
        </p:spPr>
        <p:txBody>
          <a:bodyPr wrap="square" lIns="0" tIns="0" rIns="0" bIns="0" rtlCol="0" anchor="t"/>
          <a:lstStyle/>
          <a:p>
            <a:pPr indent="0" marL="0">
              <a:buNone/>
            </a:pPr>
            <a:r>
              <a:rPr lang="en-US" sz="1400" dirty="0">
                <a:solidFill>
                  <a:schemeClr val="tx2"/>
                </a:solidFill>
              </a:rPr>
              <a:t>Límites y trabajo futuro</a:t>
            </a:r>
            <a:endParaRPr lang="en-US" sz="1400" dirty="0"/>
          </a:p>
        </p:txBody>
      </p:sp>
      <p:sp>
        <p:nvSpPr>
          <p:cNvPr id="25" name="Slide Number Placeholder 0"/>
          <p:cNvSpPr>
            <a:spLocks noGrp="1"/>
          </p:cNvSpPr>
          <p:nvPr>
            <p:ph type="sldNum" sz="quarter" idx="4294967295"/>
          </p:nvPr>
        </p:nvSpPr>
        <p:spPr>
          <a:xfrm>
            <a:off x="11064240"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11064240" cy="320040"/>
          </a:xfrm>
          <a:prstGeom prst="rect">
            <a:avLst/>
          </a:prstGeom>
          <a:noFill/>
          <a:ln/>
        </p:spPr>
        <p:txBody>
          <a:bodyPr wrap="square" lIns="0" tIns="0" rIns="0" bIns="0" rtlCol="0" anchor="t"/>
          <a:lstStyle/>
          <a:p>
            <a:pPr indent="0" marL="0">
              <a:buNone/>
            </a:pPr>
            <a:r>
              <a:rPr lang="en-US" sz="1300" b="1" spc="300" kern="0" dirty="0">
                <a:solidFill>
                  <a:schemeClr val="accent1"/>
                </a:solidFill>
              </a:rPr>
              <a:t>3 · INTRODUCCIÓN</a:t>
            </a:r>
            <a:endParaRPr lang="en-US" sz="1300" dirty="0"/>
          </a:p>
        </p:txBody>
      </p:sp>
      <p:sp>
        <p:nvSpPr>
          <p:cNvPr id="3" name="Text 0"/>
          <p:cNvSpPr/>
          <p:nvPr>
            <p:ph idx="101" type="title" hasCustomPrompt="1"/>
          </p:nvPr>
        </p:nvSpPr>
        <p:spPr>
          <a:xfrm>
            <a:off x="548640" y="713232"/>
            <a:ext cx="11064240" cy="777240"/>
          </a:xfrm>
          <a:prstGeom prst="rect">
            <a:avLst/>
          </a:prstGeom>
          <a:noFill/>
          <a:ln/>
        </p:spPr>
        <p:txBody>
          <a:bodyPr wrap="square" lIns="0" tIns="0" rIns="0" bIns="0" rtlCol="0" anchor="t"/>
          <a:lstStyle/>
          <a:p>
            <a:pPr algn="l" indent="0" marL="0">
              <a:buNone/>
            </a:pPr>
            <a:r>
              <a:rPr lang="en-US" sz="3600" dirty="0">
                <a:solidFill>
                  <a:schemeClr val="tx1"/>
                </a:solidFill>
              </a:rPr>
              <a:t>UNA BARBERÍA DE UN SOLO BARBERO, CON CITA</a:t>
            </a:r>
            <a:endParaRPr lang="en-US" sz="3600" dirty="0"/>
          </a:p>
        </p:txBody>
      </p:sp>
      <p:sp>
        <p:nvSpPr>
          <p:cNvPr id="4" name="rasgo-0-circulo"/>
          <p:cNvSpPr/>
          <p:nvPr/>
        </p:nvSpPr>
        <p:spPr>
          <a:xfrm>
            <a:off x="548640" y="1783080"/>
            <a:ext cx="685800" cy="685800"/>
          </a:xfrm>
          <a:prstGeom prst="ellipse">
            <a:avLst/>
          </a:prstGeom>
          <a:solidFill>
            <a:schemeClr val="accent1"/>
          </a:solidFill>
          <a:ln/>
        </p:spPr>
      </p:sp>
      <p:pic>
        <p:nvPicPr>
          <p:cNvPr id="5" name="rasgo-0-icono" descr="preencoded.png">    </p:cNvPr>
          <p:cNvPicPr>
            <a:picLocks noChangeAspect="1"/>
          </p:cNvPicPr>
          <p:nvPr/>
        </p:nvPicPr>
        <p:blipFill>
          <a:blip r:embed="rId1"/>
          <a:stretch>
            <a:fillRect/>
          </a:stretch>
        </p:blipFill>
        <p:spPr>
          <a:xfrm>
            <a:off x="726948" y="1961388"/>
            <a:ext cx="329184" cy="329184"/>
          </a:xfrm>
          <a:prstGeom prst="rect">
            <a:avLst/>
          </a:prstGeom>
        </p:spPr>
      </p:pic>
      <p:sp>
        <p:nvSpPr>
          <p:cNvPr id="6" name="Text 3"/>
          <p:cNvSpPr txBox="1"/>
          <p:nvPr/>
        </p:nvSpPr>
        <p:spPr>
          <a:xfrm>
            <a:off x="1463040" y="1801368"/>
            <a:ext cx="4754880" cy="365760"/>
          </a:xfrm>
          <a:prstGeom prst="rect">
            <a:avLst/>
          </a:prstGeom>
          <a:noFill/>
          <a:ln/>
        </p:spPr>
        <p:txBody>
          <a:bodyPr wrap="square" lIns="0" tIns="0" rIns="0" bIns="0" rtlCol="0" anchor="t"/>
          <a:lstStyle/>
          <a:p>
            <a:pPr indent="0" marL="0">
              <a:buNone/>
            </a:pPr>
            <a:r>
              <a:rPr lang="en-US" sz="2000" b="1" dirty="0">
                <a:solidFill>
                  <a:schemeClr val="tx1"/>
                </a:solidFill>
              </a:rPr>
              <a:t>Un solo barbero</a:t>
            </a:r>
            <a:endParaRPr lang="en-US" sz="2000" dirty="0"/>
          </a:p>
        </p:txBody>
      </p:sp>
      <p:sp>
        <p:nvSpPr>
          <p:cNvPr id="7" name="Text 4"/>
          <p:cNvSpPr txBox="1"/>
          <p:nvPr/>
        </p:nvSpPr>
        <p:spPr>
          <a:xfrm>
            <a:off x="1463040" y="2194560"/>
            <a:ext cx="4754880" cy="548640"/>
          </a:xfrm>
          <a:prstGeom prst="rect">
            <a:avLst/>
          </a:prstGeom>
          <a:noFill/>
          <a:ln/>
        </p:spPr>
        <p:txBody>
          <a:bodyPr wrap="square" lIns="0" tIns="0" rIns="0" bIns="0" rtlCol="0" anchor="t"/>
          <a:lstStyle/>
          <a:p>
            <a:pPr indent="0" marL="0">
              <a:buNone/>
            </a:pPr>
            <a:r>
              <a:rPr lang="en-US" sz="1600" dirty="0">
                <a:solidFill>
                  <a:schemeClr val="tx2"/>
                </a:solidFill>
              </a:rPr>
              <a:t>Trabaja siempre con cita y ya tiene su clientela.</a:t>
            </a:r>
            <a:endParaRPr lang="en-US" sz="1600" dirty="0"/>
          </a:p>
        </p:txBody>
      </p:sp>
      <p:sp>
        <p:nvSpPr>
          <p:cNvPr id="8" name="rasgo-1-circulo"/>
          <p:cNvSpPr/>
          <p:nvPr/>
        </p:nvSpPr>
        <p:spPr>
          <a:xfrm>
            <a:off x="548640" y="3063240"/>
            <a:ext cx="685800" cy="685800"/>
          </a:xfrm>
          <a:prstGeom prst="ellipse">
            <a:avLst/>
          </a:prstGeom>
          <a:solidFill>
            <a:schemeClr val="accent1"/>
          </a:solidFill>
          <a:ln/>
        </p:spPr>
      </p:sp>
      <p:pic>
        <p:nvPicPr>
          <p:cNvPr id="9" name="rasgo-1-icono" descr="preencoded.png">    </p:cNvPr>
          <p:cNvPicPr>
            <a:picLocks noChangeAspect="1"/>
          </p:cNvPicPr>
          <p:nvPr/>
        </p:nvPicPr>
        <p:blipFill>
          <a:blip r:embed="rId2"/>
          <a:stretch>
            <a:fillRect/>
          </a:stretch>
        </p:blipFill>
        <p:spPr>
          <a:xfrm>
            <a:off x="726948" y="3241548"/>
            <a:ext cx="329184" cy="329184"/>
          </a:xfrm>
          <a:prstGeom prst="rect">
            <a:avLst/>
          </a:prstGeom>
        </p:spPr>
      </p:pic>
      <p:sp>
        <p:nvSpPr>
          <p:cNvPr id="10" name="Text 6"/>
          <p:cNvSpPr txBox="1"/>
          <p:nvPr/>
        </p:nvSpPr>
        <p:spPr>
          <a:xfrm>
            <a:off x="1463040" y="3081528"/>
            <a:ext cx="4754880" cy="365760"/>
          </a:xfrm>
          <a:prstGeom prst="rect">
            <a:avLst/>
          </a:prstGeom>
          <a:noFill/>
          <a:ln/>
        </p:spPr>
        <p:txBody>
          <a:bodyPr wrap="square" lIns="0" tIns="0" rIns="0" bIns="0" rtlCol="0" anchor="t"/>
          <a:lstStyle/>
          <a:p>
            <a:pPr indent="0" marL="0">
              <a:buNone/>
            </a:pPr>
            <a:r>
              <a:rPr lang="en-US" sz="2000" b="1" dirty="0">
                <a:solidFill>
                  <a:schemeClr val="tx1"/>
                </a:solidFill>
              </a:rPr>
              <a:t>Clientes por invitación</a:t>
            </a:r>
            <a:endParaRPr lang="en-US" sz="2000" dirty="0"/>
          </a:p>
        </p:txBody>
      </p:sp>
      <p:sp>
        <p:nvSpPr>
          <p:cNvPr id="11" name="Text 7"/>
          <p:cNvSpPr txBox="1"/>
          <p:nvPr/>
        </p:nvSpPr>
        <p:spPr>
          <a:xfrm>
            <a:off x="1463040" y="3474720"/>
            <a:ext cx="4754880" cy="548640"/>
          </a:xfrm>
          <a:prstGeom prst="rect">
            <a:avLst/>
          </a:prstGeom>
          <a:noFill/>
          <a:ln/>
        </p:spPr>
        <p:txBody>
          <a:bodyPr wrap="square" lIns="0" tIns="0" rIns="0" bIns="0" rtlCol="0" anchor="t"/>
          <a:lstStyle/>
          <a:p>
            <a:pPr indent="0" marL="0">
              <a:buNone/>
            </a:pPr>
            <a:r>
              <a:rPr lang="en-US" sz="1600" dirty="0">
                <a:solidFill>
                  <a:schemeClr val="tx2"/>
                </a:solidFill>
              </a:rPr>
              <a:t>Solo entra quien recibe un código y el barbero aprueba.</a:t>
            </a:r>
            <a:endParaRPr lang="en-US" sz="1600" dirty="0"/>
          </a:p>
        </p:txBody>
      </p:sp>
      <p:sp>
        <p:nvSpPr>
          <p:cNvPr id="12" name="rasgo-2-circulo"/>
          <p:cNvSpPr/>
          <p:nvPr/>
        </p:nvSpPr>
        <p:spPr>
          <a:xfrm>
            <a:off x="548640" y="4343400"/>
            <a:ext cx="685800" cy="685800"/>
          </a:xfrm>
          <a:prstGeom prst="ellipse">
            <a:avLst/>
          </a:prstGeom>
          <a:solidFill>
            <a:schemeClr val="accent1"/>
          </a:solidFill>
          <a:ln/>
        </p:spPr>
      </p:sp>
      <p:pic>
        <p:nvPicPr>
          <p:cNvPr id="13" name="rasgo-2-icono" descr="preencoded.png">    </p:cNvPr>
          <p:cNvPicPr>
            <a:picLocks noChangeAspect="1"/>
          </p:cNvPicPr>
          <p:nvPr/>
        </p:nvPicPr>
        <p:blipFill>
          <a:blip r:embed="rId3"/>
          <a:stretch>
            <a:fillRect/>
          </a:stretch>
        </p:blipFill>
        <p:spPr>
          <a:xfrm>
            <a:off x="726948" y="4521708"/>
            <a:ext cx="329184" cy="329184"/>
          </a:xfrm>
          <a:prstGeom prst="rect">
            <a:avLst/>
          </a:prstGeom>
        </p:spPr>
      </p:pic>
      <p:sp>
        <p:nvSpPr>
          <p:cNvPr id="14" name="Text 9"/>
          <p:cNvSpPr txBox="1"/>
          <p:nvPr/>
        </p:nvSpPr>
        <p:spPr>
          <a:xfrm>
            <a:off x="1463040" y="4361688"/>
            <a:ext cx="4754880" cy="365760"/>
          </a:xfrm>
          <a:prstGeom prst="rect">
            <a:avLst/>
          </a:prstGeom>
          <a:noFill/>
          <a:ln/>
        </p:spPr>
        <p:txBody>
          <a:bodyPr wrap="square" lIns="0" tIns="0" rIns="0" bIns="0" rtlCol="0" anchor="t"/>
          <a:lstStyle/>
          <a:p>
            <a:pPr indent="0" marL="0">
              <a:buNone/>
            </a:pPr>
            <a:r>
              <a:rPr lang="en-US" sz="2000" b="1" dirty="0">
                <a:solidFill>
                  <a:schemeClr val="tx1"/>
                </a:solidFill>
              </a:rPr>
              <a:t>Cupo diario</a:t>
            </a:r>
            <a:endParaRPr lang="en-US" sz="2000" dirty="0"/>
          </a:p>
        </p:txBody>
      </p:sp>
      <p:sp>
        <p:nvSpPr>
          <p:cNvPr id="15" name="Text 10"/>
          <p:cNvSpPr txBox="1"/>
          <p:nvPr/>
        </p:nvSpPr>
        <p:spPr>
          <a:xfrm>
            <a:off x="1463040" y="4754880"/>
            <a:ext cx="4754880" cy="548640"/>
          </a:xfrm>
          <a:prstGeom prst="rect">
            <a:avLst/>
          </a:prstGeom>
          <a:noFill/>
          <a:ln/>
        </p:spPr>
        <p:txBody>
          <a:bodyPr wrap="square" lIns="0" tIns="0" rIns="0" bIns="0" rtlCol="0" anchor="t"/>
          <a:lstStyle/>
          <a:p>
            <a:pPr indent="0" marL="0">
              <a:buNone/>
            </a:pPr>
            <a:r>
              <a:rPr lang="en-US" sz="1600" dirty="0">
                <a:solidFill>
                  <a:schemeClr val="tx2"/>
                </a:solidFill>
              </a:rPr>
              <a:t>Cada día admite un número máximo de citas.</a:t>
            </a:r>
            <a:endParaRPr lang="en-US" sz="1600" dirty="0"/>
          </a:p>
        </p:txBody>
      </p:sp>
      <p:sp>
        <p:nvSpPr>
          <p:cNvPr id="16" name="Text 11"/>
          <p:cNvSpPr txBox="1"/>
          <p:nvPr/>
        </p:nvSpPr>
        <p:spPr>
          <a:xfrm>
            <a:off x="548640" y="5623560"/>
            <a:ext cx="5669280" cy="548640"/>
          </a:xfrm>
          <a:prstGeom prst="rect">
            <a:avLst/>
          </a:prstGeom>
          <a:noFill/>
          <a:ln/>
        </p:spPr>
        <p:txBody>
          <a:bodyPr wrap="square" lIns="0" tIns="0" rIns="0" bIns="0" rtlCol="0" anchor="t"/>
          <a:lstStyle/>
          <a:p>
            <a:pPr indent="0" marL="0">
              <a:buNone/>
            </a:pPr>
            <a:r>
              <a:rPr lang="en-US" sz="1400" i="1" dirty="0">
                <a:solidFill>
                  <a:schemeClr val="tx2"/>
                </a:solidFill>
              </a:rPr>
              <a:t>Hoy la barbería usa una aplicación web propia. El proyecto rehace su núcleo como app Android nativa.</a:t>
            </a:r>
            <a:endParaRPr lang="en-US" sz="1400" dirty="0"/>
          </a:p>
        </p:txBody>
      </p:sp>
      <p:sp>
        <p:nvSpPr>
          <p:cNvPr id="17" name="dato-0"/>
          <p:cNvSpPr/>
          <p:nvPr/>
        </p:nvSpPr>
        <p:spPr>
          <a:xfrm>
            <a:off x="6766560" y="1783080"/>
            <a:ext cx="4873752" cy="1234440"/>
          </a:xfrm>
          <a:prstGeom prst="roundRect">
            <a:avLst>
              <a:gd name="adj" fmla="val 8889"/>
            </a:avLst>
          </a:prstGeom>
          <a:solidFill>
            <a:schemeClr val="bg2"/>
          </a:solidFill>
          <a:ln/>
        </p:spPr>
      </p:sp>
      <p:sp>
        <p:nvSpPr>
          <p:cNvPr id="18" name="Text 13"/>
          <p:cNvSpPr txBox="1"/>
          <p:nvPr/>
        </p:nvSpPr>
        <p:spPr>
          <a:xfrm>
            <a:off x="7040880" y="2029968"/>
            <a:ext cx="1828800" cy="731520"/>
          </a:xfrm>
          <a:prstGeom prst="rect">
            <a:avLst/>
          </a:prstGeom>
          <a:noFill/>
          <a:ln/>
        </p:spPr>
        <p:txBody>
          <a:bodyPr wrap="square" lIns="0" tIns="0" rIns="0" bIns="0" rtlCol="0" anchor="ctr"/>
          <a:lstStyle/>
          <a:p>
            <a:pPr indent="0" marL="0">
              <a:buNone/>
            </a:pPr>
            <a:r>
              <a:rPr lang="en-US" sz="4000" dirty="0">
                <a:solidFill>
                  <a:schemeClr val="accent1"/>
                </a:solidFill>
                <a:latin typeface="+mj-lt" pitchFamily="34" charset="0"/>
                <a:ea typeface="+mj-lt" pitchFamily="34" charset="-122"/>
                <a:cs typeface="+mj-lt" pitchFamily="34" charset="-120"/>
              </a:rPr>
              <a:t>96,3 %</a:t>
            </a:r>
            <a:endParaRPr lang="en-US" sz="4000" dirty="0"/>
          </a:p>
        </p:txBody>
      </p:sp>
      <p:sp>
        <p:nvSpPr>
          <p:cNvPr id="19" name="Text 14"/>
          <p:cNvSpPr txBox="1"/>
          <p:nvPr/>
        </p:nvSpPr>
        <p:spPr>
          <a:xfrm>
            <a:off x="8915400" y="1947672"/>
            <a:ext cx="2560320" cy="685800"/>
          </a:xfrm>
          <a:prstGeom prst="rect">
            <a:avLst/>
          </a:prstGeom>
          <a:noFill/>
          <a:ln/>
        </p:spPr>
        <p:txBody>
          <a:bodyPr wrap="square" lIns="0" tIns="0" rIns="0" bIns="0" rtlCol="0" anchor="ctr"/>
          <a:lstStyle/>
          <a:p>
            <a:pPr indent="0" marL="0">
              <a:buNone/>
            </a:pPr>
            <a:r>
              <a:rPr lang="en-US" sz="1400" dirty="0">
                <a:solidFill>
                  <a:schemeClr val="tx1"/>
                </a:solidFill>
              </a:rPr>
              <a:t>de las personas de 16 a 74 años usó Internet en los últimos tres meses</a:t>
            </a:r>
            <a:endParaRPr lang="en-US" sz="1400" dirty="0"/>
          </a:p>
        </p:txBody>
      </p:sp>
      <p:sp>
        <p:nvSpPr>
          <p:cNvPr id="20" name="Text 15"/>
          <p:cNvSpPr txBox="1"/>
          <p:nvPr/>
        </p:nvSpPr>
        <p:spPr>
          <a:xfrm>
            <a:off x="8915400" y="2651760"/>
            <a:ext cx="2560320" cy="228600"/>
          </a:xfrm>
          <a:prstGeom prst="rect">
            <a:avLst/>
          </a:prstGeom>
          <a:noFill/>
          <a:ln/>
        </p:spPr>
        <p:txBody>
          <a:bodyPr wrap="square" lIns="0" tIns="0" rIns="0" bIns="0" rtlCol="0" anchor="t"/>
          <a:lstStyle/>
          <a:p>
            <a:pPr indent="0" marL="0">
              <a:buNone/>
            </a:pPr>
            <a:r>
              <a:rPr lang="en-US" sz="1100" dirty="0">
                <a:solidFill>
                  <a:schemeClr val="accent3"/>
                </a:solidFill>
              </a:rPr>
              <a:t>INE, 2025</a:t>
            </a:r>
            <a:endParaRPr lang="en-US" sz="1100" dirty="0"/>
          </a:p>
        </p:txBody>
      </p:sp>
      <p:sp>
        <p:nvSpPr>
          <p:cNvPr id="21" name="dato-1"/>
          <p:cNvSpPr/>
          <p:nvPr/>
        </p:nvSpPr>
        <p:spPr>
          <a:xfrm>
            <a:off x="6766560" y="3200400"/>
            <a:ext cx="4873752" cy="1234440"/>
          </a:xfrm>
          <a:prstGeom prst="roundRect">
            <a:avLst>
              <a:gd name="adj" fmla="val 8889"/>
            </a:avLst>
          </a:prstGeom>
          <a:solidFill>
            <a:schemeClr val="bg2"/>
          </a:solidFill>
          <a:ln/>
        </p:spPr>
      </p:sp>
      <p:sp>
        <p:nvSpPr>
          <p:cNvPr id="22" name="Text 17"/>
          <p:cNvSpPr txBox="1"/>
          <p:nvPr/>
        </p:nvSpPr>
        <p:spPr>
          <a:xfrm>
            <a:off x="7040880" y="3447288"/>
            <a:ext cx="1828800" cy="731520"/>
          </a:xfrm>
          <a:prstGeom prst="rect">
            <a:avLst/>
          </a:prstGeom>
          <a:noFill/>
          <a:ln/>
        </p:spPr>
        <p:txBody>
          <a:bodyPr wrap="square" lIns="0" tIns="0" rIns="0" bIns="0" rtlCol="0" anchor="ctr"/>
          <a:lstStyle/>
          <a:p>
            <a:pPr indent="0" marL="0">
              <a:buNone/>
            </a:pPr>
            <a:r>
              <a:rPr lang="en-US" sz="4000" dirty="0">
                <a:solidFill>
                  <a:schemeClr val="accent1"/>
                </a:solidFill>
                <a:latin typeface="+mj-lt" pitchFamily="34" charset="0"/>
                <a:ea typeface="+mj-lt" pitchFamily="34" charset="-122"/>
                <a:cs typeface="+mj-lt" pitchFamily="34" charset="-120"/>
              </a:rPr>
              <a:t>94,6 %</a:t>
            </a:r>
            <a:endParaRPr lang="en-US" sz="4000" dirty="0"/>
          </a:p>
        </p:txBody>
      </p:sp>
      <p:sp>
        <p:nvSpPr>
          <p:cNvPr id="23" name="Text 18"/>
          <p:cNvSpPr txBox="1"/>
          <p:nvPr/>
        </p:nvSpPr>
        <p:spPr>
          <a:xfrm>
            <a:off x="8915400" y="3364992"/>
            <a:ext cx="2560320" cy="685800"/>
          </a:xfrm>
          <a:prstGeom prst="rect">
            <a:avLst/>
          </a:prstGeom>
          <a:noFill/>
          <a:ln/>
        </p:spPr>
        <p:txBody>
          <a:bodyPr wrap="square" lIns="0" tIns="0" rIns="0" bIns="0" rtlCol="0" anchor="ctr"/>
          <a:lstStyle/>
          <a:p>
            <a:pPr indent="0" marL="0">
              <a:buNone/>
            </a:pPr>
            <a:r>
              <a:rPr lang="en-US" sz="1400" dirty="0">
                <a:solidFill>
                  <a:schemeClr val="tx1"/>
                </a:solidFill>
              </a:rPr>
              <a:t>de los internautas usa WhatsApp de forma habitual</a:t>
            </a:r>
            <a:endParaRPr lang="en-US" sz="1400" dirty="0"/>
          </a:p>
        </p:txBody>
      </p:sp>
      <p:sp>
        <p:nvSpPr>
          <p:cNvPr id="24" name="Text 19"/>
          <p:cNvSpPr txBox="1"/>
          <p:nvPr/>
        </p:nvSpPr>
        <p:spPr>
          <a:xfrm>
            <a:off x="8915400" y="4069080"/>
            <a:ext cx="2560320" cy="228600"/>
          </a:xfrm>
          <a:prstGeom prst="rect">
            <a:avLst/>
          </a:prstGeom>
          <a:noFill/>
          <a:ln/>
        </p:spPr>
        <p:txBody>
          <a:bodyPr wrap="square" lIns="0" tIns="0" rIns="0" bIns="0" rtlCol="0" anchor="t"/>
          <a:lstStyle/>
          <a:p>
            <a:pPr indent="0" marL="0">
              <a:buNone/>
            </a:pPr>
            <a:r>
              <a:rPr lang="en-US" sz="1100" dirty="0">
                <a:solidFill>
                  <a:schemeClr val="accent3"/>
                </a:solidFill>
              </a:rPr>
              <a:t>CNMC, 2026</a:t>
            </a:r>
            <a:endParaRPr lang="en-US" sz="1100" dirty="0"/>
          </a:p>
        </p:txBody>
      </p:sp>
      <p:sp>
        <p:nvSpPr>
          <p:cNvPr id="25" name="dato-2"/>
          <p:cNvSpPr/>
          <p:nvPr/>
        </p:nvSpPr>
        <p:spPr>
          <a:xfrm>
            <a:off x="6766560" y="4617720"/>
            <a:ext cx="4873752" cy="1234440"/>
          </a:xfrm>
          <a:prstGeom prst="roundRect">
            <a:avLst>
              <a:gd name="adj" fmla="val 8889"/>
            </a:avLst>
          </a:prstGeom>
          <a:solidFill>
            <a:schemeClr val="bg2"/>
          </a:solidFill>
          <a:ln/>
        </p:spPr>
      </p:sp>
      <p:sp>
        <p:nvSpPr>
          <p:cNvPr id="26" name="Text 21"/>
          <p:cNvSpPr txBox="1"/>
          <p:nvPr/>
        </p:nvSpPr>
        <p:spPr>
          <a:xfrm>
            <a:off x="7040880" y="4864608"/>
            <a:ext cx="1828800" cy="731520"/>
          </a:xfrm>
          <a:prstGeom prst="rect">
            <a:avLst/>
          </a:prstGeom>
          <a:noFill/>
          <a:ln/>
        </p:spPr>
        <p:txBody>
          <a:bodyPr wrap="square" lIns="0" tIns="0" rIns="0" bIns="0" rtlCol="0" anchor="ctr"/>
          <a:lstStyle/>
          <a:p>
            <a:pPr indent="0" marL="0">
              <a:buNone/>
            </a:pPr>
            <a:r>
              <a:rPr lang="en-US" sz="4000" dirty="0">
                <a:solidFill>
                  <a:schemeClr val="accent1"/>
                </a:solidFill>
                <a:latin typeface="+mj-lt" pitchFamily="34" charset="0"/>
                <a:ea typeface="+mj-lt" pitchFamily="34" charset="-122"/>
                <a:cs typeface="+mj-lt" pitchFamily="34" charset="-120"/>
              </a:rPr>
              <a:t>60,2 %</a:t>
            </a:r>
            <a:endParaRPr lang="en-US" sz="4000" dirty="0"/>
          </a:p>
        </p:txBody>
      </p:sp>
      <p:sp>
        <p:nvSpPr>
          <p:cNvPr id="27" name="Text 22"/>
          <p:cNvSpPr txBox="1"/>
          <p:nvPr/>
        </p:nvSpPr>
        <p:spPr>
          <a:xfrm>
            <a:off x="8915400" y="4782312"/>
            <a:ext cx="2560320" cy="685800"/>
          </a:xfrm>
          <a:prstGeom prst="rect">
            <a:avLst/>
          </a:prstGeom>
          <a:noFill/>
          <a:ln/>
        </p:spPr>
        <p:txBody>
          <a:bodyPr wrap="square" lIns="0" tIns="0" rIns="0" bIns="0" rtlCol="0" anchor="ctr"/>
          <a:lstStyle/>
          <a:p>
            <a:pPr indent="0" marL="0">
              <a:buNone/>
            </a:pPr>
            <a:r>
              <a:rPr lang="en-US" sz="1400" dirty="0">
                <a:solidFill>
                  <a:schemeClr val="tx1"/>
                </a:solidFill>
              </a:rPr>
              <a:t>de las empresas de servicios personales no tiene asalariados</a:t>
            </a:r>
            <a:endParaRPr lang="en-US" sz="1400" dirty="0"/>
          </a:p>
        </p:txBody>
      </p:sp>
      <p:sp>
        <p:nvSpPr>
          <p:cNvPr id="28" name="Text 23"/>
          <p:cNvSpPr txBox="1"/>
          <p:nvPr/>
        </p:nvSpPr>
        <p:spPr>
          <a:xfrm>
            <a:off x="8915400" y="5486400"/>
            <a:ext cx="2560320" cy="228600"/>
          </a:xfrm>
          <a:prstGeom prst="rect">
            <a:avLst/>
          </a:prstGeom>
          <a:noFill/>
          <a:ln/>
        </p:spPr>
        <p:txBody>
          <a:bodyPr wrap="square" lIns="0" tIns="0" rIns="0" bIns="0" rtlCol="0" anchor="t"/>
          <a:lstStyle/>
          <a:p>
            <a:pPr indent="0" marL="0">
              <a:buNone/>
            </a:pPr>
            <a:r>
              <a:rPr lang="en-US" sz="1100" dirty="0">
                <a:solidFill>
                  <a:schemeClr val="accent3"/>
                </a:solidFill>
              </a:rPr>
              <a:t>INE, DIRCE</a:t>
            </a:r>
            <a:endParaRPr lang="en-US" sz="1100" dirty="0"/>
          </a:p>
        </p:txBody>
      </p:sp>
      <p:sp>
        <p:nvSpPr>
          <p:cNvPr id="25" name="Slide Number Placeholder 0"/>
          <p:cNvSpPr>
            <a:spLocks noGrp="1"/>
          </p:cNvSpPr>
          <p:nvPr>
            <p:ph type="sldNum" sz="quarter" idx="4294967295"/>
          </p:nvPr>
        </p:nvSpPr>
        <p:spPr>
          <a:xfrm>
            <a:off x="11064240"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11064240" cy="320040"/>
          </a:xfrm>
          <a:prstGeom prst="rect">
            <a:avLst/>
          </a:prstGeom>
          <a:noFill/>
          <a:ln/>
        </p:spPr>
        <p:txBody>
          <a:bodyPr wrap="square" lIns="0" tIns="0" rIns="0" bIns="0" rtlCol="0" anchor="t"/>
          <a:lstStyle/>
          <a:p>
            <a:pPr indent="0" marL="0">
              <a:buNone/>
            </a:pPr>
            <a:r>
              <a:rPr lang="en-US" sz="1300" b="1" spc="300" kern="0" dirty="0">
                <a:solidFill>
                  <a:schemeClr val="accent1"/>
                </a:solidFill>
              </a:rPr>
              <a:t>3.4 · ANÁLISIS DE MERCADO</a:t>
            </a:r>
            <a:endParaRPr lang="en-US" sz="1300" dirty="0"/>
          </a:p>
        </p:txBody>
      </p:sp>
      <p:sp>
        <p:nvSpPr>
          <p:cNvPr id="3" name="Text 0"/>
          <p:cNvSpPr/>
          <p:nvPr>
            <p:ph idx="101" type="title" hasCustomPrompt="1"/>
          </p:nvPr>
        </p:nvSpPr>
        <p:spPr>
          <a:xfrm>
            <a:off x="548640" y="713232"/>
            <a:ext cx="11064240" cy="777240"/>
          </a:xfrm>
          <a:prstGeom prst="rect">
            <a:avLst/>
          </a:prstGeom>
          <a:noFill/>
          <a:ln/>
        </p:spPr>
        <p:txBody>
          <a:bodyPr wrap="square" lIns="0" tIns="0" rIns="0" bIns="0" rtlCol="0" anchor="t"/>
          <a:lstStyle/>
          <a:p>
            <a:pPr algn="l" indent="0" marL="0">
              <a:buNone/>
            </a:pPr>
            <a:r>
              <a:rPr lang="en-US" sz="3600" dirty="0">
                <a:solidFill>
                  <a:schemeClr val="tx1"/>
                </a:solidFill>
              </a:rPr>
              <a:t>SIETE APPS Y NINGUNA CUMPLE LAS TRES REGLAS</a:t>
            </a:r>
            <a:endParaRPr lang="en-US" sz="3600" dirty="0"/>
          </a:p>
        </p:txBody>
      </p:sp>
      <p:graphicFrame>
        <p:nvGraphicFramePr>
          <p:cNvPr id="5" name="tabla-mercado"/>
          <p:cNvGraphicFramePr>
            <a:graphicFrameLocks noGrp="1"/>
          </p:cNvGraphicFramePr>
          <p:nvPr>
            <p:extLst>
              <p:ext uri="{D42A27DB-BD31-4B8C-83A1-F6EECF244321}">
                <p14:modId xmlns:p14="http://schemas.microsoft.com/office/powerpoint/2010/main" val="1579011935"/>
              </p:ext>
            </p:extLst>
          </p:nvPr>
        </p:nvGraphicFramePr>
        <p:xfrm>
          <a:off x="548640" y="1691640"/>
          <a:ext cx="7772400" cy="914400"/>
        </p:xfrm>
        <a:graphic>
          <a:graphicData uri="http://schemas.openxmlformats.org/drawingml/2006/table">
            <a:tbl>
              <a:tblPr/>
              <a:tblGrid>
                <a:gridCol w="1325880"/>
                <a:gridCol w="3063240"/>
                <a:gridCol w="3383280"/>
              </a:tblGrid>
              <a:tr h="0">
                <a:tc>
                  <a:txBody>
                    <a:bodyPr/>
                    <a:lstStyle/>
                    <a:p>
                      <a:pPr indent="0" marL="0">
                        <a:buNone/>
                      </a:pPr>
                      <a:r>
                        <a:rPr lang="en-US" sz="1400" b="1" dirty="0">
                          <a:solidFill>
                            <a:schemeClr val="bg1"/>
                          </a:solidFill>
                          <a:latin typeface="+mn-lt" pitchFamily="34" charset="0"/>
                          <a:ea typeface="+mn-lt" pitchFamily="34" charset="-122"/>
                          <a:cs typeface="+mn-lt" pitchFamily="34" charset="-120"/>
                        </a:rPr>
                        <a:t>App</a:t>
                      </a:r>
                      <a:endParaRPr lang="en-US" sz="1400" dirty="0">
                        <a:latin typeface="+mn-lt" charset="0"/>
                        <a:ea typeface="+mn-lt" charset="0"/>
                        <a:cs typeface="+mn-lt" charset="0"/>
                      </a:endParaRPr>
                    </a:p>
                  </a:txBody>
                  <a:tcPr marL="101600" marR="101600" marT="63500" marB="63500" anchor="ctr">
                    <a:lnL w="0" cap="flat" cmpd="sng" algn="ctr">
                      <a:noFill/>
                    </a:lnL>
                    <a:lnR w="0" cap="flat" cmpd="sng" algn="ctr">
                      <a:noFill/>
                    </a:lnR>
                    <a:lnT w="0" cap="flat" cmpd="sng" algn="ctr">
                      <a:noFill/>
                    </a:lnT>
                    <a:lnB w="0" cap="flat" cmpd="sng" algn="ctr">
                      <a:noFill/>
                    </a:lnB>
                    <a:solidFill>
                      <a:schemeClr val="tx1"/>
                    </a:solidFill>
                  </a:tcPr>
                </a:tc>
                <a:tc>
                  <a:txBody>
                    <a:bodyPr/>
                    <a:lstStyle/>
                    <a:p>
                      <a:pPr indent="0" marL="0">
                        <a:buNone/>
                      </a:pPr>
                      <a:r>
                        <a:rPr lang="en-US" sz="1400" b="1" dirty="0">
                          <a:solidFill>
                            <a:schemeClr val="bg1"/>
                          </a:solidFill>
                          <a:latin typeface="+mn-lt" pitchFamily="34" charset="0"/>
                          <a:ea typeface="+mn-lt" pitchFamily="34" charset="-122"/>
                          <a:cs typeface="+mn-lt" pitchFamily="34" charset="-120"/>
                        </a:rPr>
                        <a:t>Precio</a:t>
                      </a:r>
                      <a:endParaRPr lang="en-US" sz="1400" dirty="0">
                        <a:latin typeface="+mn-lt" charset="0"/>
                        <a:ea typeface="+mn-lt" charset="0"/>
                        <a:cs typeface="+mn-lt" charset="0"/>
                      </a:endParaRPr>
                    </a:p>
                  </a:txBody>
                  <a:tcPr marL="101600" marR="101600" marT="63500" marB="63500" anchor="ctr">
                    <a:lnL w="0" cap="flat" cmpd="sng" algn="ctr">
                      <a:noFill/>
                    </a:lnL>
                    <a:lnR w="0" cap="flat" cmpd="sng" algn="ctr">
                      <a:noFill/>
                    </a:lnR>
                    <a:lnT w="0" cap="flat" cmpd="sng" algn="ctr">
                      <a:noFill/>
                    </a:lnT>
                    <a:lnB w="0" cap="flat" cmpd="sng" algn="ctr">
                      <a:noFill/>
                    </a:lnB>
                    <a:solidFill>
                      <a:schemeClr val="tx1"/>
                    </a:solidFill>
                  </a:tcPr>
                </a:tc>
                <a:tc>
                  <a:txBody>
                    <a:bodyPr/>
                    <a:lstStyle/>
                    <a:p>
                      <a:pPr indent="0" marL="0">
                        <a:buNone/>
                      </a:pPr>
                      <a:r>
                        <a:rPr lang="en-US" sz="1400" b="1" dirty="0">
                          <a:solidFill>
                            <a:schemeClr val="bg1"/>
                          </a:solidFill>
                          <a:latin typeface="+mn-lt" pitchFamily="34" charset="0"/>
                          <a:ea typeface="+mn-lt" pitchFamily="34" charset="-122"/>
                          <a:cs typeface="+mn-lt" pitchFamily="34" charset="-120"/>
                        </a:rPr>
                        <a:t>Por qué no encaja</a:t>
                      </a:r>
                      <a:endParaRPr lang="en-US" sz="1400" dirty="0">
                        <a:latin typeface="+mn-lt" charset="0"/>
                        <a:ea typeface="+mn-lt" charset="0"/>
                        <a:cs typeface="+mn-lt" charset="0"/>
                      </a:endParaRPr>
                    </a:p>
                  </a:txBody>
                  <a:tcPr marL="101600" marR="101600" marT="63500" marB="63500" anchor="ctr">
                    <a:lnL w="0" cap="flat" cmpd="sng" algn="ctr">
                      <a:noFill/>
                    </a:lnL>
                    <a:lnR w="0" cap="flat" cmpd="sng" algn="ctr">
                      <a:noFill/>
                    </a:lnR>
                    <a:lnT w="0" cap="flat" cmpd="sng" algn="ctr">
                      <a:noFill/>
                    </a:lnT>
                    <a:lnB w="0" cap="flat" cmpd="sng" algn="ctr">
                      <a:noFill/>
                    </a:lnB>
                    <a:solidFill>
                      <a:schemeClr val="tx1"/>
                    </a:solidFill>
                  </a:tcPr>
                </a:tc>
              </a:tr>
              <a:tr h="0">
                <a:tc>
                  <a:txBody>
                    <a:bodyPr/>
                    <a:lstStyle/>
                    <a:p>
                      <a:pPr indent="0" marL="0">
                        <a:buNone/>
                      </a:pPr>
                      <a:r>
                        <a:rPr lang="en-US" sz="1400" b="1" dirty="0">
                          <a:solidFill>
                            <a:schemeClr val="tx1"/>
                          </a:solidFill>
                          <a:latin typeface="+mn-lt" pitchFamily="34" charset="0"/>
                          <a:ea typeface="+mn-lt" pitchFamily="34" charset="-122"/>
                          <a:cs typeface="+mn-lt" pitchFamily="34" charset="-120"/>
                        </a:rPr>
                        <a:t>Booksy</a:t>
                      </a:r>
                      <a:endParaRPr lang="en-US" sz="1400" dirty="0">
                        <a:latin typeface="+mn-lt" charset="0"/>
                        <a:ea typeface="+mn-lt" charset="0"/>
                        <a:cs typeface="+mn-lt" charset="0"/>
                      </a:endParaRPr>
                    </a:p>
                  </a:txBody>
                  <a:tcPr marL="101600" marR="101600" marT="63500" marB="6350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tx1"/>
                          </a:solidFill>
                          <a:latin typeface="+mn-lt" pitchFamily="34" charset="0"/>
                          <a:ea typeface="+mn-lt" pitchFamily="34" charset="-122"/>
                          <a:cs typeface="+mn-lt" pitchFamily="34" charset="-120"/>
                        </a:rPr>
                        <a:t>34,99 € + IVA al mes y comisiones</a:t>
                      </a:r>
                      <a:endParaRPr lang="en-US" sz="1400" dirty="0">
                        <a:latin typeface="+mn-lt" charset="0"/>
                        <a:ea typeface="+mn-lt" charset="0"/>
                        <a:cs typeface="+mn-lt" charset="0"/>
                      </a:endParaRPr>
                    </a:p>
                  </a:txBody>
                  <a:tcPr marL="101600" marR="101600" marT="63500" marB="6350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tx1"/>
                          </a:solidFill>
                          <a:latin typeface="+mn-lt" pitchFamily="34" charset="0"/>
                          <a:ea typeface="+mn-lt" pitchFamily="34" charset="-122"/>
                          <a:cs typeface="+mn-lt" pitchFamily="34" charset="-120"/>
                        </a:rPr>
                        <a:t>Escaparate público, sin acceso por invitación</a:t>
                      </a:r>
                      <a:endParaRPr lang="en-US" sz="1400" dirty="0">
                        <a:latin typeface="+mn-lt" charset="0"/>
                        <a:ea typeface="+mn-lt" charset="0"/>
                        <a:cs typeface="+mn-lt" charset="0"/>
                      </a:endParaRPr>
                    </a:p>
                  </a:txBody>
                  <a:tcPr marL="101600" marR="101600" marT="63500" marB="63500" anchor="ctr">
                    <a:lnL w="0" cap="flat" cmpd="sng" algn="ctr">
                      <a:noFill/>
                    </a:lnL>
                    <a:lnR w="0" cap="flat" cmpd="sng" algn="ctr">
                      <a:noFill/>
                    </a:lnR>
                    <a:lnT w="0" cap="flat" cmpd="sng" algn="ctr">
                      <a:noFill/>
                    </a:lnT>
                    <a:lnB w="0" cap="flat" cmpd="sng" algn="ctr">
                      <a:noFill/>
                    </a:lnB>
                    <a:solidFill>
                      <a:schemeClr val="bg2"/>
                    </a:solidFill>
                  </a:tcPr>
                </a:tc>
              </a:tr>
              <a:tr h="0">
                <a:tc>
                  <a:txBody>
                    <a:bodyPr/>
                    <a:lstStyle/>
                    <a:p>
                      <a:pPr indent="0" marL="0">
                        <a:buNone/>
                      </a:pPr>
                      <a:r>
                        <a:rPr lang="en-US" sz="1400" b="1" dirty="0">
                          <a:solidFill>
                            <a:schemeClr val="tx1"/>
                          </a:solidFill>
                          <a:latin typeface="+mn-lt" pitchFamily="34" charset="0"/>
                          <a:ea typeface="+mn-lt" pitchFamily="34" charset="-122"/>
                          <a:cs typeface="+mn-lt" pitchFamily="34" charset="-120"/>
                        </a:rPr>
                        <a:t>Fresha</a:t>
                      </a:r>
                      <a:endParaRPr lang="en-US" sz="1400" dirty="0">
                        <a:latin typeface="+mn-lt" charset="0"/>
                        <a:ea typeface="+mn-lt" charset="0"/>
                        <a:cs typeface="+mn-lt" charset="0"/>
                      </a:endParaRPr>
                    </a:p>
                  </a:txBody>
                  <a:tcPr marL="101600" marR="101600" marT="63500" marB="6350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400" dirty="0">
                          <a:solidFill>
                            <a:schemeClr val="tx1"/>
                          </a:solidFill>
                          <a:latin typeface="+mn-lt" pitchFamily="34" charset="0"/>
                          <a:ea typeface="+mn-lt" pitchFamily="34" charset="-122"/>
                          <a:cs typeface="+mn-lt" pitchFamily="34" charset="-120"/>
                        </a:rPr>
                        <a:t>19,95 € al mes y tarifa por cliente nuevo</a:t>
                      </a:r>
                      <a:endParaRPr lang="en-US" sz="1400" dirty="0">
                        <a:latin typeface="+mn-lt" charset="0"/>
                        <a:ea typeface="+mn-lt" charset="0"/>
                        <a:cs typeface="+mn-lt" charset="0"/>
                      </a:endParaRPr>
                    </a:p>
                  </a:txBody>
                  <a:tcPr marL="101600" marR="101600" marT="63500" marB="6350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400" dirty="0">
                          <a:solidFill>
                            <a:schemeClr val="tx1"/>
                          </a:solidFill>
                          <a:latin typeface="+mn-lt" pitchFamily="34" charset="0"/>
                          <a:ea typeface="+mn-lt" pitchFamily="34" charset="-122"/>
                          <a:cs typeface="+mn-lt" pitchFamily="34" charset="-120"/>
                        </a:rPr>
                        <a:t>Pensada para captar clientes</a:t>
                      </a:r>
                      <a:endParaRPr lang="en-US" sz="1400" dirty="0">
                        <a:latin typeface="+mn-lt" charset="0"/>
                        <a:ea typeface="+mn-lt" charset="0"/>
                        <a:cs typeface="+mn-lt" charset="0"/>
                      </a:endParaRPr>
                    </a:p>
                  </a:txBody>
                  <a:tcPr marL="101600" marR="101600" marT="63500" marB="63500" anchor="ctr">
                    <a:lnL w="0" cap="flat" cmpd="sng" algn="ctr">
                      <a:noFill/>
                    </a:lnL>
                    <a:lnR w="0" cap="flat" cmpd="sng" algn="ctr">
                      <a:noFill/>
                    </a:lnR>
                    <a:lnT w="0" cap="flat" cmpd="sng" algn="ctr">
                      <a:noFill/>
                    </a:lnT>
                    <a:lnB w="0" cap="flat" cmpd="sng" algn="ctr">
                      <a:noFill/>
                    </a:lnB>
                    <a:solidFill>
                      <a:schemeClr val="bg1"/>
                    </a:solidFill>
                  </a:tcPr>
                </a:tc>
              </a:tr>
              <a:tr h="0">
                <a:tc>
                  <a:txBody>
                    <a:bodyPr/>
                    <a:lstStyle/>
                    <a:p>
                      <a:pPr indent="0" marL="0">
                        <a:buNone/>
                      </a:pPr>
                      <a:r>
                        <a:rPr lang="en-US" sz="1400" b="1" dirty="0">
                          <a:solidFill>
                            <a:schemeClr val="tx1"/>
                          </a:solidFill>
                          <a:latin typeface="+mn-lt" pitchFamily="34" charset="0"/>
                          <a:ea typeface="+mn-lt" pitchFamily="34" charset="-122"/>
                          <a:cs typeface="+mn-lt" pitchFamily="34" charset="-120"/>
                        </a:rPr>
                        <a:t>Treatwell</a:t>
                      </a:r>
                      <a:endParaRPr lang="en-US" sz="1400" dirty="0">
                        <a:latin typeface="+mn-lt" charset="0"/>
                        <a:ea typeface="+mn-lt" charset="0"/>
                        <a:cs typeface="+mn-lt" charset="0"/>
                      </a:endParaRPr>
                    </a:p>
                  </a:txBody>
                  <a:tcPr marL="101600" marR="101600" marT="63500" marB="6350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tx1"/>
                          </a:solidFill>
                          <a:latin typeface="+mn-lt" pitchFamily="34" charset="0"/>
                          <a:ea typeface="+mn-lt" pitchFamily="34" charset="-122"/>
                          <a:cs typeface="+mn-lt" pitchFamily="34" charset="-120"/>
                        </a:rPr>
                        <a:t>25 % de la primera reserva de cada cliente nuevo</a:t>
                      </a:r>
                      <a:endParaRPr lang="en-US" sz="1400" dirty="0">
                        <a:latin typeface="+mn-lt" charset="0"/>
                        <a:ea typeface="+mn-lt" charset="0"/>
                        <a:cs typeface="+mn-lt" charset="0"/>
                      </a:endParaRPr>
                    </a:p>
                  </a:txBody>
                  <a:tcPr marL="101600" marR="101600" marT="63500" marB="6350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tx1"/>
                          </a:solidFill>
                          <a:latin typeface="+mn-lt" pitchFamily="34" charset="0"/>
                          <a:ea typeface="+mn-lt" pitchFamily="34" charset="-122"/>
                          <a:cs typeface="+mn-lt" pitchFamily="34" charset="-120"/>
                        </a:rPr>
                        <a:t>Su negocio es traer clientes nuevos</a:t>
                      </a:r>
                      <a:endParaRPr lang="en-US" sz="1400" dirty="0">
                        <a:latin typeface="+mn-lt" charset="0"/>
                        <a:ea typeface="+mn-lt" charset="0"/>
                        <a:cs typeface="+mn-lt" charset="0"/>
                      </a:endParaRPr>
                    </a:p>
                  </a:txBody>
                  <a:tcPr marL="101600" marR="101600" marT="63500" marB="63500" anchor="ctr">
                    <a:lnL w="0" cap="flat" cmpd="sng" algn="ctr">
                      <a:noFill/>
                    </a:lnL>
                    <a:lnR w="0" cap="flat" cmpd="sng" algn="ctr">
                      <a:noFill/>
                    </a:lnR>
                    <a:lnT w="0" cap="flat" cmpd="sng" algn="ctr">
                      <a:noFill/>
                    </a:lnT>
                    <a:lnB w="0" cap="flat" cmpd="sng" algn="ctr">
                      <a:noFill/>
                    </a:lnB>
                    <a:solidFill>
                      <a:schemeClr val="bg2"/>
                    </a:solidFill>
                  </a:tcPr>
                </a:tc>
              </a:tr>
              <a:tr h="0">
                <a:tc>
                  <a:txBody>
                    <a:bodyPr/>
                    <a:lstStyle/>
                    <a:p>
                      <a:pPr indent="0" marL="0">
                        <a:buNone/>
                      </a:pPr>
                      <a:r>
                        <a:rPr lang="en-US" sz="1400" b="1" dirty="0">
                          <a:solidFill>
                            <a:schemeClr val="tx1"/>
                          </a:solidFill>
                          <a:latin typeface="+mn-lt" pitchFamily="34" charset="0"/>
                          <a:ea typeface="+mn-lt" pitchFamily="34" charset="-122"/>
                          <a:cs typeface="+mn-lt" pitchFamily="34" charset="-120"/>
                        </a:rPr>
                        <a:t>AgendaPro</a:t>
                      </a:r>
                      <a:endParaRPr lang="en-US" sz="1400" dirty="0">
                        <a:latin typeface="+mn-lt" charset="0"/>
                        <a:ea typeface="+mn-lt" charset="0"/>
                        <a:cs typeface="+mn-lt" charset="0"/>
                      </a:endParaRPr>
                    </a:p>
                  </a:txBody>
                  <a:tcPr marL="101600" marR="101600" marT="63500" marB="6350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400" dirty="0">
                          <a:solidFill>
                            <a:schemeClr val="tx1"/>
                          </a:solidFill>
                          <a:latin typeface="+mn-lt" pitchFamily="34" charset="0"/>
                          <a:ea typeface="+mn-lt" pitchFamily="34" charset="-122"/>
                          <a:cs typeface="+mn-lt" pitchFamily="34" charset="-120"/>
                        </a:rPr>
                        <a:t>Desde 10 € al mes</a:t>
                      </a:r>
                      <a:endParaRPr lang="en-US" sz="1400" dirty="0">
                        <a:latin typeface="+mn-lt" charset="0"/>
                        <a:ea typeface="+mn-lt" charset="0"/>
                        <a:cs typeface="+mn-lt" charset="0"/>
                      </a:endParaRPr>
                    </a:p>
                  </a:txBody>
                  <a:tcPr marL="101600" marR="101600" marT="63500" marB="6350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400" dirty="0">
                          <a:solidFill>
                            <a:schemeClr val="tx1"/>
                          </a:solidFill>
                          <a:latin typeface="+mn-lt" pitchFamily="34" charset="0"/>
                          <a:ea typeface="+mn-lt" pitchFamily="34" charset="-122"/>
                          <a:cs typeface="+mn-lt" pitchFamily="34" charset="-120"/>
                        </a:rPr>
                        <a:t>Personal, inventario y caja</a:t>
                      </a:r>
                      <a:endParaRPr lang="en-US" sz="1400" dirty="0">
                        <a:latin typeface="+mn-lt" charset="0"/>
                        <a:ea typeface="+mn-lt" charset="0"/>
                        <a:cs typeface="+mn-lt" charset="0"/>
                      </a:endParaRPr>
                    </a:p>
                  </a:txBody>
                  <a:tcPr marL="101600" marR="101600" marT="63500" marB="63500" anchor="ctr">
                    <a:lnL w="0" cap="flat" cmpd="sng" algn="ctr">
                      <a:noFill/>
                    </a:lnL>
                    <a:lnR w="0" cap="flat" cmpd="sng" algn="ctr">
                      <a:noFill/>
                    </a:lnR>
                    <a:lnT w="0" cap="flat" cmpd="sng" algn="ctr">
                      <a:noFill/>
                    </a:lnT>
                    <a:lnB w="0" cap="flat" cmpd="sng" algn="ctr">
                      <a:noFill/>
                    </a:lnB>
                    <a:solidFill>
                      <a:schemeClr val="bg1"/>
                    </a:solidFill>
                  </a:tcPr>
                </a:tc>
              </a:tr>
              <a:tr h="0">
                <a:tc>
                  <a:txBody>
                    <a:bodyPr/>
                    <a:lstStyle/>
                    <a:p>
                      <a:pPr indent="0" marL="0">
                        <a:buNone/>
                      </a:pPr>
                      <a:r>
                        <a:rPr lang="en-US" sz="1400" b="1" dirty="0">
                          <a:solidFill>
                            <a:schemeClr val="tx1"/>
                          </a:solidFill>
                          <a:latin typeface="+mn-lt" pitchFamily="34" charset="0"/>
                          <a:ea typeface="+mn-lt" pitchFamily="34" charset="-122"/>
                          <a:cs typeface="+mn-lt" pitchFamily="34" charset="-120"/>
                        </a:rPr>
                        <a:t>Square</a:t>
                      </a:r>
                      <a:endParaRPr lang="en-US" sz="1400" dirty="0">
                        <a:latin typeface="+mn-lt" charset="0"/>
                        <a:ea typeface="+mn-lt" charset="0"/>
                        <a:cs typeface="+mn-lt" charset="0"/>
                      </a:endParaRPr>
                    </a:p>
                  </a:txBody>
                  <a:tcPr marL="101600" marR="101600" marT="63500" marB="6350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tx1"/>
                          </a:solidFill>
                          <a:latin typeface="+mn-lt" pitchFamily="34" charset="0"/>
                          <a:ea typeface="+mn-lt" pitchFamily="34" charset="-122"/>
                          <a:cs typeface="+mn-lt" pitchFamily="34" charset="-120"/>
                        </a:rPr>
                        <a:t>Gratis, con comisión por cobro</a:t>
                      </a:r>
                      <a:endParaRPr lang="en-US" sz="1400" dirty="0">
                        <a:latin typeface="+mn-lt" charset="0"/>
                        <a:ea typeface="+mn-lt" charset="0"/>
                        <a:cs typeface="+mn-lt" charset="0"/>
                      </a:endParaRPr>
                    </a:p>
                  </a:txBody>
                  <a:tcPr marL="101600" marR="101600" marT="63500" marB="6350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tx1"/>
                          </a:solidFill>
                          <a:latin typeface="+mn-lt" pitchFamily="34" charset="0"/>
                          <a:ea typeface="+mn-lt" pitchFamily="34" charset="-122"/>
                          <a:cs typeface="+mn-lt" pitchFamily="34" charset="-120"/>
                        </a:rPr>
                        <a:t>Vive de su pasarela de pago</a:t>
                      </a:r>
                      <a:endParaRPr lang="en-US" sz="1400" dirty="0">
                        <a:latin typeface="+mn-lt" charset="0"/>
                        <a:ea typeface="+mn-lt" charset="0"/>
                        <a:cs typeface="+mn-lt" charset="0"/>
                      </a:endParaRPr>
                    </a:p>
                  </a:txBody>
                  <a:tcPr marL="101600" marR="101600" marT="63500" marB="63500" anchor="ctr">
                    <a:lnL w="0" cap="flat" cmpd="sng" algn="ctr">
                      <a:noFill/>
                    </a:lnL>
                    <a:lnR w="0" cap="flat" cmpd="sng" algn="ctr">
                      <a:noFill/>
                    </a:lnR>
                    <a:lnT w="0" cap="flat" cmpd="sng" algn="ctr">
                      <a:noFill/>
                    </a:lnT>
                    <a:lnB w="0" cap="flat" cmpd="sng" algn="ctr">
                      <a:noFill/>
                    </a:lnB>
                    <a:solidFill>
                      <a:schemeClr val="bg2"/>
                    </a:solidFill>
                  </a:tcPr>
                </a:tc>
              </a:tr>
              <a:tr h="0">
                <a:tc>
                  <a:txBody>
                    <a:bodyPr/>
                    <a:lstStyle/>
                    <a:p>
                      <a:pPr indent="0" marL="0">
                        <a:buNone/>
                      </a:pPr>
                      <a:r>
                        <a:rPr lang="en-US" sz="1400" b="1" dirty="0">
                          <a:solidFill>
                            <a:schemeClr val="tx1"/>
                          </a:solidFill>
                          <a:latin typeface="+mn-lt" pitchFamily="34" charset="0"/>
                          <a:ea typeface="+mn-lt" pitchFamily="34" charset="-122"/>
                          <a:cs typeface="+mn-lt" pitchFamily="34" charset="-120"/>
                        </a:rPr>
                        <a:t>Setmore</a:t>
                      </a:r>
                      <a:endParaRPr lang="en-US" sz="1400" dirty="0">
                        <a:latin typeface="+mn-lt" charset="0"/>
                        <a:ea typeface="+mn-lt" charset="0"/>
                        <a:cs typeface="+mn-lt" charset="0"/>
                      </a:endParaRPr>
                    </a:p>
                  </a:txBody>
                  <a:tcPr marL="101600" marR="101600" marT="63500" marB="6350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400" dirty="0">
                          <a:solidFill>
                            <a:schemeClr val="tx1"/>
                          </a:solidFill>
                          <a:latin typeface="+mn-lt" pitchFamily="34" charset="0"/>
                          <a:ea typeface="+mn-lt" pitchFamily="34" charset="-122"/>
                          <a:cs typeface="+mn-lt" pitchFamily="34" charset="-120"/>
                        </a:rPr>
                        <a:t>Gratis hasta 4 usuarios, Pro a 5 $</a:t>
                      </a:r>
                      <a:endParaRPr lang="en-US" sz="1400" dirty="0">
                        <a:latin typeface="+mn-lt" charset="0"/>
                        <a:ea typeface="+mn-lt" charset="0"/>
                        <a:cs typeface="+mn-lt" charset="0"/>
                      </a:endParaRPr>
                    </a:p>
                  </a:txBody>
                  <a:tcPr marL="101600" marR="101600" marT="63500" marB="6350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400" dirty="0">
                          <a:solidFill>
                            <a:schemeClr val="tx1"/>
                          </a:solidFill>
                          <a:latin typeface="+mn-lt" pitchFamily="34" charset="0"/>
                          <a:ea typeface="+mn-lt" pitchFamily="34" charset="-122"/>
                          <a:cs typeface="+mn-lt" pitchFamily="34" charset="-120"/>
                        </a:rPr>
                        <a:t>Generalista, sin aprobación de clientes</a:t>
                      </a:r>
                      <a:endParaRPr lang="en-US" sz="1400" dirty="0">
                        <a:latin typeface="+mn-lt" charset="0"/>
                        <a:ea typeface="+mn-lt" charset="0"/>
                        <a:cs typeface="+mn-lt" charset="0"/>
                      </a:endParaRPr>
                    </a:p>
                  </a:txBody>
                  <a:tcPr marL="101600" marR="101600" marT="63500" marB="63500" anchor="ctr">
                    <a:lnL w="0" cap="flat" cmpd="sng" algn="ctr">
                      <a:noFill/>
                    </a:lnL>
                    <a:lnR w="0" cap="flat" cmpd="sng" algn="ctr">
                      <a:noFill/>
                    </a:lnR>
                    <a:lnT w="0" cap="flat" cmpd="sng" algn="ctr">
                      <a:noFill/>
                    </a:lnT>
                    <a:lnB w="0" cap="flat" cmpd="sng" algn="ctr">
                      <a:noFill/>
                    </a:lnB>
                    <a:solidFill>
                      <a:schemeClr val="bg1"/>
                    </a:solidFill>
                  </a:tcPr>
                </a:tc>
              </a:tr>
              <a:tr h="0">
                <a:tc>
                  <a:txBody>
                    <a:bodyPr/>
                    <a:lstStyle/>
                    <a:p>
                      <a:pPr indent="0" marL="0">
                        <a:buNone/>
                      </a:pPr>
                      <a:r>
                        <a:rPr lang="en-US" sz="1400" b="1" dirty="0">
                          <a:solidFill>
                            <a:schemeClr val="tx1"/>
                          </a:solidFill>
                          <a:latin typeface="+mn-lt" pitchFamily="34" charset="0"/>
                          <a:ea typeface="+mn-lt" pitchFamily="34" charset="-122"/>
                          <a:cs typeface="+mn-lt" pitchFamily="34" charset="-120"/>
                        </a:rPr>
                        <a:t>Calendly</a:t>
                      </a:r>
                      <a:endParaRPr lang="en-US" sz="1400" dirty="0">
                        <a:latin typeface="+mn-lt" charset="0"/>
                        <a:ea typeface="+mn-lt" charset="0"/>
                        <a:cs typeface="+mn-lt" charset="0"/>
                      </a:endParaRPr>
                    </a:p>
                  </a:txBody>
                  <a:tcPr marL="101600" marR="101600" marT="63500" marB="6350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tx1"/>
                          </a:solidFill>
                          <a:latin typeface="+mn-lt" pitchFamily="34" charset="0"/>
                          <a:ea typeface="+mn-lt" pitchFamily="34" charset="-122"/>
                          <a:cs typeface="+mn-lt" pitchFamily="34" charset="-120"/>
                        </a:rPr>
                        <a:t>Gratis con un evento, 10 $ por usuario</a:t>
                      </a:r>
                      <a:endParaRPr lang="en-US" sz="1400" dirty="0">
                        <a:latin typeface="+mn-lt" charset="0"/>
                        <a:ea typeface="+mn-lt" charset="0"/>
                        <a:cs typeface="+mn-lt" charset="0"/>
                      </a:endParaRPr>
                    </a:p>
                  </a:txBody>
                  <a:tcPr marL="101600" marR="101600" marT="63500" marB="6350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tx1"/>
                          </a:solidFill>
                          <a:latin typeface="+mn-lt" pitchFamily="34" charset="0"/>
                          <a:ea typeface="+mn-lt" pitchFamily="34" charset="-122"/>
                          <a:cs typeface="+mn-lt" pitchFamily="34" charset="-120"/>
                        </a:rPr>
                        <a:t>Sin cupo diario ni aprobaciones</a:t>
                      </a:r>
                      <a:endParaRPr lang="en-US" sz="1400" dirty="0">
                        <a:latin typeface="+mn-lt" charset="0"/>
                        <a:ea typeface="+mn-lt" charset="0"/>
                        <a:cs typeface="+mn-lt" charset="0"/>
                      </a:endParaRPr>
                    </a:p>
                  </a:txBody>
                  <a:tcPr marL="101600" marR="101600" marT="63500" marB="63500" anchor="ctr">
                    <a:lnL w="0" cap="flat" cmpd="sng" algn="ctr">
                      <a:noFill/>
                    </a:lnL>
                    <a:lnR w="0" cap="flat" cmpd="sng" algn="ctr">
                      <a:noFill/>
                    </a:lnR>
                    <a:lnT w="0" cap="flat" cmpd="sng" algn="ctr">
                      <a:noFill/>
                    </a:lnT>
                    <a:lnB w="0" cap="flat" cmpd="sng" algn="ctr">
                      <a:noFill/>
                    </a:lnB>
                    <a:solidFill>
                      <a:schemeClr val="bg2"/>
                    </a:solidFill>
                  </a:tcPr>
                </a:tc>
              </a:tr>
            </a:tbl>
          </a:graphicData>
        </a:graphic>
      </p:graphicFrame>
      <p:sp>
        <p:nvSpPr>
          <p:cNvPr id="5" name="Text 2"/>
          <p:cNvSpPr txBox="1"/>
          <p:nvPr/>
        </p:nvSpPr>
        <p:spPr>
          <a:xfrm>
            <a:off x="548640" y="5943600"/>
            <a:ext cx="7772400" cy="274320"/>
          </a:xfrm>
          <a:prstGeom prst="rect">
            <a:avLst/>
          </a:prstGeom>
          <a:noFill/>
          <a:ln/>
        </p:spPr>
        <p:txBody>
          <a:bodyPr wrap="square" lIns="0" tIns="0" rIns="0" bIns="0" rtlCol="0" anchor="t"/>
          <a:lstStyle/>
          <a:p>
            <a:pPr indent="0" marL="0">
              <a:buNone/>
            </a:pPr>
            <a:r>
              <a:rPr lang="en-US" sz="1100" dirty="0">
                <a:solidFill>
                  <a:schemeClr val="accent3"/>
                </a:solidFill>
              </a:rPr>
              <a:t>Fuente: webs oficiales de cada aplicación, consultadas el 30-09-2026.</a:t>
            </a:r>
            <a:endParaRPr lang="en-US" sz="1100" dirty="0"/>
          </a:p>
        </p:txBody>
      </p:sp>
      <p:sp>
        <p:nvSpPr>
          <p:cNvPr id="6" name="tarjeta-clandestino"/>
          <p:cNvSpPr/>
          <p:nvPr/>
        </p:nvSpPr>
        <p:spPr>
          <a:xfrm>
            <a:off x="8686800" y="1691640"/>
            <a:ext cx="2953512" cy="4480560"/>
          </a:xfrm>
          <a:prstGeom prst="roundRect">
            <a:avLst>
              <a:gd name="adj" fmla="val 3715"/>
            </a:avLst>
          </a:prstGeom>
          <a:solidFill>
            <a:schemeClr val="tx1"/>
          </a:solidFill>
          <a:ln/>
        </p:spPr>
      </p:sp>
      <p:sp>
        <p:nvSpPr>
          <p:cNvPr id="7" name="Text 4"/>
          <p:cNvSpPr txBox="1"/>
          <p:nvPr/>
        </p:nvSpPr>
        <p:spPr>
          <a:xfrm>
            <a:off x="9006840" y="1965960"/>
            <a:ext cx="2377440" cy="502920"/>
          </a:xfrm>
          <a:prstGeom prst="rect">
            <a:avLst/>
          </a:prstGeom>
          <a:noFill/>
          <a:ln/>
        </p:spPr>
        <p:txBody>
          <a:bodyPr wrap="square" lIns="0" tIns="0" rIns="0" bIns="0" rtlCol="0" anchor="t"/>
          <a:lstStyle/>
          <a:p>
            <a:pPr indent="0" marL="0">
              <a:buNone/>
            </a:pPr>
            <a:r>
              <a:rPr lang="en-US" sz="2800" dirty="0">
                <a:solidFill>
                  <a:schemeClr val="bg1"/>
                </a:solidFill>
                <a:latin typeface="+mj-lt" pitchFamily="34" charset="0"/>
                <a:ea typeface="+mj-lt" pitchFamily="34" charset="-122"/>
                <a:cs typeface="+mj-lt" pitchFamily="34" charset="-120"/>
              </a:rPr>
              <a:t>CLANDESTINO</a:t>
            </a:r>
            <a:endParaRPr lang="en-US" sz="2800" dirty="0"/>
          </a:p>
        </p:txBody>
      </p:sp>
      <p:pic>
        <p:nvPicPr>
          <p:cNvPr id="8" name="regla-0" descr="preencoded.png">    </p:cNvPr>
          <p:cNvPicPr>
            <a:picLocks noChangeAspect="1"/>
          </p:cNvPicPr>
          <p:nvPr/>
        </p:nvPicPr>
        <p:blipFill>
          <a:blip r:embed="rId1"/>
          <a:stretch>
            <a:fillRect/>
          </a:stretch>
        </p:blipFill>
        <p:spPr>
          <a:xfrm>
            <a:off x="9006840" y="2734056"/>
            <a:ext cx="256032" cy="256032"/>
          </a:xfrm>
          <a:prstGeom prst="rect">
            <a:avLst/>
          </a:prstGeom>
        </p:spPr>
      </p:pic>
      <p:sp>
        <p:nvSpPr>
          <p:cNvPr id="9" name="Text 5"/>
          <p:cNvSpPr txBox="1"/>
          <p:nvPr/>
        </p:nvSpPr>
        <p:spPr>
          <a:xfrm>
            <a:off x="9418320" y="2697480"/>
            <a:ext cx="2011680" cy="685800"/>
          </a:xfrm>
          <a:prstGeom prst="rect">
            <a:avLst/>
          </a:prstGeom>
          <a:noFill/>
          <a:ln/>
        </p:spPr>
        <p:txBody>
          <a:bodyPr wrap="square" lIns="0" tIns="0" rIns="0" bIns="0" rtlCol="0" anchor="t"/>
          <a:lstStyle/>
          <a:p>
            <a:pPr indent="0" marL="0">
              <a:buNone/>
            </a:pPr>
            <a:r>
              <a:rPr lang="en-US" sz="1500" dirty="0">
                <a:solidFill>
                  <a:schemeClr val="bg1"/>
                </a:solidFill>
              </a:rPr>
              <a:t>Acceso solo por invitación y aprobación</a:t>
            </a:r>
            <a:endParaRPr lang="en-US" sz="1500" dirty="0"/>
          </a:p>
        </p:txBody>
      </p:sp>
      <p:pic>
        <p:nvPicPr>
          <p:cNvPr id="10" name="regla-1" descr="preencoded.png">    </p:cNvPr>
          <p:cNvPicPr>
            <a:picLocks noChangeAspect="1"/>
          </p:cNvPicPr>
          <p:nvPr/>
        </p:nvPicPr>
        <p:blipFill>
          <a:blip r:embed="rId2"/>
          <a:stretch>
            <a:fillRect/>
          </a:stretch>
        </p:blipFill>
        <p:spPr>
          <a:xfrm>
            <a:off x="9006840" y="3511296"/>
            <a:ext cx="256032" cy="256032"/>
          </a:xfrm>
          <a:prstGeom prst="rect">
            <a:avLst/>
          </a:prstGeom>
        </p:spPr>
      </p:pic>
      <p:sp>
        <p:nvSpPr>
          <p:cNvPr id="11" name="Text 6"/>
          <p:cNvSpPr txBox="1"/>
          <p:nvPr/>
        </p:nvSpPr>
        <p:spPr>
          <a:xfrm>
            <a:off x="9418320" y="3474720"/>
            <a:ext cx="2011680" cy="685800"/>
          </a:xfrm>
          <a:prstGeom prst="rect">
            <a:avLst/>
          </a:prstGeom>
          <a:noFill/>
          <a:ln/>
        </p:spPr>
        <p:txBody>
          <a:bodyPr wrap="square" lIns="0" tIns="0" rIns="0" bIns="0" rtlCol="0" anchor="t"/>
          <a:lstStyle/>
          <a:p>
            <a:pPr indent="0" marL="0">
              <a:buNone/>
            </a:pPr>
            <a:r>
              <a:rPr lang="en-US" sz="1500" dirty="0">
                <a:solidFill>
                  <a:schemeClr val="bg1"/>
                </a:solidFill>
              </a:rPr>
              <a:t>Cupo diario configurable</a:t>
            </a:r>
            <a:endParaRPr lang="en-US" sz="1500" dirty="0"/>
          </a:p>
        </p:txBody>
      </p:sp>
      <p:pic>
        <p:nvPicPr>
          <p:cNvPr id="12" name="regla-2" descr="preencoded.png">    </p:cNvPr>
          <p:cNvPicPr>
            <a:picLocks noChangeAspect="1"/>
          </p:cNvPicPr>
          <p:nvPr/>
        </p:nvPicPr>
        <p:blipFill>
          <a:blip r:embed="rId3"/>
          <a:stretch>
            <a:fillRect/>
          </a:stretch>
        </p:blipFill>
        <p:spPr>
          <a:xfrm>
            <a:off x="9006840" y="4288536"/>
            <a:ext cx="256032" cy="256032"/>
          </a:xfrm>
          <a:prstGeom prst="rect">
            <a:avLst/>
          </a:prstGeom>
        </p:spPr>
      </p:pic>
      <p:sp>
        <p:nvSpPr>
          <p:cNvPr id="13" name="Text 7"/>
          <p:cNvSpPr txBox="1"/>
          <p:nvPr/>
        </p:nvSpPr>
        <p:spPr>
          <a:xfrm>
            <a:off x="9418320" y="4251960"/>
            <a:ext cx="2011680" cy="685800"/>
          </a:xfrm>
          <a:prstGeom prst="rect">
            <a:avLst/>
          </a:prstGeom>
          <a:noFill/>
          <a:ln/>
        </p:spPr>
        <p:txBody>
          <a:bodyPr wrap="square" lIns="0" tIns="0" rIns="0" bIns="0" rtlCol="0" anchor="t"/>
          <a:lstStyle/>
          <a:p>
            <a:pPr indent="0" marL="0">
              <a:buNone/>
            </a:pPr>
            <a:r>
              <a:rPr lang="en-US" sz="1500" dirty="0">
                <a:solidFill>
                  <a:schemeClr val="bg1"/>
                </a:solidFill>
              </a:rPr>
              <a:t>Sin cuotas ni comisiones</a:t>
            </a:r>
            <a:endParaRPr lang="en-US" sz="1500" dirty="0"/>
          </a:p>
        </p:txBody>
      </p:sp>
      <p:sp>
        <p:nvSpPr>
          <p:cNvPr id="14" name="Text 8"/>
          <p:cNvSpPr txBox="1"/>
          <p:nvPr/>
        </p:nvSpPr>
        <p:spPr>
          <a:xfrm>
            <a:off x="9006840" y="5166360"/>
            <a:ext cx="2377440" cy="822960"/>
          </a:xfrm>
          <a:prstGeom prst="rect">
            <a:avLst/>
          </a:prstGeom>
          <a:noFill/>
          <a:ln/>
        </p:spPr>
        <p:txBody>
          <a:bodyPr wrap="square" lIns="0" tIns="0" rIns="0" bIns="0" rtlCol="0" anchor="t"/>
          <a:lstStyle/>
          <a:p>
            <a:pPr indent="0" marL="0">
              <a:buNone/>
            </a:pPr>
            <a:r>
              <a:rPr lang="en-US" sz="1300" dirty="0">
                <a:solidFill>
                  <a:schemeClr val="accent6"/>
                </a:solidFill>
              </a:rPr>
              <a:t>A cambio, no sirve para salones con varios empleados ni cobra desde la app.</a:t>
            </a:r>
            <a:endParaRPr lang="en-US" sz="1300" dirty="0"/>
          </a:p>
        </p:txBody>
      </p:sp>
      <p:sp>
        <p:nvSpPr>
          <p:cNvPr id="25" name="Slide Number Placeholder 0"/>
          <p:cNvSpPr>
            <a:spLocks noGrp="1"/>
          </p:cNvSpPr>
          <p:nvPr>
            <p:ph type="sldNum" sz="quarter" idx="4294967295"/>
          </p:nvPr>
        </p:nvSpPr>
        <p:spPr>
          <a:xfrm>
            <a:off x="11064240"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11064240" cy="320040"/>
          </a:xfrm>
          <a:prstGeom prst="rect">
            <a:avLst/>
          </a:prstGeom>
          <a:noFill/>
          <a:ln/>
        </p:spPr>
        <p:txBody>
          <a:bodyPr wrap="square" lIns="0" tIns="0" rIns="0" bIns="0" rtlCol="0" anchor="t"/>
          <a:lstStyle/>
          <a:p>
            <a:pPr indent="0" marL="0">
              <a:buNone/>
            </a:pPr>
            <a:r>
              <a:rPr lang="en-US" sz="1300" b="1" spc="300" kern="0" dirty="0">
                <a:solidFill>
                  <a:schemeClr val="accent1"/>
                </a:solidFill>
              </a:rPr>
              <a:t>4 · OBJETIVOS</a:t>
            </a:r>
            <a:endParaRPr lang="en-US" sz="1300" dirty="0"/>
          </a:p>
        </p:txBody>
      </p:sp>
      <p:sp>
        <p:nvSpPr>
          <p:cNvPr id="3" name="Text 0"/>
          <p:cNvSpPr/>
          <p:nvPr>
            <p:ph idx="101" type="title" hasCustomPrompt="1"/>
          </p:nvPr>
        </p:nvSpPr>
        <p:spPr>
          <a:xfrm>
            <a:off x="548640" y="713232"/>
            <a:ext cx="11064240" cy="777240"/>
          </a:xfrm>
          <a:prstGeom prst="rect">
            <a:avLst/>
          </a:prstGeom>
          <a:noFill/>
          <a:ln/>
        </p:spPr>
        <p:txBody>
          <a:bodyPr wrap="square" lIns="0" tIns="0" rIns="0" bIns="0" rtlCol="0" anchor="t"/>
          <a:lstStyle/>
          <a:p>
            <a:pPr algn="l" indent="0" marL="0">
              <a:buNone/>
            </a:pPr>
            <a:r>
              <a:rPr lang="en-US" sz="3600" dirty="0">
                <a:solidFill>
                  <a:schemeClr val="tx1"/>
                </a:solidFill>
              </a:rPr>
              <a:t>OBJETIVOS DEL PROYECTO</a:t>
            </a:r>
            <a:endParaRPr lang="en-US" sz="3600" dirty="0"/>
          </a:p>
        </p:txBody>
      </p:sp>
      <p:sp>
        <p:nvSpPr>
          <p:cNvPr id="4" name="objetivo-general"/>
          <p:cNvSpPr/>
          <p:nvPr/>
        </p:nvSpPr>
        <p:spPr>
          <a:xfrm>
            <a:off x="548640" y="1691640"/>
            <a:ext cx="11091672" cy="1097280"/>
          </a:xfrm>
          <a:prstGeom prst="roundRect">
            <a:avLst>
              <a:gd name="adj" fmla="val 10000"/>
            </a:avLst>
          </a:prstGeom>
          <a:solidFill>
            <a:schemeClr val="accent5"/>
          </a:solidFill>
          <a:ln/>
        </p:spPr>
      </p:sp>
      <p:sp>
        <p:nvSpPr>
          <p:cNvPr id="5" name="Text 3"/>
          <p:cNvSpPr txBox="1"/>
          <p:nvPr/>
        </p:nvSpPr>
        <p:spPr>
          <a:xfrm>
            <a:off x="822960" y="1828800"/>
            <a:ext cx="10515600" cy="274320"/>
          </a:xfrm>
          <a:prstGeom prst="rect">
            <a:avLst/>
          </a:prstGeom>
          <a:noFill/>
          <a:ln/>
        </p:spPr>
        <p:txBody>
          <a:bodyPr wrap="square" lIns="0" tIns="0" rIns="0" bIns="0" rtlCol="0" anchor="t"/>
          <a:lstStyle/>
          <a:p>
            <a:pPr indent="0" marL="0">
              <a:buNone/>
            </a:pPr>
            <a:r>
              <a:rPr lang="en-US" sz="1200" b="1" spc="200" kern="0" dirty="0">
                <a:solidFill>
                  <a:schemeClr val="accent2"/>
                </a:solidFill>
              </a:rPr>
              <a:t>OBJETIVO GENERAL</a:t>
            </a:r>
            <a:endParaRPr lang="en-US" sz="1200" dirty="0"/>
          </a:p>
        </p:txBody>
      </p:sp>
      <p:sp>
        <p:nvSpPr>
          <p:cNvPr id="6" name="Text 4"/>
          <p:cNvSpPr txBox="1"/>
          <p:nvPr/>
        </p:nvSpPr>
        <p:spPr>
          <a:xfrm>
            <a:off x="822960" y="2121408"/>
            <a:ext cx="10515600" cy="594360"/>
          </a:xfrm>
          <a:prstGeom prst="rect">
            <a:avLst/>
          </a:prstGeom>
          <a:noFill/>
          <a:ln/>
        </p:spPr>
        <p:txBody>
          <a:bodyPr wrap="square" lIns="0" tIns="0" rIns="0" bIns="0" rtlCol="0" anchor="t"/>
          <a:lstStyle/>
          <a:p>
            <a:pPr indent="0" marL="0">
              <a:buNone/>
            </a:pPr>
            <a:r>
              <a:rPr lang="en-US" sz="1700" dirty="0">
                <a:solidFill>
                  <a:schemeClr val="tx1"/>
                </a:solidFill>
              </a:rPr>
              <a:t>Desarrollar una app Android, con su API y su base de datos, para que una barbería de un solo barbero gestione sus citas con acceso por invitación, cupo diario y sin reservas duplicadas.</a:t>
            </a:r>
            <a:endParaRPr lang="en-US" sz="1700" dirty="0"/>
          </a:p>
        </p:txBody>
      </p:sp>
      <p:sp>
        <p:nvSpPr>
          <p:cNvPr id="7" name="objetivo-1"/>
          <p:cNvSpPr/>
          <p:nvPr/>
        </p:nvSpPr>
        <p:spPr>
          <a:xfrm>
            <a:off x="548640" y="3017520"/>
            <a:ext cx="2035454" cy="3063240"/>
          </a:xfrm>
          <a:prstGeom prst="roundRect">
            <a:avLst>
              <a:gd name="adj" fmla="val 5391"/>
            </a:avLst>
          </a:prstGeom>
          <a:solidFill>
            <a:schemeClr val="bg2"/>
          </a:solidFill>
          <a:ln/>
        </p:spPr>
      </p:sp>
      <p:sp>
        <p:nvSpPr>
          <p:cNvPr id="8" name="objetivo-1-circulo"/>
          <p:cNvSpPr/>
          <p:nvPr/>
        </p:nvSpPr>
        <p:spPr>
          <a:xfrm>
            <a:off x="822960" y="3291840"/>
            <a:ext cx="640080" cy="640080"/>
          </a:xfrm>
          <a:prstGeom prst="ellipse">
            <a:avLst/>
          </a:prstGeom>
          <a:solidFill>
            <a:schemeClr val="accent1"/>
          </a:solidFill>
          <a:ln/>
        </p:spPr>
      </p:sp>
      <p:pic>
        <p:nvPicPr>
          <p:cNvPr id="9" name="objetivo-1-icono" descr="preencoded.png">    </p:cNvPr>
          <p:cNvPicPr>
            <a:picLocks noChangeAspect="1"/>
          </p:cNvPicPr>
          <p:nvPr/>
        </p:nvPicPr>
        <p:blipFill>
          <a:blip r:embed="rId1"/>
          <a:stretch>
            <a:fillRect/>
          </a:stretch>
        </p:blipFill>
        <p:spPr>
          <a:xfrm>
            <a:off x="989381" y="3458261"/>
            <a:ext cx="307238" cy="307238"/>
          </a:xfrm>
          <a:prstGeom prst="rect">
            <a:avLst/>
          </a:prstGeom>
        </p:spPr>
      </p:pic>
      <p:sp>
        <p:nvSpPr>
          <p:cNvPr id="10" name="Text 7"/>
          <p:cNvSpPr txBox="1"/>
          <p:nvPr/>
        </p:nvSpPr>
        <p:spPr>
          <a:xfrm>
            <a:off x="822960" y="4114800"/>
            <a:ext cx="1578254" cy="365760"/>
          </a:xfrm>
          <a:prstGeom prst="rect">
            <a:avLst/>
          </a:prstGeom>
          <a:noFill/>
          <a:ln/>
        </p:spPr>
        <p:txBody>
          <a:bodyPr wrap="square" lIns="0" tIns="0" rIns="0" bIns="0" rtlCol="0" anchor="t"/>
          <a:lstStyle/>
          <a:p>
            <a:pPr indent="0" marL="0">
              <a:buNone/>
            </a:pPr>
            <a:r>
              <a:rPr lang="en-US" sz="1700" b="1" dirty="0">
                <a:solidFill>
                  <a:schemeClr val="tx1"/>
                </a:solidFill>
              </a:rPr>
              <a:t>1. Base de datos</a:t>
            </a:r>
            <a:endParaRPr lang="en-US" sz="1700" dirty="0"/>
          </a:p>
        </p:txBody>
      </p:sp>
      <p:sp>
        <p:nvSpPr>
          <p:cNvPr id="11" name="Text 8"/>
          <p:cNvSpPr txBox="1"/>
          <p:nvPr/>
        </p:nvSpPr>
        <p:spPr>
          <a:xfrm>
            <a:off x="822960" y="4526280"/>
            <a:ext cx="1578254" cy="1371600"/>
          </a:xfrm>
          <a:prstGeom prst="rect">
            <a:avLst/>
          </a:prstGeom>
          <a:noFill/>
          <a:ln/>
        </p:spPr>
        <p:txBody>
          <a:bodyPr wrap="square" lIns="0" tIns="0" rIns="0" bIns="0" rtlCol="0" anchor="t"/>
          <a:lstStyle/>
          <a:p>
            <a:pPr indent="0" marL="0">
              <a:buNone/>
            </a:pPr>
            <a:r>
              <a:rPr lang="en-US" sz="1400" dirty="0">
                <a:solidFill>
                  <a:schemeClr val="tx2"/>
                </a:solidFill>
              </a:rPr>
              <a:t>MySQL que impide por sí misma dos citas a la misma hora</a:t>
            </a:r>
            <a:endParaRPr lang="en-US" sz="1400" dirty="0"/>
          </a:p>
        </p:txBody>
      </p:sp>
      <p:sp>
        <p:nvSpPr>
          <p:cNvPr id="12" name="objetivo-2"/>
          <p:cNvSpPr/>
          <p:nvPr/>
        </p:nvSpPr>
        <p:spPr>
          <a:xfrm>
            <a:off x="2812694" y="3017520"/>
            <a:ext cx="2035454" cy="3063240"/>
          </a:xfrm>
          <a:prstGeom prst="roundRect">
            <a:avLst>
              <a:gd name="adj" fmla="val 5391"/>
            </a:avLst>
          </a:prstGeom>
          <a:solidFill>
            <a:schemeClr val="bg2"/>
          </a:solidFill>
          <a:ln/>
        </p:spPr>
      </p:sp>
      <p:sp>
        <p:nvSpPr>
          <p:cNvPr id="13" name="objetivo-2-circulo"/>
          <p:cNvSpPr/>
          <p:nvPr/>
        </p:nvSpPr>
        <p:spPr>
          <a:xfrm>
            <a:off x="3087014" y="3291840"/>
            <a:ext cx="640080" cy="640080"/>
          </a:xfrm>
          <a:prstGeom prst="ellipse">
            <a:avLst/>
          </a:prstGeom>
          <a:solidFill>
            <a:schemeClr val="accent1"/>
          </a:solidFill>
          <a:ln/>
        </p:spPr>
      </p:sp>
      <p:pic>
        <p:nvPicPr>
          <p:cNvPr id="14" name="objetivo-2-icono" descr="preencoded.png">    </p:cNvPr>
          <p:cNvPicPr>
            <a:picLocks noChangeAspect="1"/>
          </p:cNvPicPr>
          <p:nvPr/>
        </p:nvPicPr>
        <p:blipFill>
          <a:blip r:embed="rId2"/>
          <a:stretch>
            <a:fillRect/>
          </a:stretch>
        </p:blipFill>
        <p:spPr>
          <a:xfrm>
            <a:off x="3253435" y="3458261"/>
            <a:ext cx="307238" cy="307238"/>
          </a:xfrm>
          <a:prstGeom prst="rect">
            <a:avLst/>
          </a:prstGeom>
        </p:spPr>
      </p:pic>
      <p:sp>
        <p:nvSpPr>
          <p:cNvPr id="15" name="Text 11"/>
          <p:cNvSpPr txBox="1"/>
          <p:nvPr/>
        </p:nvSpPr>
        <p:spPr>
          <a:xfrm>
            <a:off x="3087014" y="4114800"/>
            <a:ext cx="1578254" cy="365760"/>
          </a:xfrm>
          <a:prstGeom prst="rect">
            <a:avLst/>
          </a:prstGeom>
          <a:noFill/>
          <a:ln/>
        </p:spPr>
        <p:txBody>
          <a:bodyPr wrap="square" lIns="0" tIns="0" rIns="0" bIns="0" rtlCol="0" anchor="t"/>
          <a:lstStyle/>
          <a:p>
            <a:pPr indent="0" marL="0">
              <a:buNone/>
            </a:pPr>
            <a:r>
              <a:rPr lang="en-US" sz="1700" b="1" dirty="0">
                <a:solidFill>
                  <a:schemeClr val="tx1"/>
                </a:solidFill>
              </a:rPr>
              <a:t>2. API REST</a:t>
            </a:r>
            <a:endParaRPr lang="en-US" sz="1700" dirty="0"/>
          </a:p>
        </p:txBody>
      </p:sp>
      <p:sp>
        <p:nvSpPr>
          <p:cNvPr id="16" name="Text 12"/>
          <p:cNvSpPr txBox="1"/>
          <p:nvPr/>
        </p:nvSpPr>
        <p:spPr>
          <a:xfrm>
            <a:off x="3087014" y="4526280"/>
            <a:ext cx="1578254" cy="1371600"/>
          </a:xfrm>
          <a:prstGeom prst="rect">
            <a:avLst/>
          </a:prstGeom>
          <a:noFill/>
          <a:ln/>
        </p:spPr>
        <p:txBody>
          <a:bodyPr wrap="square" lIns="0" tIns="0" rIns="0" bIns="0" rtlCol="0" anchor="t"/>
          <a:lstStyle/>
          <a:p>
            <a:pPr indent="0" marL="0">
              <a:buNone/>
            </a:pPr>
            <a:r>
              <a:rPr lang="en-US" sz="1400" dirty="0">
                <a:solidFill>
                  <a:schemeClr val="tx2"/>
                </a:solidFill>
              </a:rPr>
              <a:t>Java sin frameworks, con contraseñas protegidas, tokens y roles</a:t>
            </a:r>
            <a:endParaRPr lang="en-US" sz="1400" dirty="0"/>
          </a:p>
        </p:txBody>
      </p:sp>
      <p:sp>
        <p:nvSpPr>
          <p:cNvPr id="17" name="objetivo-3"/>
          <p:cNvSpPr/>
          <p:nvPr/>
        </p:nvSpPr>
        <p:spPr>
          <a:xfrm>
            <a:off x="5076749" y="3017520"/>
            <a:ext cx="2035454" cy="3063240"/>
          </a:xfrm>
          <a:prstGeom prst="roundRect">
            <a:avLst>
              <a:gd name="adj" fmla="val 5391"/>
            </a:avLst>
          </a:prstGeom>
          <a:solidFill>
            <a:schemeClr val="bg2"/>
          </a:solidFill>
          <a:ln/>
        </p:spPr>
      </p:sp>
      <p:sp>
        <p:nvSpPr>
          <p:cNvPr id="18" name="objetivo-3-circulo"/>
          <p:cNvSpPr/>
          <p:nvPr/>
        </p:nvSpPr>
        <p:spPr>
          <a:xfrm>
            <a:off x="5351069" y="3291840"/>
            <a:ext cx="640080" cy="640080"/>
          </a:xfrm>
          <a:prstGeom prst="ellipse">
            <a:avLst/>
          </a:prstGeom>
          <a:solidFill>
            <a:schemeClr val="accent1"/>
          </a:solidFill>
          <a:ln/>
        </p:spPr>
      </p:sp>
      <p:pic>
        <p:nvPicPr>
          <p:cNvPr id="19" name="objetivo-3-icono" descr="preencoded.png">    </p:cNvPr>
          <p:cNvPicPr>
            <a:picLocks noChangeAspect="1"/>
          </p:cNvPicPr>
          <p:nvPr/>
        </p:nvPicPr>
        <p:blipFill>
          <a:blip r:embed="rId3"/>
          <a:stretch>
            <a:fillRect/>
          </a:stretch>
        </p:blipFill>
        <p:spPr>
          <a:xfrm>
            <a:off x="5517490" y="3458261"/>
            <a:ext cx="307238" cy="307238"/>
          </a:xfrm>
          <a:prstGeom prst="rect">
            <a:avLst/>
          </a:prstGeom>
        </p:spPr>
      </p:pic>
      <p:sp>
        <p:nvSpPr>
          <p:cNvPr id="20" name="Text 15"/>
          <p:cNvSpPr txBox="1"/>
          <p:nvPr/>
        </p:nvSpPr>
        <p:spPr>
          <a:xfrm>
            <a:off x="5351069" y="4114800"/>
            <a:ext cx="1578254" cy="365760"/>
          </a:xfrm>
          <a:prstGeom prst="rect">
            <a:avLst/>
          </a:prstGeom>
          <a:noFill/>
          <a:ln/>
        </p:spPr>
        <p:txBody>
          <a:bodyPr wrap="square" lIns="0" tIns="0" rIns="0" bIns="0" rtlCol="0" anchor="t"/>
          <a:lstStyle/>
          <a:p>
            <a:pPr indent="0" marL="0">
              <a:buNone/>
            </a:pPr>
            <a:r>
              <a:rPr lang="en-US" sz="1700" b="1" dirty="0">
                <a:solidFill>
                  <a:schemeClr val="tx1"/>
                </a:solidFill>
              </a:rPr>
              <a:t>3. Cupo seguro</a:t>
            </a:r>
            <a:endParaRPr lang="en-US" sz="1700" dirty="0"/>
          </a:p>
        </p:txBody>
      </p:sp>
      <p:sp>
        <p:nvSpPr>
          <p:cNvPr id="21" name="Text 16"/>
          <p:cNvSpPr txBox="1"/>
          <p:nvPr/>
        </p:nvSpPr>
        <p:spPr>
          <a:xfrm>
            <a:off x="5351069" y="4526280"/>
            <a:ext cx="1578254" cy="1371600"/>
          </a:xfrm>
          <a:prstGeom prst="rect">
            <a:avLst/>
          </a:prstGeom>
          <a:noFill/>
          <a:ln/>
        </p:spPr>
        <p:txBody>
          <a:bodyPr wrap="square" lIns="0" tIns="0" rIns="0" bIns="0" rtlCol="0" anchor="t"/>
          <a:lstStyle/>
          <a:p>
            <a:pPr indent="0" marL="0">
              <a:buNone/>
            </a:pPr>
            <a:r>
              <a:rPr lang="en-US" sz="1400" dirty="0">
                <a:solidFill>
                  <a:schemeClr val="tx2"/>
                </a:solidFill>
              </a:rPr>
              <a:t>Se respeta aunque varios clientes pidan a la vez, y una prueba con hilos lo demuestra</a:t>
            </a:r>
            <a:endParaRPr lang="en-US" sz="1400" dirty="0"/>
          </a:p>
        </p:txBody>
      </p:sp>
      <p:sp>
        <p:nvSpPr>
          <p:cNvPr id="22" name="objetivo-4"/>
          <p:cNvSpPr/>
          <p:nvPr/>
        </p:nvSpPr>
        <p:spPr>
          <a:xfrm>
            <a:off x="7340803" y="3017520"/>
            <a:ext cx="2035454" cy="3063240"/>
          </a:xfrm>
          <a:prstGeom prst="roundRect">
            <a:avLst>
              <a:gd name="adj" fmla="val 5391"/>
            </a:avLst>
          </a:prstGeom>
          <a:solidFill>
            <a:schemeClr val="bg2"/>
          </a:solidFill>
          <a:ln/>
        </p:spPr>
      </p:sp>
      <p:sp>
        <p:nvSpPr>
          <p:cNvPr id="23" name="objetivo-4-circulo"/>
          <p:cNvSpPr/>
          <p:nvPr/>
        </p:nvSpPr>
        <p:spPr>
          <a:xfrm>
            <a:off x="7615123" y="3291840"/>
            <a:ext cx="640080" cy="640080"/>
          </a:xfrm>
          <a:prstGeom prst="ellipse">
            <a:avLst/>
          </a:prstGeom>
          <a:solidFill>
            <a:schemeClr val="accent1"/>
          </a:solidFill>
          <a:ln/>
        </p:spPr>
      </p:sp>
      <p:pic>
        <p:nvPicPr>
          <p:cNvPr id="24" name="objetivo-4-icono" descr="preencoded.png">    </p:cNvPr>
          <p:cNvPicPr>
            <a:picLocks noChangeAspect="1"/>
          </p:cNvPicPr>
          <p:nvPr/>
        </p:nvPicPr>
        <p:blipFill>
          <a:blip r:embed="rId4"/>
          <a:stretch>
            <a:fillRect/>
          </a:stretch>
        </p:blipFill>
        <p:spPr>
          <a:xfrm>
            <a:off x="7781544" y="3458261"/>
            <a:ext cx="307238" cy="307238"/>
          </a:xfrm>
          <a:prstGeom prst="rect">
            <a:avLst/>
          </a:prstGeom>
        </p:spPr>
      </p:pic>
      <p:sp>
        <p:nvSpPr>
          <p:cNvPr id="25" name="Text 19"/>
          <p:cNvSpPr txBox="1"/>
          <p:nvPr/>
        </p:nvSpPr>
        <p:spPr>
          <a:xfrm>
            <a:off x="7615123" y="4114800"/>
            <a:ext cx="1578254" cy="365760"/>
          </a:xfrm>
          <a:prstGeom prst="rect">
            <a:avLst/>
          </a:prstGeom>
          <a:noFill/>
          <a:ln/>
        </p:spPr>
        <p:txBody>
          <a:bodyPr wrap="square" lIns="0" tIns="0" rIns="0" bIns="0" rtlCol="0" anchor="t"/>
          <a:lstStyle/>
          <a:p>
            <a:pPr indent="0" marL="0">
              <a:buNone/>
            </a:pPr>
            <a:r>
              <a:rPr lang="en-US" sz="1700" b="1" dirty="0">
                <a:solidFill>
                  <a:schemeClr val="tx1"/>
                </a:solidFill>
              </a:rPr>
              <a:t>4. App Android</a:t>
            </a:r>
            <a:endParaRPr lang="en-US" sz="1700" dirty="0"/>
          </a:p>
        </p:txBody>
      </p:sp>
      <p:sp>
        <p:nvSpPr>
          <p:cNvPr id="26" name="Text 20"/>
          <p:cNvSpPr txBox="1"/>
          <p:nvPr/>
        </p:nvSpPr>
        <p:spPr>
          <a:xfrm>
            <a:off x="7615123" y="4526280"/>
            <a:ext cx="1578254" cy="1371600"/>
          </a:xfrm>
          <a:prstGeom prst="rect">
            <a:avLst/>
          </a:prstGeom>
          <a:noFill/>
          <a:ln/>
        </p:spPr>
        <p:txBody>
          <a:bodyPr wrap="square" lIns="0" tIns="0" rIns="0" bIns="0" rtlCol="0" anchor="t"/>
          <a:lstStyle/>
          <a:p>
            <a:pPr indent="0" marL="0">
              <a:buNone/>
            </a:pPr>
            <a:r>
              <a:rPr lang="en-US" sz="1400" dirty="0">
                <a:solidFill>
                  <a:schemeClr val="tx2"/>
                </a:solidFill>
              </a:rPr>
              <a:t>MVVM, siete pantallas y la red fuera del hilo principal</a:t>
            </a:r>
            <a:endParaRPr lang="en-US" sz="1400" dirty="0"/>
          </a:p>
        </p:txBody>
      </p:sp>
      <p:sp>
        <p:nvSpPr>
          <p:cNvPr id="27" name="objetivo-5"/>
          <p:cNvSpPr/>
          <p:nvPr/>
        </p:nvSpPr>
        <p:spPr>
          <a:xfrm>
            <a:off x="9604858" y="3017520"/>
            <a:ext cx="2035454" cy="3063240"/>
          </a:xfrm>
          <a:prstGeom prst="roundRect">
            <a:avLst>
              <a:gd name="adj" fmla="val 5391"/>
            </a:avLst>
          </a:prstGeom>
          <a:solidFill>
            <a:schemeClr val="bg2"/>
          </a:solidFill>
          <a:ln/>
        </p:spPr>
      </p:sp>
      <p:sp>
        <p:nvSpPr>
          <p:cNvPr id="28" name="objetivo-5-circulo"/>
          <p:cNvSpPr/>
          <p:nvPr/>
        </p:nvSpPr>
        <p:spPr>
          <a:xfrm>
            <a:off x="9879178" y="3291840"/>
            <a:ext cx="640080" cy="640080"/>
          </a:xfrm>
          <a:prstGeom prst="ellipse">
            <a:avLst/>
          </a:prstGeom>
          <a:solidFill>
            <a:schemeClr val="accent1"/>
          </a:solidFill>
          <a:ln/>
        </p:spPr>
      </p:sp>
      <p:pic>
        <p:nvPicPr>
          <p:cNvPr id="29" name="objetivo-5-icono" descr="preencoded.png">    </p:cNvPr>
          <p:cNvPicPr>
            <a:picLocks noChangeAspect="1"/>
          </p:cNvPicPr>
          <p:nvPr/>
        </p:nvPicPr>
        <p:blipFill>
          <a:blip r:embed="rId5"/>
          <a:stretch>
            <a:fillRect/>
          </a:stretch>
        </p:blipFill>
        <p:spPr>
          <a:xfrm>
            <a:off x="10045598" y="3458261"/>
            <a:ext cx="307238" cy="307238"/>
          </a:xfrm>
          <a:prstGeom prst="rect">
            <a:avLst/>
          </a:prstGeom>
        </p:spPr>
      </p:pic>
      <p:sp>
        <p:nvSpPr>
          <p:cNvPr id="30" name="Text 23"/>
          <p:cNvSpPr txBox="1"/>
          <p:nvPr/>
        </p:nvSpPr>
        <p:spPr>
          <a:xfrm>
            <a:off x="9879178" y="4114800"/>
            <a:ext cx="1578254" cy="365760"/>
          </a:xfrm>
          <a:prstGeom prst="rect">
            <a:avLst/>
          </a:prstGeom>
          <a:noFill/>
          <a:ln/>
        </p:spPr>
        <p:txBody>
          <a:bodyPr wrap="square" lIns="0" tIns="0" rIns="0" bIns="0" rtlCol="0" anchor="t"/>
          <a:lstStyle/>
          <a:p>
            <a:pPr indent="0" marL="0">
              <a:buNone/>
            </a:pPr>
            <a:r>
              <a:rPr lang="en-US" sz="1700" b="1" dirty="0">
                <a:solidFill>
                  <a:schemeClr val="tx1"/>
                </a:solidFill>
              </a:rPr>
              <a:t>5. Pruebas</a:t>
            </a:r>
            <a:endParaRPr lang="en-US" sz="1700" dirty="0"/>
          </a:p>
        </p:txBody>
      </p:sp>
      <p:sp>
        <p:nvSpPr>
          <p:cNvPr id="31" name="Text 24"/>
          <p:cNvSpPr txBox="1"/>
          <p:nvPr/>
        </p:nvSpPr>
        <p:spPr>
          <a:xfrm>
            <a:off x="9879178" y="4526280"/>
            <a:ext cx="1578254" cy="1371600"/>
          </a:xfrm>
          <a:prstGeom prst="rect">
            <a:avLst/>
          </a:prstGeom>
          <a:noFill/>
          <a:ln/>
        </p:spPr>
        <p:txBody>
          <a:bodyPr wrap="square" lIns="0" tIns="0" rIns="0" bIns="0" rtlCol="0" anchor="t"/>
          <a:lstStyle/>
          <a:p>
            <a:pPr indent="0" marL="0">
              <a:buNone/>
            </a:pPr>
            <a:r>
              <a:rPr lang="en-US" sz="1400" dirty="0">
                <a:solidFill>
                  <a:schemeClr val="tx2"/>
                </a:solidFill>
              </a:rPr>
              <a:t>Unitarias, de integración y un recorrido completo en el emulador</a:t>
            </a:r>
            <a:endParaRPr lang="en-US" sz="1400" dirty="0"/>
          </a:p>
        </p:txBody>
      </p:sp>
      <p:sp>
        <p:nvSpPr>
          <p:cNvPr id="25" name="Slide Number Placeholder 0"/>
          <p:cNvSpPr>
            <a:spLocks noGrp="1"/>
          </p:cNvSpPr>
          <p:nvPr>
            <p:ph type="sldNum" sz="quarter" idx="4294967295"/>
          </p:nvPr>
        </p:nvSpPr>
        <p:spPr>
          <a:xfrm>
            <a:off x="11064240"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11064240" cy="320040"/>
          </a:xfrm>
          <a:prstGeom prst="rect">
            <a:avLst/>
          </a:prstGeom>
          <a:noFill/>
          <a:ln/>
        </p:spPr>
        <p:txBody>
          <a:bodyPr wrap="square" lIns="0" tIns="0" rIns="0" bIns="0" rtlCol="0" anchor="t"/>
          <a:lstStyle/>
          <a:p>
            <a:pPr indent="0" marL="0">
              <a:buNone/>
            </a:pPr>
            <a:r>
              <a:rPr lang="en-US" sz="1300" b="1" spc="300" kern="0" dirty="0">
                <a:solidFill>
                  <a:schemeClr val="accent1"/>
                </a:solidFill>
              </a:rPr>
              <a:t>5.1 · MOCKUPS</a:t>
            </a:r>
            <a:endParaRPr lang="en-US" sz="1300" dirty="0"/>
          </a:p>
        </p:txBody>
      </p:sp>
      <p:sp>
        <p:nvSpPr>
          <p:cNvPr id="3" name="Text 0"/>
          <p:cNvSpPr/>
          <p:nvPr>
            <p:ph idx="101" type="title" hasCustomPrompt="1"/>
          </p:nvPr>
        </p:nvSpPr>
        <p:spPr>
          <a:xfrm>
            <a:off x="548640" y="713232"/>
            <a:ext cx="11064240" cy="777240"/>
          </a:xfrm>
          <a:prstGeom prst="rect">
            <a:avLst/>
          </a:prstGeom>
          <a:noFill/>
          <a:ln/>
        </p:spPr>
        <p:txBody>
          <a:bodyPr wrap="square" lIns="0" tIns="0" rIns="0" bIns="0" rtlCol="0" anchor="t"/>
          <a:lstStyle/>
          <a:p>
            <a:pPr algn="l" indent="0" marL="0">
              <a:buNone/>
            </a:pPr>
            <a:r>
              <a:rPr lang="en-US" sz="3600" dirty="0">
                <a:solidFill>
                  <a:schemeClr val="tx1"/>
                </a:solidFill>
              </a:rPr>
              <a:t>DEL MOCKUP A LA PANTALLA REAL</a:t>
            </a:r>
            <a:endParaRPr lang="en-US" sz="3600" dirty="0"/>
          </a:p>
        </p:txBody>
      </p:sp>
      <p:sp>
        <p:nvSpPr>
          <p:cNvPr id="4" name="mockup-c2-marco"/>
          <p:cNvSpPr/>
          <p:nvPr/>
        </p:nvSpPr>
        <p:spPr>
          <a:xfrm>
            <a:off x="822960" y="1691640"/>
            <a:ext cx="2114455" cy="4059936"/>
          </a:xfrm>
          <a:prstGeom prst="roundRect">
            <a:avLst>
              <a:gd name="adj" fmla="val 6919"/>
            </a:avLst>
          </a:prstGeom>
          <a:solidFill>
            <a:srgbClr val="1E1E21"/>
          </a:solidFill>
          <a:ln/>
          <a:effectLst>
            <a:outerShdw sx="100000" sy="100000" kx="0" ky="0" algn="bl" rotWithShape="0" blurRad="127000" dist="50800" dir="5400000">
              <a:srgbClr val="000000">
                <a:alpha val="25000"/>
              </a:srgbClr>
            </a:outerShdw>
          </a:effectLst>
        </p:spPr>
      </p:sp>
      <p:pic>
        <p:nvPicPr>
          <p:cNvPr id="5" name="mockup-c2-imagen" descr="C:\Dev\clandestino-tfg\docs\mockups\C2-pedir-cita.png">    </p:cNvPr>
          <p:cNvPicPr>
            <a:picLocks noChangeAspect="1"/>
          </p:cNvPicPr>
          <p:nvPr/>
        </p:nvPicPr>
        <p:blipFill>
          <a:blip r:embed="rId1"/>
          <a:stretch>
            <a:fillRect/>
          </a:stretch>
        </p:blipFill>
        <p:spPr>
          <a:xfrm>
            <a:off x="886968" y="1755648"/>
            <a:ext cx="1986439" cy="3931920"/>
          </a:xfrm>
          <a:prstGeom prst="rect">
            <a:avLst/>
          </a:prstGeom>
        </p:spPr>
      </p:pic>
      <p:pic>
        <p:nvPicPr>
          <p:cNvPr id="6" name="flecha-mockup" descr="preencoded.png">    </p:cNvPr>
          <p:cNvPicPr>
            <a:picLocks noChangeAspect="1"/>
          </p:cNvPicPr>
          <p:nvPr/>
        </p:nvPicPr>
        <p:blipFill>
          <a:blip r:embed="rId2"/>
          <a:stretch>
            <a:fillRect/>
          </a:stretch>
        </p:blipFill>
        <p:spPr>
          <a:xfrm>
            <a:off x="3154680" y="3520440"/>
            <a:ext cx="457200" cy="457200"/>
          </a:xfrm>
          <a:prstGeom prst="rect">
            <a:avLst/>
          </a:prstGeom>
        </p:spPr>
      </p:pic>
      <p:sp>
        <p:nvSpPr>
          <p:cNvPr id="7" name="captura-c2-marco"/>
          <p:cNvSpPr/>
          <p:nvPr/>
        </p:nvSpPr>
        <p:spPr>
          <a:xfrm>
            <a:off x="3840480" y="1691640"/>
            <a:ext cx="1897380" cy="4059936"/>
          </a:xfrm>
          <a:prstGeom prst="roundRect">
            <a:avLst>
              <a:gd name="adj" fmla="val 7711"/>
            </a:avLst>
          </a:prstGeom>
          <a:solidFill>
            <a:srgbClr val="1E1E21"/>
          </a:solidFill>
          <a:ln/>
          <a:effectLst>
            <a:outerShdw sx="100000" sy="100000" kx="0" ky="0" algn="bl" rotWithShape="0" blurRad="127000" dist="50800" dir="5400000">
              <a:srgbClr val="000000">
                <a:alpha val="25000"/>
              </a:srgbClr>
            </a:outerShdw>
          </a:effectLst>
        </p:spPr>
      </p:sp>
      <p:pic>
        <p:nvPicPr>
          <p:cNvPr id="8" name="captura-c2-imagen" descr="C:\Dev\clandestino-tfg\docs\capturas\C2-pedir-cita.png">    </p:cNvPr>
          <p:cNvPicPr>
            <a:picLocks noChangeAspect="1"/>
          </p:cNvPicPr>
          <p:nvPr/>
        </p:nvPicPr>
        <p:blipFill>
          <a:blip r:embed="rId3"/>
          <a:stretch>
            <a:fillRect/>
          </a:stretch>
        </p:blipFill>
        <p:spPr>
          <a:xfrm>
            <a:off x="3904488" y="1755648"/>
            <a:ext cx="1769364" cy="3931920"/>
          </a:xfrm>
          <a:prstGeom prst="rect">
            <a:avLst/>
          </a:prstGeom>
        </p:spPr>
      </p:pic>
      <p:sp>
        <p:nvSpPr>
          <p:cNvPr id="9" name="Text 4"/>
          <p:cNvSpPr txBox="1"/>
          <p:nvPr/>
        </p:nvSpPr>
        <p:spPr>
          <a:xfrm>
            <a:off x="822960" y="5806440"/>
            <a:ext cx="2112264" cy="320040"/>
          </a:xfrm>
          <a:prstGeom prst="rect">
            <a:avLst/>
          </a:prstGeom>
          <a:noFill/>
          <a:ln/>
        </p:spPr>
        <p:txBody>
          <a:bodyPr wrap="square" lIns="0" tIns="0" rIns="0" bIns="0" rtlCol="0" anchor="t"/>
          <a:lstStyle/>
          <a:p>
            <a:pPr algn="ctr" indent="0" marL="0">
              <a:buNone/>
            </a:pPr>
            <a:r>
              <a:rPr lang="en-US" sz="1300" dirty="0">
                <a:solidFill>
                  <a:schemeClr val="tx2"/>
                </a:solidFill>
              </a:rPr>
              <a:t>Mockup en draw.io</a:t>
            </a:r>
            <a:endParaRPr lang="en-US" sz="1300" dirty="0"/>
          </a:p>
        </p:txBody>
      </p:sp>
      <p:sp>
        <p:nvSpPr>
          <p:cNvPr id="10" name="Text 5"/>
          <p:cNvSpPr txBox="1"/>
          <p:nvPr/>
        </p:nvSpPr>
        <p:spPr>
          <a:xfrm>
            <a:off x="3840480" y="5806440"/>
            <a:ext cx="1901952" cy="320040"/>
          </a:xfrm>
          <a:prstGeom prst="rect">
            <a:avLst/>
          </a:prstGeom>
          <a:noFill/>
          <a:ln/>
        </p:spPr>
        <p:txBody>
          <a:bodyPr wrap="square" lIns="0" tIns="0" rIns="0" bIns="0" rtlCol="0" anchor="t"/>
          <a:lstStyle/>
          <a:p>
            <a:pPr algn="ctr" indent="0" marL="0">
              <a:buNone/>
            </a:pPr>
            <a:r>
              <a:rPr lang="en-US" sz="1300" dirty="0">
                <a:solidFill>
                  <a:schemeClr val="tx2"/>
                </a:solidFill>
              </a:rPr>
              <a:t>App en el emulador</a:t>
            </a:r>
            <a:endParaRPr lang="en-US" sz="1300" dirty="0"/>
          </a:p>
        </p:txBody>
      </p:sp>
      <p:sp>
        <p:nvSpPr>
          <p:cNvPr id="11" name="Text 6"/>
          <p:cNvSpPr txBox="1"/>
          <p:nvPr/>
        </p:nvSpPr>
        <p:spPr>
          <a:xfrm>
            <a:off x="6400800" y="1691640"/>
            <a:ext cx="1188720" cy="914400"/>
          </a:xfrm>
          <a:prstGeom prst="rect">
            <a:avLst/>
          </a:prstGeom>
          <a:noFill/>
          <a:ln/>
        </p:spPr>
        <p:txBody>
          <a:bodyPr wrap="square" lIns="0" tIns="0" rIns="0" bIns="0" rtlCol="0" anchor="t"/>
          <a:lstStyle/>
          <a:p>
            <a:pPr indent="0" marL="0">
              <a:buNone/>
            </a:pPr>
            <a:r>
              <a:rPr lang="en-US" sz="6000" dirty="0">
                <a:solidFill>
                  <a:schemeClr val="accent1"/>
                </a:solidFill>
                <a:latin typeface="+mj-lt" pitchFamily="34" charset="0"/>
                <a:ea typeface="+mj-lt" pitchFamily="34" charset="-122"/>
                <a:cs typeface="+mj-lt" pitchFamily="34" charset="-120"/>
              </a:rPr>
              <a:t>11</a:t>
            </a:r>
            <a:endParaRPr lang="en-US" sz="6000" dirty="0"/>
          </a:p>
        </p:txBody>
      </p:sp>
      <p:sp>
        <p:nvSpPr>
          <p:cNvPr id="12" name="Text 7"/>
          <p:cNvSpPr txBox="1"/>
          <p:nvPr/>
        </p:nvSpPr>
        <p:spPr>
          <a:xfrm>
            <a:off x="7589520" y="1828800"/>
            <a:ext cx="4023360" cy="731520"/>
          </a:xfrm>
          <a:prstGeom prst="rect">
            <a:avLst/>
          </a:prstGeom>
          <a:noFill/>
          <a:ln/>
        </p:spPr>
        <p:txBody>
          <a:bodyPr wrap="square" lIns="0" tIns="0" rIns="0" bIns="0" rtlCol="0" anchor="ctr"/>
          <a:lstStyle/>
          <a:p>
            <a:pPr indent="0" marL="0">
              <a:buNone/>
            </a:pPr>
            <a:r>
              <a:rPr lang="en-US" sz="1600" dirty="0">
                <a:solidFill>
                  <a:schemeClr val="tx1"/>
                </a:solidFill>
              </a:rPr>
              <a:t>mockups dibujados antes de escribir ningún layout, uno por pantalla y variante</a:t>
            </a:r>
            <a:endParaRPr lang="en-US" sz="1600" dirty="0"/>
          </a:p>
        </p:txBody>
      </p:sp>
      <p:sp>
        <p:nvSpPr>
          <p:cNvPr id="13" name="Text 8"/>
          <p:cNvSpPr txBox="1"/>
          <p:nvPr/>
        </p:nvSpPr>
        <p:spPr>
          <a:xfrm>
            <a:off x="6400800" y="2926080"/>
            <a:ext cx="5212080" cy="3017520"/>
          </a:xfrm>
          <a:prstGeom prst="rect">
            <a:avLst/>
          </a:prstGeom>
          <a:noFill/>
          <a:ln/>
        </p:spPr>
        <p:txBody>
          <a:bodyPr wrap="square" lIns="0" tIns="0" rIns="0" bIns="0" rtlCol="0" anchor="t"/>
          <a:lstStyle/>
          <a:p>
            <a:pPr marL="203200" indent="-203200">
              <a:spcAft>
                <a:spcPts val="800"/>
              </a:spcAft>
              <a:buSzPct val="100000"/>
              <a:buChar char="•"/>
            </a:pPr>
            <a:r>
              <a:rPr lang="en-US" sz="1600" dirty="0">
                <a:solidFill>
                  <a:schemeClr val="tx1"/>
                </a:solidFill>
              </a:rPr>
              <a:t>Identidad de la barbería: rojo de la marca para la acción principal y Anton en los títulos</a:t>
            </a:r>
            <a:endParaRPr lang="en-US" sz="1600" dirty="0"/>
          </a:p>
          <a:p>
            <a:pPr marL="203200" indent="-203200">
              <a:spcAft>
                <a:spcPts val="800"/>
              </a:spcAft>
              <a:buSzPct val="100000"/>
              <a:buChar char="•"/>
            </a:pPr>
            <a:r>
              <a:rPr lang="en-US" sz="1600" dirty="0">
                <a:solidFill>
                  <a:schemeClr val="tx1"/>
                </a:solidFill>
              </a:rPr>
              <a:t>Componentes de Material 3, con zonas táctiles de 48 dp y tema claro y oscuro</a:t>
            </a:r>
            <a:endParaRPr lang="en-US" sz="1600" dirty="0"/>
          </a:p>
          <a:p>
            <a:pPr marL="203200" indent="-203200">
              <a:spcAft>
                <a:spcPts val="800"/>
              </a:spcAft>
              <a:buSzPct val="100000"/>
              <a:buChar char="•"/>
            </a:pPr>
            <a:r>
              <a:rPr lang="en-US" sz="1600" dirty="0">
                <a:solidFill>
                  <a:schemeClr val="tx1"/>
                </a:solidFill>
              </a:rPr>
              <a:t>Al construirla, el calendario se quedó en las dos semanas reservables, sin flechas</a:t>
            </a:r>
            <a:endParaRPr lang="en-US" sz="1600" dirty="0"/>
          </a:p>
          <a:p>
            <a:pPr marL="203200" indent="-203200">
              <a:spcAft>
                <a:spcPts val="800"/>
              </a:spcAft>
              <a:buSzPct val="100000"/>
              <a:buChar char="•"/>
            </a:pPr>
            <a:r>
              <a:rPr lang="en-US" sz="1600" dirty="0">
                <a:solidFill>
                  <a:schemeClr val="tx1"/>
                </a:solidFill>
              </a:rPr>
              <a:t>La agenda del barbero se quedó en vista semanal</a:t>
            </a:r>
            <a:endParaRPr lang="en-US" sz="1600" dirty="0"/>
          </a:p>
        </p:txBody>
      </p:sp>
      <p:sp>
        <p:nvSpPr>
          <p:cNvPr id="25" name="Slide Number Placeholder 0"/>
          <p:cNvSpPr>
            <a:spLocks noGrp="1"/>
          </p:cNvSpPr>
          <p:nvPr>
            <p:ph type="sldNum" sz="quarter" idx="4294967295"/>
          </p:nvPr>
        </p:nvSpPr>
        <p:spPr>
          <a:xfrm>
            <a:off x="11064240"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11064240" cy="320040"/>
          </a:xfrm>
          <a:prstGeom prst="rect">
            <a:avLst/>
          </a:prstGeom>
          <a:noFill/>
          <a:ln/>
        </p:spPr>
        <p:txBody>
          <a:bodyPr wrap="square" lIns="0" tIns="0" rIns="0" bIns="0" rtlCol="0" anchor="t"/>
          <a:lstStyle/>
          <a:p>
            <a:pPr indent="0" marL="0">
              <a:buNone/>
            </a:pPr>
            <a:r>
              <a:rPr lang="en-US" sz="1300" b="1" spc="300" kern="0" dirty="0">
                <a:solidFill>
                  <a:schemeClr val="accent1"/>
                </a:solidFill>
              </a:rPr>
              <a:t>5.2 · MODELO DE DATOS</a:t>
            </a:r>
            <a:endParaRPr lang="en-US" sz="1300" dirty="0"/>
          </a:p>
        </p:txBody>
      </p:sp>
      <p:sp>
        <p:nvSpPr>
          <p:cNvPr id="3" name="Text 0"/>
          <p:cNvSpPr/>
          <p:nvPr>
            <p:ph idx="101" type="title" hasCustomPrompt="1"/>
          </p:nvPr>
        </p:nvSpPr>
        <p:spPr>
          <a:xfrm>
            <a:off x="548640" y="713232"/>
            <a:ext cx="11064240" cy="777240"/>
          </a:xfrm>
          <a:prstGeom prst="rect">
            <a:avLst/>
          </a:prstGeom>
          <a:noFill/>
          <a:ln/>
        </p:spPr>
        <p:txBody>
          <a:bodyPr wrap="square" lIns="0" tIns="0" rIns="0" bIns="0" rtlCol="0" anchor="t"/>
          <a:lstStyle/>
          <a:p>
            <a:pPr algn="l" indent="0" marL="0">
              <a:buNone/>
            </a:pPr>
            <a:r>
              <a:rPr lang="en-US" sz="3600" dirty="0">
                <a:solidFill>
                  <a:schemeClr val="tx1"/>
                </a:solidFill>
              </a:rPr>
              <a:t>CINCO TABLAS CONTRA LA DOBLE RESERVA</a:t>
            </a:r>
            <a:endParaRPr lang="en-US" sz="3600" dirty="0"/>
          </a:p>
        </p:txBody>
      </p:sp>
      <p:pic>
        <p:nvPicPr>
          <p:cNvPr id="4" name="diagrama-er" descr="C:\Dev\clandestino-tfg\docs\diagramas\02-er.png">    </p:cNvPr>
          <p:cNvPicPr>
            <a:picLocks noChangeAspect="1"/>
          </p:cNvPicPr>
          <p:nvPr/>
        </p:nvPicPr>
        <p:blipFill>
          <a:blip r:embed="rId1"/>
          <a:stretch>
            <a:fillRect/>
          </a:stretch>
        </p:blipFill>
        <p:spPr>
          <a:xfrm>
            <a:off x="548640" y="1645920"/>
            <a:ext cx="3209953" cy="4480560"/>
          </a:xfrm>
          <a:prstGeom prst="rect">
            <a:avLst/>
          </a:prstGeom>
        </p:spPr>
      </p:pic>
      <p:sp>
        <p:nvSpPr>
          <p:cNvPr id="5" name="chip-usuarios"/>
          <p:cNvSpPr/>
          <p:nvPr/>
        </p:nvSpPr>
        <p:spPr>
          <a:xfrm>
            <a:off x="4206240" y="1691640"/>
            <a:ext cx="1143000" cy="384048"/>
          </a:xfrm>
          <a:prstGeom prst="roundRect">
            <a:avLst>
              <a:gd name="adj" fmla="val 50000"/>
            </a:avLst>
          </a:prstGeom>
          <a:solidFill>
            <a:schemeClr val="bg2"/>
          </a:solidFill>
          <a:ln/>
        </p:spPr>
      </p:sp>
      <p:sp>
        <p:nvSpPr>
          <p:cNvPr id="6" name="Text 3"/>
          <p:cNvSpPr txBox="1"/>
          <p:nvPr/>
        </p:nvSpPr>
        <p:spPr>
          <a:xfrm>
            <a:off x="4206240" y="1691640"/>
            <a:ext cx="1143000" cy="384048"/>
          </a:xfrm>
          <a:prstGeom prst="rect">
            <a:avLst/>
          </a:prstGeom>
          <a:noFill/>
          <a:ln/>
        </p:spPr>
        <p:txBody>
          <a:bodyPr wrap="square" lIns="0" tIns="0" rIns="0" bIns="0" rtlCol="0" anchor="ctr"/>
          <a:lstStyle/>
          <a:p>
            <a:pPr algn="ctr" indent="0" marL="0">
              <a:buNone/>
            </a:pPr>
            <a:r>
              <a:rPr lang="en-US" sz="1300" b="1" dirty="0">
                <a:solidFill>
                  <a:schemeClr val="tx1"/>
                </a:solidFill>
                <a:latin typeface="Courier New" pitchFamily="34" charset="0"/>
                <a:ea typeface="Courier New" pitchFamily="34" charset="-122"/>
                <a:cs typeface="Courier New" pitchFamily="34" charset="-120"/>
              </a:rPr>
              <a:t>usuarios</a:t>
            </a:r>
            <a:endParaRPr lang="en-US" sz="1300" dirty="0"/>
          </a:p>
        </p:txBody>
      </p:sp>
      <p:sp>
        <p:nvSpPr>
          <p:cNvPr id="7" name="chip-invitaciones"/>
          <p:cNvSpPr/>
          <p:nvPr/>
        </p:nvSpPr>
        <p:spPr>
          <a:xfrm>
            <a:off x="5486400" y="1691640"/>
            <a:ext cx="1371600" cy="384048"/>
          </a:xfrm>
          <a:prstGeom prst="roundRect">
            <a:avLst>
              <a:gd name="adj" fmla="val 50000"/>
            </a:avLst>
          </a:prstGeom>
          <a:solidFill>
            <a:schemeClr val="bg2"/>
          </a:solidFill>
          <a:ln/>
        </p:spPr>
      </p:sp>
      <p:sp>
        <p:nvSpPr>
          <p:cNvPr id="8" name="Text 5"/>
          <p:cNvSpPr txBox="1"/>
          <p:nvPr/>
        </p:nvSpPr>
        <p:spPr>
          <a:xfrm>
            <a:off x="5486400" y="1691640"/>
            <a:ext cx="1371600" cy="384048"/>
          </a:xfrm>
          <a:prstGeom prst="rect">
            <a:avLst/>
          </a:prstGeom>
          <a:noFill/>
          <a:ln/>
        </p:spPr>
        <p:txBody>
          <a:bodyPr wrap="square" lIns="0" tIns="0" rIns="0" bIns="0" rtlCol="0" anchor="ctr"/>
          <a:lstStyle/>
          <a:p>
            <a:pPr algn="ctr" indent="0" marL="0">
              <a:buNone/>
            </a:pPr>
            <a:r>
              <a:rPr lang="en-US" sz="1300" b="1" dirty="0">
                <a:solidFill>
                  <a:schemeClr val="tx1"/>
                </a:solidFill>
                <a:latin typeface="Courier New" pitchFamily="34" charset="0"/>
                <a:ea typeface="Courier New" pitchFamily="34" charset="-122"/>
                <a:cs typeface="Courier New" pitchFamily="34" charset="-120"/>
              </a:rPr>
              <a:t>invitaciones</a:t>
            </a:r>
            <a:endParaRPr lang="en-US" sz="1300" dirty="0"/>
          </a:p>
        </p:txBody>
      </p:sp>
      <p:sp>
        <p:nvSpPr>
          <p:cNvPr id="9" name="chip-horarios_semanales"/>
          <p:cNvSpPr/>
          <p:nvPr/>
        </p:nvSpPr>
        <p:spPr>
          <a:xfrm>
            <a:off x="6995160" y="1691640"/>
            <a:ext cx="1874520" cy="384048"/>
          </a:xfrm>
          <a:prstGeom prst="roundRect">
            <a:avLst>
              <a:gd name="adj" fmla="val 50000"/>
            </a:avLst>
          </a:prstGeom>
          <a:solidFill>
            <a:schemeClr val="bg2"/>
          </a:solidFill>
          <a:ln/>
        </p:spPr>
      </p:sp>
      <p:sp>
        <p:nvSpPr>
          <p:cNvPr id="10" name="Text 7"/>
          <p:cNvSpPr txBox="1"/>
          <p:nvPr/>
        </p:nvSpPr>
        <p:spPr>
          <a:xfrm>
            <a:off x="6995160" y="1691640"/>
            <a:ext cx="1874520" cy="384048"/>
          </a:xfrm>
          <a:prstGeom prst="rect">
            <a:avLst/>
          </a:prstGeom>
          <a:noFill/>
          <a:ln/>
        </p:spPr>
        <p:txBody>
          <a:bodyPr wrap="square" lIns="0" tIns="0" rIns="0" bIns="0" rtlCol="0" anchor="ctr"/>
          <a:lstStyle/>
          <a:p>
            <a:pPr algn="ctr" indent="0" marL="0">
              <a:buNone/>
            </a:pPr>
            <a:r>
              <a:rPr lang="en-US" sz="1300" b="1" dirty="0">
                <a:solidFill>
                  <a:schemeClr val="tx1"/>
                </a:solidFill>
                <a:latin typeface="Courier New" pitchFamily="34" charset="0"/>
                <a:ea typeface="Courier New" pitchFamily="34" charset="-122"/>
                <a:cs typeface="Courier New" pitchFamily="34" charset="-120"/>
              </a:rPr>
              <a:t>horarios_semanales</a:t>
            </a:r>
            <a:endParaRPr lang="en-US" sz="1300" dirty="0"/>
          </a:p>
        </p:txBody>
      </p:sp>
      <p:sp>
        <p:nvSpPr>
          <p:cNvPr id="11" name="chip-excepciones_dia"/>
          <p:cNvSpPr/>
          <p:nvPr/>
        </p:nvSpPr>
        <p:spPr>
          <a:xfrm>
            <a:off x="9006840" y="1691640"/>
            <a:ext cx="1645920" cy="384048"/>
          </a:xfrm>
          <a:prstGeom prst="roundRect">
            <a:avLst>
              <a:gd name="adj" fmla="val 50000"/>
            </a:avLst>
          </a:prstGeom>
          <a:solidFill>
            <a:schemeClr val="bg2"/>
          </a:solidFill>
          <a:ln/>
        </p:spPr>
      </p:sp>
      <p:sp>
        <p:nvSpPr>
          <p:cNvPr id="12" name="Text 9"/>
          <p:cNvSpPr txBox="1"/>
          <p:nvPr/>
        </p:nvSpPr>
        <p:spPr>
          <a:xfrm>
            <a:off x="9006840" y="1691640"/>
            <a:ext cx="1645920" cy="384048"/>
          </a:xfrm>
          <a:prstGeom prst="rect">
            <a:avLst/>
          </a:prstGeom>
          <a:noFill/>
          <a:ln/>
        </p:spPr>
        <p:txBody>
          <a:bodyPr wrap="square" lIns="0" tIns="0" rIns="0" bIns="0" rtlCol="0" anchor="ctr"/>
          <a:lstStyle/>
          <a:p>
            <a:pPr algn="ctr" indent="0" marL="0">
              <a:buNone/>
            </a:pPr>
            <a:r>
              <a:rPr lang="en-US" sz="1300" b="1" dirty="0">
                <a:solidFill>
                  <a:schemeClr val="tx1"/>
                </a:solidFill>
                <a:latin typeface="Courier New" pitchFamily="34" charset="0"/>
                <a:ea typeface="Courier New" pitchFamily="34" charset="-122"/>
                <a:cs typeface="Courier New" pitchFamily="34" charset="-120"/>
              </a:rPr>
              <a:t>excepciones_dia</a:t>
            </a:r>
            <a:endParaRPr lang="en-US" sz="1300" dirty="0"/>
          </a:p>
        </p:txBody>
      </p:sp>
      <p:sp>
        <p:nvSpPr>
          <p:cNvPr id="13" name="chip-citas"/>
          <p:cNvSpPr/>
          <p:nvPr/>
        </p:nvSpPr>
        <p:spPr>
          <a:xfrm>
            <a:off x="10789920" y="1691640"/>
            <a:ext cx="777240" cy="384048"/>
          </a:xfrm>
          <a:prstGeom prst="roundRect">
            <a:avLst>
              <a:gd name="adj" fmla="val 50000"/>
            </a:avLst>
          </a:prstGeom>
          <a:solidFill>
            <a:schemeClr val="accent1"/>
          </a:solidFill>
          <a:ln/>
        </p:spPr>
      </p:sp>
      <p:sp>
        <p:nvSpPr>
          <p:cNvPr id="14" name="Text 11"/>
          <p:cNvSpPr txBox="1"/>
          <p:nvPr/>
        </p:nvSpPr>
        <p:spPr>
          <a:xfrm>
            <a:off x="10789920" y="1691640"/>
            <a:ext cx="777240" cy="384048"/>
          </a:xfrm>
          <a:prstGeom prst="rect">
            <a:avLst/>
          </a:prstGeom>
          <a:noFill/>
          <a:ln/>
        </p:spPr>
        <p:txBody>
          <a:bodyPr wrap="square" lIns="0" tIns="0" rIns="0" bIns="0" rtlCol="0" anchor="ctr"/>
          <a:lstStyle/>
          <a:p>
            <a:pPr algn="ctr" indent="0" marL="0">
              <a:buNone/>
            </a:pPr>
            <a:r>
              <a:rPr lang="en-US" sz="1300" b="1" dirty="0">
                <a:solidFill>
                  <a:schemeClr val="bg1"/>
                </a:solidFill>
                <a:latin typeface="Courier New" pitchFamily="34" charset="0"/>
                <a:ea typeface="Courier New" pitchFamily="34" charset="-122"/>
                <a:cs typeface="Courier New" pitchFamily="34" charset="-120"/>
              </a:rPr>
              <a:t>citas</a:t>
            </a:r>
            <a:endParaRPr lang="en-US" sz="1300" dirty="0"/>
          </a:p>
        </p:txBody>
      </p:sp>
      <p:sp>
        <p:nvSpPr>
          <p:cNvPr id="15" name="codigo-hora-ocupada"/>
          <p:cNvSpPr/>
          <p:nvPr/>
        </p:nvSpPr>
        <p:spPr>
          <a:xfrm>
            <a:off x="4206240" y="2377440"/>
            <a:ext cx="7434072" cy="1417320"/>
          </a:xfrm>
          <a:prstGeom prst="roundRect">
            <a:avLst>
              <a:gd name="adj" fmla="val 7742"/>
            </a:avLst>
          </a:prstGeom>
          <a:solidFill>
            <a:schemeClr val="tx1"/>
          </a:solidFill>
          <a:ln/>
        </p:spPr>
      </p:sp>
      <p:sp>
        <p:nvSpPr>
          <p:cNvPr id="16" name="Text 13"/>
          <p:cNvSpPr txBox="1"/>
          <p:nvPr/>
        </p:nvSpPr>
        <p:spPr>
          <a:xfrm>
            <a:off x="4434840" y="2542032"/>
            <a:ext cx="7040880" cy="1143000"/>
          </a:xfrm>
          <a:prstGeom prst="rect">
            <a:avLst/>
          </a:prstGeom>
          <a:noFill/>
          <a:ln/>
        </p:spPr>
        <p:txBody>
          <a:bodyPr wrap="square" lIns="0" tIns="0" rIns="0" bIns="0" rtlCol="0" anchor="t"/>
          <a:lstStyle/>
          <a:p>
            <a:pPr indent="0" marL="0">
              <a:buNone/>
            </a:pPr>
            <a:r>
              <a:rPr lang="en-US" sz="1400" dirty="0">
                <a:solidFill>
                  <a:schemeClr val="bg1"/>
                </a:solidFill>
                <a:latin typeface="Courier New" pitchFamily="34" charset="0"/>
                <a:ea typeface="Courier New" pitchFamily="34" charset="-122"/>
                <a:cs typeface="Courier New" pitchFamily="34" charset="-120"/>
              </a:rPr>
              <a:t>hora_ocupada TIME GENERATED ALWAYS AS (</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  IF(estado IN ('pendiente','confirmada'),</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     COALESCE(hora_final, hora_pedida), NULL))</a:t>
            </a:r>
            <a:endParaRPr lang="en-US" sz="1400" dirty="0"/>
          </a:p>
          <a:p>
            <a:pPr indent="0" marL="0">
              <a:buNone/>
            </a:pPr>
            <a:r>
              <a:rPr lang="en-US" sz="1400" dirty="0">
                <a:solidFill>
                  <a:schemeClr val="accent1"/>
                </a:solidFill>
                <a:latin typeface="Courier New" pitchFamily="34" charset="0"/>
                <a:ea typeface="Courier New" pitchFamily="34" charset="-122"/>
                <a:cs typeface="Courier New" pitchFamily="34" charset="-120"/>
              </a:rPr>
              <a:t>UNIQUE KEY uq_citas_hueco_activo (fecha, hora_ocupada)</a:t>
            </a:r>
            <a:endParaRPr lang="en-US" sz="1400" dirty="0"/>
          </a:p>
        </p:txBody>
      </p:sp>
      <p:sp>
        <p:nvSpPr>
          <p:cNvPr id="17" name="Text 14"/>
          <p:cNvSpPr txBox="1"/>
          <p:nvPr/>
        </p:nvSpPr>
        <p:spPr>
          <a:xfrm>
            <a:off x="4206240" y="4069080"/>
            <a:ext cx="7434072" cy="2103120"/>
          </a:xfrm>
          <a:prstGeom prst="rect">
            <a:avLst/>
          </a:prstGeom>
          <a:noFill/>
          <a:ln/>
        </p:spPr>
        <p:txBody>
          <a:bodyPr wrap="square" lIns="0" tIns="0" rIns="0" bIns="0" rtlCol="0" anchor="t"/>
          <a:lstStyle/>
          <a:p>
            <a:pPr marL="203200" indent="-203200">
              <a:spcAft>
                <a:spcPts val="800"/>
              </a:spcAft>
              <a:buSzPct val="100000"/>
              <a:buChar char="•"/>
            </a:pPr>
            <a:r>
              <a:rPr lang="en-US" sz="1600" dirty="0">
                <a:solidFill>
                  <a:schemeClr val="tx1"/>
                </a:solidFill>
              </a:rPr>
              <a:t>Una cita cancelada o rechazada deja la columna a NULL, y el índice único admite varios NULL.</a:t>
            </a:r>
            <a:endParaRPr lang="en-US" sz="1600" dirty="0"/>
          </a:p>
          <a:p>
            <a:pPr marL="203200" indent="-203200">
              <a:spcAft>
                <a:spcPts val="800"/>
              </a:spcAft>
              <a:buSzPct val="100000"/>
              <a:buChar char="•"/>
            </a:pPr>
            <a:r>
              <a:rPr lang="en-US" sz="1600" dirty="0">
                <a:solidFill>
                  <a:schemeClr val="tx1"/>
                </a:solidFill>
              </a:rPr>
              <a:t>Una segunda cita activa a la misma hora choca con el índice (error 1062) y la API responde 409 hueco_ocupado.</a:t>
            </a:r>
            <a:endParaRPr lang="en-US" sz="1600" dirty="0"/>
          </a:p>
          <a:p>
            <a:pPr marL="203200" indent="-203200">
              <a:spcAft>
                <a:spcPts val="800"/>
              </a:spcAft>
              <a:buSzPct val="100000"/>
              <a:buChar char="•"/>
            </a:pPr>
            <a:r>
              <a:rPr lang="en-US" sz="1600" dirty="0">
                <a:solidFill>
                  <a:schemeClr val="tx1"/>
                </a:solidFill>
              </a:rPr>
              <a:t>El precio se copia en la cita al marcarla como hecha, así un cambio de tarifa no altera el historial.</a:t>
            </a:r>
            <a:endParaRPr lang="en-US" sz="1600" dirty="0"/>
          </a:p>
        </p:txBody>
      </p:sp>
      <p:sp>
        <p:nvSpPr>
          <p:cNvPr id="25" name="Slide Number Placeholder 0"/>
          <p:cNvSpPr>
            <a:spLocks noGrp="1"/>
          </p:cNvSpPr>
          <p:nvPr>
            <p:ph type="sldNum" sz="quarter" idx="4294967295"/>
          </p:nvPr>
        </p:nvSpPr>
        <p:spPr>
          <a:xfrm>
            <a:off x="11064240"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11064240" cy="320040"/>
          </a:xfrm>
          <a:prstGeom prst="rect">
            <a:avLst/>
          </a:prstGeom>
          <a:noFill/>
          <a:ln/>
        </p:spPr>
        <p:txBody>
          <a:bodyPr wrap="square" lIns="0" tIns="0" rIns="0" bIns="0" rtlCol="0" anchor="t"/>
          <a:lstStyle/>
          <a:p>
            <a:pPr indent="0" marL="0">
              <a:buNone/>
            </a:pPr>
            <a:r>
              <a:rPr lang="en-US" sz="1300" b="1" spc="300" kern="0" dirty="0">
                <a:solidFill>
                  <a:schemeClr val="accent1"/>
                </a:solidFill>
              </a:rPr>
              <a:t>5.3 · CASOS DE USO</a:t>
            </a:r>
            <a:endParaRPr lang="en-US" sz="1300" dirty="0"/>
          </a:p>
        </p:txBody>
      </p:sp>
      <p:sp>
        <p:nvSpPr>
          <p:cNvPr id="3" name="Text 0"/>
          <p:cNvSpPr/>
          <p:nvPr>
            <p:ph idx="101" type="title" hasCustomPrompt="1"/>
          </p:nvPr>
        </p:nvSpPr>
        <p:spPr>
          <a:xfrm>
            <a:off x="548640" y="713232"/>
            <a:ext cx="11064240" cy="777240"/>
          </a:xfrm>
          <a:prstGeom prst="rect">
            <a:avLst/>
          </a:prstGeom>
          <a:noFill/>
          <a:ln/>
        </p:spPr>
        <p:txBody>
          <a:bodyPr wrap="square" lIns="0" tIns="0" rIns="0" bIns="0" rtlCol="0" anchor="t"/>
          <a:lstStyle/>
          <a:p>
            <a:pPr algn="l" indent="0" marL="0">
              <a:buNone/>
            </a:pPr>
            <a:r>
              <a:rPr lang="en-US" sz="3600" dirty="0">
                <a:solidFill>
                  <a:schemeClr val="tx1"/>
                </a:solidFill>
              </a:rPr>
              <a:t>DIEZ CASOS DE USO, TODOS PROGRAMADOS</a:t>
            </a:r>
            <a:endParaRPr lang="en-US" sz="3600" dirty="0"/>
          </a:p>
        </p:txBody>
      </p:sp>
      <p:pic>
        <p:nvPicPr>
          <p:cNvPr id="4" name="diagrama-casos" descr="C:\Dev\clandestino-tfg\docs\diagramas\03-casos-de-uso.png">    </p:cNvPr>
          <p:cNvPicPr>
            <a:picLocks noChangeAspect="1"/>
          </p:cNvPicPr>
          <p:nvPr/>
        </p:nvPicPr>
        <p:blipFill>
          <a:blip r:embed="rId1"/>
          <a:stretch>
            <a:fillRect/>
          </a:stretch>
        </p:blipFill>
        <p:spPr>
          <a:xfrm>
            <a:off x="548640" y="1645920"/>
            <a:ext cx="3939316" cy="4480560"/>
          </a:xfrm>
          <a:prstGeom prst="rect">
            <a:avLst/>
          </a:prstGeom>
        </p:spPr>
      </p:pic>
      <p:sp>
        <p:nvSpPr>
          <p:cNvPr id="5" name="actor-Visitante"/>
          <p:cNvSpPr/>
          <p:nvPr/>
        </p:nvSpPr>
        <p:spPr>
          <a:xfrm>
            <a:off x="5029200" y="1691640"/>
            <a:ext cx="6611112" cy="1005840"/>
          </a:xfrm>
          <a:prstGeom prst="roundRect">
            <a:avLst>
              <a:gd name="adj" fmla="val 10909"/>
            </a:avLst>
          </a:prstGeom>
          <a:solidFill>
            <a:schemeClr val="bg2"/>
          </a:solidFill>
          <a:ln/>
        </p:spPr>
      </p:sp>
      <p:sp>
        <p:nvSpPr>
          <p:cNvPr id="6" name="actor-Visitante-circulo"/>
          <p:cNvSpPr/>
          <p:nvPr/>
        </p:nvSpPr>
        <p:spPr>
          <a:xfrm>
            <a:off x="5257800" y="1874520"/>
            <a:ext cx="640080" cy="640080"/>
          </a:xfrm>
          <a:prstGeom prst="ellipse">
            <a:avLst/>
          </a:prstGeom>
          <a:solidFill>
            <a:schemeClr val="accent1"/>
          </a:solidFill>
          <a:ln/>
        </p:spPr>
      </p:sp>
      <p:pic>
        <p:nvPicPr>
          <p:cNvPr id="7" name="actor-Visitante-icono" descr="preencoded.png">    </p:cNvPr>
          <p:cNvPicPr>
            <a:picLocks noChangeAspect="1"/>
          </p:cNvPicPr>
          <p:nvPr/>
        </p:nvPicPr>
        <p:blipFill>
          <a:blip r:embed="rId2"/>
          <a:stretch>
            <a:fillRect/>
          </a:stretch>
        </p:blipFill>
        <p:spPr>
          <a:xfrm>
            <a:off x="5424221" y="2040941"/>
            <a:ext cx="307238" cy="307238"/>
          </a:xfrm>
          <a:prstGeom prst="rect">
            <a:avLst/>
          </a:prstGeom>
        </p:spPr>
      </p:pic>
      <p:sp>
        <p:nvSpPr>
          <p:cNvPr id="8" name="Text 4"/>
          <p:cNvSpPr txBox="1"/>
          <p:nvPr/>
        </p:nvSpPr>
        <p:spPr>
          <a:xfrm>
            <a:off x="6126480" y="1819656"/>
            <a:ext cx="5303520" cy="320040"/>
          </a:xfrm>
          <a:prstGeom prst="rect">
            <a:avLst/>
          </a:prstGeom>
          <a:noFill/>
          <a:ln/>
        </p:spPr>
        <p:txBody>
          <a:bodyPr wrap="square" lIns="0" tIns="0" rIns="0" bIns="0" rtlCol="0" anchor="t"/>
          <a:lstStyle/>
          <a:p>
            <a:pPr indent="0" marL="0">
              <a:buNone/>
            </a:pPr>
            <a:r>
              <a:rPr lang="en-US" sz="1700" b="1" dirty="0">
                <a:solidFill>
                  <a:schemeClr val="tx1"/>
                </a:solidFill>
              </a:rPr>
              <a:t>Visitante</a:t>
            </a:r>
            <a:endParaRPr lang="en-US" sz="1700" dirty="0"/>
          </a:p>
        </p:txBody>
      </p:sp>
      <p:sp>
        <p:nvSpPr>
          <p:cNvPr id="9" name="Text 5"/>
          <p:cNvSpPr txBox="1"/>
          <p:nvPr/>
        </p:nvSpPr>
        <p:spPr>
          <a:xfrm>
            <a:off x="6126480" y="2130552"/>
            <a:ext cx="5303520" cy="502920"/>
          </a:xfrm>
          <a:prstGeom prst="rect">
            <a:avLst/>
          </a:prstGeom>
          <a:noFill/>
          <a:ln/>
        </p:spPr>
        <p:txBody>
          <a:bodyPr wrap="square" lIns="0" tIns="0" rIns="0" bIns="0" rtlCol="0" anchor="t"/>
          <a:lstStyle/>
          <a:p>
            <a:pPr indent="0" marL="0">
              <a:buNone/>
            </a:pPr>
            <a:r>
              <a:rPr lang="en-US" sz="1300" dirty="0">
                <a:solidFill>
                  <a:schemeClr val="tx2"/>
                </a:solidFill>
              </a:rPr>
              <a:t>UC01 Registrarse con código</a:t>
            </a:r>
            <a:endParaRPr lang="en-US" sz="1300" dirty="0"/>
          </a:p>
        </p:txBody>
      </p:sp>
      <p:sp>
        <p:nvSpPr>
          <p:cNvPr id="10" name="actor-Cliente"/>
          <p:cNvSpPr/>
          <p:nvPr/>
        </p:nvSpPr>
        <p:spPr>
          <a:xfrm>
            <a:off x="5029200" y="2880360"/>
            <a:ext cx="6611112" cy="1005840"/>
          </a:xfrm>
          <a:prstGeom prst="roundRect">
            <a:avLst>
              <a:gd name="adj" fmla="val 10909"/>
            </a:avLst>
          </a:prstGeom>
          <a:solidFill>
            <a:schemeClr val="bg2"/>
          </a:solidFill>
          <a:ln/>
        </p:spPr>
      </p:sp>
      <p:sp>
        <p:nvSpPr>
          <p:cNvPr id="11" name="actor-Cliente-circulo"/>
          <p:cNvSpPr/>
          <p:nvPr/>
        </p:nvSpPr>
        <p:spPr>
          <a:xfrm>
            <a:off x="5257800" y="3063240"/>
            <a:ext cx="640080" cy="640080"/>
          </a:xfrm>
          <a:prstGeom prst="ellipse">
            <a:avLst/>
          </a:prstGeom>
          <a:solidFill>
            <a:schemeClr val="accent1"/>
          </a:solidFill>
          <a:ln/>
        </p:spPr>
      </p:sp>
      <p:pic>
        <p:nvPicPr>
          <p:cNvPr id="12" name="actor-Cliente-icono" descr="preencoded.png">    </p:cNvPr>
          <p:cNvPicPr>
            <a:picLocks noChangeAspect="1"/>
          </p:cNvPicPr>
          <p:nvPr/>
        </p:nvPicPr>
        <p:blipFill>
          <a:blip r:embed="rId3"/>
          <a:stretch>
            <a:fillRect/>
          </a:stretch>
        </p:blipFill>
        <p:spPr>
          <a:xfrm>
            <a:off x="5424221" y="3229661"/>
            <a:ext cx="307238" cy="307238"/>
          </a:xfrm>
          <a:prstGeom prst="rect">
            <a:avLst/>
          </a:prstGeom>
        </p:spPr>
      </p:pic>
      <p:sp>
        <p:nvSpPr>
          <p:cNvPr id="13" name="Text 8"/>
          <p:cNvSpPr txBox="1"/>
          <p:nvPr/>
        </p:nvSpPr>
        <p:spPr>
          <a:xfrm>
            <a:off x="6126480" y="3008376"/>
            <a:ext cx="5303520" cy="320040"/>
          </a:xfrm>
          <a:prstGeom prst="rect">
            <a:avLst/>
          </a:prstGeom>
          <a:noFill/>
          <a:ln/>
        </p:spPr>
        <p:txBody>
          <a:bodyPr wrap="square" lIns="0" tIns="0" rIns="0" bIns="0" rtlCol="0" anchor="t"/>
          <a:lstStyle/>
          <a:p>
            <a:pPr indent="0" marL="0">
              <a:buNone/>
            </a:pPr>
            <a:r>
              <a:rPr lang="en-US" sz="1700" b="1" dirty="0">
                <a:solidFill>
                  <a:schemeClr val="tx1"/>
                </a:solidFill>
              </a:rPr>
              <a:t>Cliente</a:t>
            </a:r>
            <a:endParaRPr lang="en-US" sz="1700" dirty="0"/>
          </a:p>
        </p:txBody>
      </p:sp>
      <p:sp>
        <p:nvSpPr>
          <p:cNvPr id="14" name="Text 9"/>
          <p:cNvSpPr txBox="1"/>
          <p:nvPr/>
        </p:nvSpPr>
        <p:spPr>
          <a:xfrm>
            <a:off x="6126480" y="3319272"/>
            <a:ext cx="5303520" cy="502920"/>
          </a:xfrm>
          <a:prstGeom prst="rect">
            <a:avLst/>
          </a:prstGeom>
          <a:noFill/>
          <a:ln/>
        </p:spPr>
        <p:txBody>
          <a:bodyPr wrap="square" lIns="0" tIns="0" rIns="0" bIns="0" rtlCol="0" anchor="t"/>
          <a:lstStyle/>
          <a:p>
            <a:pPr indent="0" marL="0">
              <a:buNone/>
            </a:pPr>
            <a:r>
              <a:rPr lang="en-US" sz="1300" dirty="0">
                <a:solidFill>
                  <a:schemeClr val="tx2"/>
                </a:solidFill>
              </a:rPr>
              <a:t>UC03 Consultar disponibilidad · UC04 Solicitar cita · UC05 Gestionar mis citas</a:t>
            </a:r>
            <a:endParaRPr lang="en-US" sz="1300" dirty="0"/>
          </a:p>
        </p:txBody>
      </p:sp>
      <p:sp>
        <p:nvSpPr>
          <p:cNvPr id="15" name="actor-Barbero"/>
          <p:cNvSpPr/>
          <p:nvPr/>
        </p:nvSpPr>
        <p:spPr>
          <a:xfrm>
            <a:off x="5029200" y="4069080"/>
            <a:ext cx="6611112" cy="1005840"/>
          </a:xfrm>
          <a:prstGeom prst="roundRect">
            <a:avLst>
              <a:gd name="adj" fmla="val 10909"/>
            </a:avLst>
          </a:prstGeom>
          <a:solidFill>
            <a:schemeClr val="bg2"/>
          </a:solidFill>
          <a:ln/>
        </p:spPr>
      </p:sp>
      <p:sp>
        <p:nvSpPr>
          <p:cNvPr id="16" name="actor-Barbero-circulo"/>
          <p:cNvSpPr/>
          <p:nvPr/>
        </p:nvSpPr>
        <p:spPr>
          <a:xfrm>
            <a:off x="5257800" y="4251960"/>
            <a:ext cx="640080" cy="640080"/>
          </a:xfrm>
          <a:prstGeom prst="ellipse">
            <a:avLst/>
          </a:prstGeom>
          <a:solidFill>
            <a:schemeClr val="accent1"/>
          </a:solidFill>
          <a:ln/>
        </p:spPr>
      </p:sp>
      <p:pic>
        <p:nvPicPr>
          <p:cNvPr id="17" name="actor-Barbero-icono" descr="preencoded.png">    </p:cNvPr>
          <p:cNvPicPr>
            <a:picLocks noChangeAspect="1"/>
          </p:cNvPicPr>
          <p:nvPr/>
        </p:nvPicPr>
        <p:blipFill>
          <a:blip r:embed="rId4"/>
          <a:stretch>
            <a:fillRect/>
          </a:stretch>
        </p:blipFill>
        <p:spPr>
          <a:xfrm>
            <a:off x="5424221" y="4418381"/>
            <a:ext cx="307238" cy="307238"/>
          </a:xfrm>
          <a:prstGeom prst="rect">
            <a:avLst/>
          </a:prstGeom>
        </p:spPr>
      </p:pic>
      <p:sp>
        <p:nvSpPr>
          <p:cNvPr id="18" name="Text 12"/>
          <p:cNvSpPr txBox="1"/>
          <p:nvPr/>
        </p:nvSpPr>
        <p:spPr>
          <a:xfrm>
            <a:off x="6126480" y="4197096"/>
            <a:ext cx="5303520" cy="320040"/>
          </a:xfrm>
          <a:prstGeom prst="rect">
            <a:avLst/>
          </a:prstGeom>
          <a:noFill/>
          <a:ln/>
        </p:spPr>
        <p:txBody>
          <a:bodyPr wrap="square" lIns="0" tIns="0" rIns="0" bIns="0" rtlCol="0" anchor="t"/>
          <a:lstStyle/>
          <a:p>
            <a:pPr indent="0" marL="0">
              <a:buNone/>
            </a:pPr>
            <a:r>
              <a:rPr lang="en-US" sz="1700" b="1" dirty="0">
                <a:solidFill>
                  <a:schemeClr val="tx1"/>
                </a:solidFill>
              </a:rPr>
              <a:t>Barbero</a:t>
            </a:r>
            <a:endParaRPr lang="en-US" sz="1700" dirty="0"/>
          </a:p>
        </p:txBody>
      </p:sp>
      <p:sp>
        <p:nvSpPr>
          <p:cNvPr id="19" name="Text 13"/>
          <p:cNvSpPr txBox="1"/>
          <p:nvPr/>
        </p:nvSpPr>
        <p:spPr>
          <a:xfrm>
            <a:off x="6126480" y="4507992"/>
            <a:ext cx="5303520" cy="502920"/>
          </a:xfrm>
          <a:prstGeom prst="rect">
            <a:avLst/>
          </a:prstGeom>
          <a:noFill/>
          <a:ln/>
        </p:spPr>
        <p:txBody>
          <a:bodyPr wrap="square" lIns="0" tIns="0" rIns="0" bIns="0" rtlCol="0" anchor="t"/>
          <a:lstStyle/>
          <a:p>
            <a:pPr indent="0" marL="0">
              <a:buNone/>
            </a:pPr>
            <a:r>
              <a:rPr lang="en-US" sz="1300" dirty="0">
                <a:solidFill>
                  <a:schemeClr val="tx2"/>
                </a:solidFill>
              </a:rPr>
              <a:t>UC06 Generar invitación · UC07 Aprobar o bloquear · UC08 Solicitudes · UC09 Agenda · UC10 Horarios</a:t>
            </a:r>
            <a:endParaRPr lang="en-US" sz="1300" dirty="0"/>
          </a:p>
        </p:txBody>
      </p:sp>
      <p:sp>
        <p:nvSpPr>
          <p:cNvPr id="20" name="Text 14"/>
          <p:cNvSpPr txBox="1"/>
          <p:nvPr/>
        </p:nvSpPr>
        <p:spPr>
          <a:xfrm>
            <a:off x="5029200" y="5303520"/>
            <a:ext cx="6611112" cy="320040"/>
          </a:xfrm>
          <a:prstGeom prst="rect">
            <a:avLst/>
          </a:prstGeom>
          <a:noFill/>
          <a:ln/>
        </p:spPr>
        <p:txBody>
          <a:bodyPr wrap="square" lIns="0" tIns="0" rIns="0" bIns="0" rtlCol="0" anchor="t"/>
          <a:lstStyle/>
          <a:p>
            <a:pPr indent="0" marL="0">
              <a:buNone/>
            </a:pPr>
            <a:r>
              <a:rPr lang="en-US" sz="1400" i="1" dirty="0">
                <a:solidFill>
                  <a:schemeClr val="tx2"/>
                </a:solidFill>
              </a:rPr>
              <a:t>UC02 Iniciar sesión es común a cliente y barbero.</a:t>
            </a:r>
            <a:endParaRPr lang="en-US" sz="1400" dirty="0"/>
          </a:p>
        </p:txBody>
      </p:sp>
      <p:sp>
        <p:nvSpPr>
          <p:cNvPr id="21" name="Text 15"/>
          <p:cNvSpPr txBox="1"/>
          <p:nvPr/>
        </p:nvSpPr>
        <p:spPr>
          <a:xfrm>
            <a:off x="5029200" y="5669280"/>
            <a:ext cx="6611112" cy="457200"/>
          </a:xfrm>
          <a:prstGeom prst="rect">
            <a:avLst/>
          </a:prstGeom>
          <a:noFill/>
          <a:ln/>
        </p:spPr>
        <p:txBody>
          <a:bodyPr wrap="square" lIns="0" tIns="0" rIns="0" bIns="0" rtlCol="0" anchor="ctr"/>
          <a:lstStyle/>
          <a:p>
            <a:pPr indent="0" marL="0">
              <a:buNone/>
            </a:pPr>
            <a:r>
              <a:rPr lang="en-US" sz="2400" dirty="0">
                <a:solidFill>
                  <a:schemeClr val="accent1"/>
                </a:solidFill>
                <a:latin typeface="+mj-lt" pitchFamily="34" charset="0"/>
                <a:ea typeface="+mj-lt" pitchFamily="34" charset="-122"/>
                <a:cs typeface="+mj-lt" pitchFamily="34" charset="-120"/>
              </a:rPr>
              <a:t>30</a:t>
            </a:r>
            <a:pPr indent="0" marL="0">
              <a:buNone/>
            </a:pPr>
            <a:r>
              <a:rPr lang="en-US" sz="1400" dirty="0">
                <a:solidFill>
                  <a:schemeClr val="tx1"/>
                </a:solidFill>
              </a:rPr>
              <a:t> requisitos funcionales    </a:t>
            </a:r>
            <a:pPr indent="0" marL="0">
              <a:buNone/>
            </a:pPr>
            <a:r>
              <a:rPr lang="en-US" sz="2400" dirty="0">
                <a:solidFill>
                  <a:schemeClr val="accent1"/>
                </a:solidFill>
                <a:latin typeface="+mj-lt" pitchFamily="34" charset="0"/>
                <a:ea typeface="+mj-lt" pitchFamily="34" charset="-122"/>
                <a:cs typeface="+mj-lt" pitchFamily="34" charset="-120"/>
              </a:rPr>
              <a:t>53</a:t>
            </a:r>
            <a:pPr indent="0" marL="0">
              <a:buNone/>
            </a:pPr>
            <a:r>
              <a:rPr lang="en-US" sz="1400" dirty="0">
                <a:solidFill>
                  <a:schemeClr val="tx1"/>
                </a:solidFill>
              </a:rPr>
              <a:t> no funcionales</a:t>
            </a:r>
            <a:endParaRPr lang="en-US" sz="2400" dirty="0"/>
          </a:p>
        </p:txBody>
      </p:sp>
      <p:sp>
        <p:nvSpPr>
          <p:cNvPr id="25" name="Slide Number Placeholder 0"/>
          <p:cNvSpPr>
            <a:spLocks noGrp="1"/>
          </p:cNvSpPr>
          <p:nvPr>
            <p:ph type="sldNum" sz="quarter" idx="4294967295"/>
          </p:nvPr>
        </p:nvSpPr>
        <p:spPr>
          <a:xfrm>
            <a:off x="11064240"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11064240" cy="320040"/>
          </a:xfrm>
          <a:prstGeom prst="rect">
            <a:avLst/>
          </a:prstGeom>
          <a:noFill/>
          <a:ln/>
        </p:spPr>
        <p:txBody>
          <a:bodyPr wrap="square" lIns="0" tIns="0" rIns="0" bIns="0" rtlCol="0" anchor="t"/>
          <a:lstStyle/>
          <a:p>
            <a:pPr indent="0" marL="0">
              <a:buNone/>
            </a:pPr>
            <a:r>
              <a:rPr lang="en-US" sz="1300" b="1" spc="300" kern="0" dirty="0">
                <a:solidFill>
                  <a:schemeClr val="accent1"/>
                </a:solidFill>
              </a:rPr>
              <a:t>6 · METODOLOGÍA</a:t>
            </a:r>
            <a:endParaRPr lang="en-US" sz="1300" dirty="0"/>
          </a:p>
        </p:txBody>
      </p:sp>
      <p:sp>
        <p:nvSpPr>
          <p:cNvPr id="3" name="Text 0"/>
          <p:cNvSpPr/>
          <p:nvPr>
            <p:ph idx="101" type="title" hasCustomPrompt="1"/>
          </p:nvPr>
        </p:nvSpPr>
        <p:spPr>
          <a:xfrm>
            <a:off x="548640" y="713232"/>
            <a:ext cx="11064240" cy="777240"/>
          </a:xfrm>
          <a:prstGeom prst="rect">
            <a:avLst/>
          </a:prstGeom>
          <a:noFill/>
          <a:ln/>
        </p:spPr>
        <p:txBody>
          <a:bodyPr wrap="square" lIns="0" tIns="0" rIns="0" bIns="0" rtlCol="0" anchor="t"/>
          <a:lstStyle/>
          <a:p>
            <a:pPr algn="l" indent="0" marL="0">
              <a:buNone/>
            </a:pPr>
            <a:r>
              <a:rPr lang="en-US" sz="3600" dirty="0">
                <a:solidFill>
                  <a:schemeClr val="tx1"/>
                </a:solidFill>
              </a:rPr>
              <a:t>CICLO INCREMENTAL CON PRÁCTICAS DE SCRUM</a:t>
            </a:r>
            <a:endParaRPr lang="en-US" sz="3600" dirty="0"/>
          </a:p>
        </p:txBody>
      </p:sp>
      <p:sp>
        <p:nvSpPr>
          <p:cNvPr id="4" name="etapa-Inicio"/>
          <p:cNvSpPr/>
          <p:nvPr/>
        </p:nvSpPr>
        <p:spPr>
          <a:xfrm>
            <a:off x="548640" y="1691640"/>
            <a:ext cx="2377440" cy="868680"/>
          </a:xfrm>
          <a:prstGeom prst="roundRect">
            <a:avLst>
              <a:gd name="adj" fmla="val 12632"/>
            </a:avLst>
          </a:prstGeom>
          <a:solidFill>
            <a:schemeClr val="bg2"/>
          </a:solidFill>
          <a:ln/>
        </p:spPr>
      </p:sp>
      <p:sp>
        <p:nvSpPr>
          <p:cNvPr id="5" name="Text 3"/>
          <p:cNvSpPr txBox="1"/>
          <p:nvPr/>
        </p:nvSpPr>
        <p:spPr>
          <a:xfrm>
            <a:off x="777240" y="1783080"/>
            <a:ext cx="1920240" cy="365760"/>
          </a:xfrm>
          <a:prstGeom prst="rect">
            <a:avLst/>
          </a:prstGeom>
          <a:noFill/>
          <a:ln/>
        </p:spPr>
        <p:txBody>
          <a:bodyPr wrap="square" lIns="0" tIns="0" rIns="0" bIns="0" rtlCol="0" anchor="t"/>
          <a:lstStyle/>
          <a:p>
            <a:pPr indent="0" marL="0">
              <a:buNone/>
            </a:pPr>
            <a:r>
              <a:rPr lang="en-US" sz="1800" b="1" dirty="0">
                <a:solidFill>
                  <a:schemeClr val="tx1"/>
                </a:solidFill>
              </a:rPr>
              <a:t>Inicio</a:t>
            </a:r>
            <a:endParaRPr lang="en-US" sz="1800" dirty="0"/>
          </a:p>
        </p:txBody>
      </p:sp>
      <p:sp>
        <p:nvSpPr>
          <p:cNvPr id="6" name="Text 4"/>
          <p:cNvSpPr txBox="1"/>
          <p:nvPr/>
        </p:nvSpPr>
        <p:spPr>
          <a:xfrm>
            <a:off x="777240" y="2148840"/>
            <a:ext cx="1920240" cy="320040"/>
          </a:xfrm>
          <a:prstGeom prst="rect">
            <a:avLst/>
          </a:prstGeom>
          <a:noFill/>
          <a:ln/>
        </p:spPr>
        <p:txBody>
          <a:bodyPr wrap="square" lIns="0" tIns="0" rIns="0" bIns="0" rtlCol="0" anchor="t"/>
          <a:lstStyle/>
          <a:p>
            <a:pPr indent="0" marL="0">
              <a:buNone/>
            </a:pPr>
            <a:r>
              <a:rPr lang="en-US" sz="1400" dirty="0">
                <a:solidFill>
                  <a:schemeClr val="tx2"/>
                </a:solidFill>
              </a:rPr>
              <a:t>30 sep – 1 oct</a:t>
            </a:r>
            <a:endParaRPr lang="en-US" sz="1400" dirty="0"/>
          </a:p>
        </p:txBody>
      </p:sp>
      <p:pic>
        <p:nvPicPr>
          <p:cNvPr id="7" name="flecha-etapa-0" descr="preencoded.png">    </p:cNvPr>
          <p:cNvPicPr>
            <a:picLocks noChangeAspect="1"/>
          </p:cNvPicPr>
          <p:nvPr/>
        </p:nvPicPr>
        <p:blipFill>
          <a:blip r:embed="rId1"/>
          <a:stretch>
            <a:fillRect/>
          </a:stretch>
        </p:blipFill>
        <p:spPr>
          <a:xfrm>
            <a:off x="3052572" y="1984248"/>
            <a:ext cx="274320" cy="274320"/>
          </a:xfrm>
          <a:prstGeom prst="rect">
            <a:avLst/>
          </a:prstGeom>
        </p:spPr>
      </p:pic>
      <p:sp>
        <p:nvSpPr>
          <p:cNvPr id="8" name="etapa-Diseño"/>
          <p:cNvSpPr/>
          <p:nvPr/>
        </p:nvSpPr>
        <p:spPr>
          <a:xfrm>
            <a:off x="3453384" y="1691640"/>
            <a:ext cx="2377440" cy="868680"/>
          </a:xfrm>
          <a:prstGeom prst="roundRect">
            <a:avLst>
              <a:gd name="adj" fmla="val 12632"/>
            </a:avLst>
          </a:prstGeom>
          <a:solidFill>
            <a:schemeClr val="bg2"/>
          </a:solidFill>
          <a:ln/>
        </p:spPr>
      </p:sp>
      <p:sp>
        <p:nvSpPr>
          <p:cNvPr id="9" name="Text 6"/>
          <p:cNvSpPr txBox="1"/>
          <p:nvPr/>
        </p:nvSpPr>
        <p:spPr>
          <a:xfrm>
            <a:off x="3681984" y="1783080"/>
            <a:ext cx="1920240" cy="365760"/>
          </a:xfrm>
          <a:prstGeom prst="rect">
            <a:avLst/>
          </a:prstGeom>
          <a:noFill/>
          <a:ln/>
        </p:spPr>
        <p:txBody>
          <a:bodyPr wrap="square" lIns="0" tIns="0" rIns="0" bIns="0" rtlCol="0" anchor="t"/>
          <a:lstStyle/>
          <a:p>
            <a:pPr indent="0" marL="0">
              <a:buNone/>
            </a:pPr>
            <a:r>
              <a:rPr lang="en-US" sz="1800" b="1" dirty="0">
                <a:solidFill>
                  <a:schemeClr val="tx1"/>
                </a:solidFill>
              </a:rPr>
              <a:t>Diseño</a:t>
            </a:r>
            <a:endParaRPr lang="en-US" sz="1800" dirty="0"/>
          </a:p>
        </p:txBody>
      </p:sp>
      <p:sp>
        <p:nvSpPr>
          <p:cNvPr id="10" name="Text 7"/>
          <p:cNvSpPr txBox="1"/>
          <p:nvPr/>
        </p:nvSpPr>
        <p:spPr>
          <a:xfrm>
            <a:off x="3681984" y="2148840"/>
            <a:ext cx="1920240" cy="320040"/>
          </a:xfrm>
          <a:prstGeom prst="rect">
            <a:avLst/>
          </a:prstGeom>
          <a:noFill/>
          <a:ln/>
        </p:spPr>
        <p:txBody>
          <a:bodyPr wrap="square" lIns="0" tIns="0" rIns="0" bIns="0" rtlCol="0" anchor="t"/>
          <a:lstStyle/>
          <a:p>
            <a:pPr indent="0" marL="0">
              <a:buNone/>
            </a:pPr>
            <a:r>
              <a:rPr lang="en-US" sz="1400" dirty="0">
                <a:solidFill>
                  <a:schemeClr val="tx2"/>
                </a:solidFill>
              </a:rPr>
              <a:t>1 – 9 oct</a:t>
            </a:r>
            <a:endParaRPr lang="en-US" sz="1400" dirty="0"/>
          </a:p>
        </p:txBody>
      </p:sp>
      <p:pic>
        <p:nvPicPr>
          <p:cNvPr id="11" name="flecha-etapa-1" descr="preencoded.png">    </p:cNvPr>
          <p:cNvPicPr>
            <a:picLocks noChangeAspect="1"/>
          </p:cNvPicPr>
          <p:nvPr/>
        </p:nvPicPr>
        <p:blipFill>
          <a:blip r:embed="rId2"/>
          <a:stretch>
            <a:fillRect/>
          </a:stretch>
        </p:blipFill>
        <p:spPr>
          <a:xfrm>
            <a:off x="5957316" y="1984248"/>
            <a:ext cx="274320" cy="274320"/>
          </a:xfrm>
          <a:prstGeom prst="rect">
            <a:avLst/>
          </a:prstGeom>
        </p:spPr>
      </p:pic>
      <p:sp>
        <p:nvSpPr>
          <p:cNvPr id="12" name="etapa-Desarrollo"/>
          <p:cNvSpPr/>
          <p:nvPr/>
        </p:nvSpPr>
        <p:spPr>
          <a:xfrm>
            <a:off x="6358128" y="1691640"/>
            <a:ext cx="2377440" cy="868680"/>
          </a:xfrm>
          <a:prstGeom prst="roundRect">
            <a:avLst>
              <a:gd name="adj" fmla="val 12632"/>
            </a:avLst>
          </a:prstGeom>
          <a:solidFill>
            <a:schemeClr val="bg2"/>
          </a:solidFill>
          <a:ln/>
        </p:spPr>
      </p:sp>
      <p:sp>
        <p:nvSpPr>
          <p:cNvPr id="13" name="Text 9"/>
          <p:cNvSpPr txBox="1"/>
          <p:nvPr/>
        </p:nvSpPr>
        <p:spPr>
          <a:xfrm>
            <a:off x="6586728" y="1783080"/>
            <a:ext cx="1920240" cy="365760"/>
          </a:xfrm>
          <a:prstGeom prst="rect">
            <a:avLst/>
          </a:prstGeom>
          <a:noFill/>
          <a:ln/>
        </p:spPr>
        <p:txBody>
          <a:bodyPr wrap="square" lIns="0" tIns="0" rIns="0" bIns="0" rtlCol="0" anchor="t"/>
          <a:lstStyle/>
          <a:p>
            <a:pPr indent="0" marL="0">
              <a:buNone/>
            </a:pPr>
            <a:r>
              <a:rPr lang="en-US" sz="1800" b="1" dirty="0">
                <a:solidFill>
                  <a:schemeClr val="tx1"/>
                </a:solidFill>
              </a:rPr>
              <a:t>Desarrollo</a:t>
            </a:r>
            <a:endParaRPr lang="en-US" sz="1800" dirty="0"/>
          </a:p>
        </p:txBody>
      </p:sp>
      <p:sp>
        <p:nvSpPr>
          <p:cNvPr id="14" name="Text 10"/>
          <p:cNvSpPr txBox="1"/>
          <p:nvPr/>
        </p:nvSpPr>
        <p:spPr>
          <a:xfrm>
            <a:off x="6586728" y="2148840"/>
            <a:ext cx="1920240" cy="320040"/>
          </a:xfrm>
          <a:prstGeom prst="rect">
            <a:avLst/>
          </a:prstGeom>
          <a:noFill/>
          <a:ln/>
        </p:spPr>
        <p:txBody>
          <a:bodyPr wrap="square" lIns="0" tIns="0" rIns="0" bIns="0" rtlCol="0" anchor="t"/>
          <a:lstStyle/>
          <a:p>
            <a:pPr indent="0" marL="0">
              <a:buNone/>
            </a:pPr>
            <a:r>
              <a:rPr lang="en-US" sz="1400" dirty="0">
                <a:solidFill>
                  <a:schemeClr val="tx2"/>
                </a:solidFill>
              </a:rPr>
              <a:t>9 – 15 oct</a:t>
            </a:r>
            <a:endParaRPr lang="en-US" sz="1400" dirty="0"/>
          </a:p>
        </p:txBody>
      </p:sp>
      <p:pic>
        <p:nvPicPr>
          <p:cNvPr id="15" name="flecha-etapa-2" descr="preencoded.png">    </p:cNvPr>
          <p:cNvPicPr>
            <a:picLocks noChangeAspect="1"/>
          </p:cNvPicPr>
          <p:nvPr/>
        </p:nvPicPr>
        <p:blipFill>
          <a:blip r:embed="rId3"/>
          <a:stretch>
            <a:fillRect/>
          </a:stretch>
        </p:blipFill>
        <p:spPr>
          <a:xfrm>
            <a:off x="8862060" y="1984248"/>
            <a:ext cx="274320" cy="274320"/>
          </a:xfrm>
          <a:prstGeom prst="rect">
            <a:avLst/>
          </a:prstGeom>
        </p:spPr>
      </p:pic>
      <p:sp>
        <p:nvSpPr>
          <p:cNvPr id="16" name="etapa-Cierre"/>
          <p:cNvSpPr/>
          <p:nvPr/>
        </p:nvSpPr>
        <p:spPr>
          <a:xfrm>
            <a:off x="9262872" y="1691640"/>
            <a:ext cx="2377440" cy="868680"/>
          </a:xfrm>
          <a:prstGeom prst="roundRect">
            <a:avLst>
              <a:gd name="adj" fmla="val 12632"/>
            </a:avLst>
          </a:prstGeom>
          <a:solidFill>
            <a:schemeClr val="accent5"/>
          </a:solidFill>
          <a:ln/>
        </p:spPr>
      </p:sp>
      <p:sp>
        <p:nvSpPr>
          <p:cNvPr id="17" name="Text 12"/>
          <p:cNvSpPr txBox="1"/>
          <p:nvPr/>
        </p:nvSpPr>
        <p:spPr>
          <a:xfrm>
            <a:off x="9491472" y="1783080"/>
            <a:ext cx="1920240" cy="365760"/>
          </a:xfrm>
          <a:prstGeom prst="rect">
            <a:avLst/>
          </a:prstGeom>
          <a:noFill/>
          <a:ln/>
        </p:spPr>
        <p:txBody>
          <a:bodyPr wrap="square" lIns="0" tIns="0" rIns="0" bIns="0" rtlCol="0" anchor="t"/>
          <a:lstStyle/>
          <a:p>
            <a:pPr indent="0" marL="0">
              <a:buNone/>
            </a:pPr>
            <a:r>
              <a:rPr lang="en-US" sz="1800" b="1" dirty="0">
                <a:solidFill>
                  <a:schemeClr val="tx1"/>
                </a:solidFill>
              </a:rPr>
              <a:t>Cierre</a:t>
            </a:r>
            <a:endParaRPr lang="en-US" sz="1800" dirty="0"/>
          </a:p>
        </p:txBody>
      </p:sp>
      <p:sp>
        <p:nvSpPr>
          <p:cNvPr id="18" name="Text 13"/>
          <p:cNvSpPr txBox="1"/>
          <p:nvPr/>
        </p:nvSpPr>
        <p:spPr>
          <a:xfrm>
            <a:off x="9491472" y="2148840"/>
            <a:ext cx="1920240" cy="320040"/>
          </a:xfrm>
          <a:prstGeom prst="rect">
            <a:avLst/>
          </a:prstGeom>
          <a:noFill/>
          <a:ln/>
        </p:spPr>
        <p:txBody>
          <a:bodyPr wrap="square" lIns="0" tIns="0" rIns="0" bIns="0" rtlCol="0" anchor="t"/>
          <a:lstStyle/>
          <a:p>
            <a:pPr indent="0" marL="0">
              <a:buNone/>
            </a:pPr>
            <a:r>
              <a:rPr lang="en-US" sz="1400" dirty="0">
                <a:solidFill>
                  <a:schemeClr val="tx2"/>
                </a:solidFill>
              </a:rPr>
              <a:t>16 – 31 oct</a:t>
            </a:r>
            <a:endParaRPr lang="en-US" sz="1400" dirty="0"/>
          </a:p>
        </p:txBody>
      </p:sp>
      <p:pic>
        <p:nvPicPr>
          <p:cNvPr id="19" name="gantt" descr="C:\Dev\clandestino-tfg\docs\diagramas\08-gantt.png">    </p:cNvPr>
          <p:cNvPicPr>
            <a:picLocks noChangeAspect="1"/>
          </p:cNvPicPr>
          <p:nvPr/>
        </p:nvPicPr>
        <p:blipFill>
          <a:blip r:embed="rId4"/>
          <a:stretch>
            <a:fillRect/>
          </a:stretch>
        </p:blipFill>
        <p:spPr>
          <a:xfrm>
            <a:off x="1249528" y="2788920"/>
            <a:ext cx="9692640" cy="3341163"/>
          </a:xfrm>
          <a:prstGeom prst="rect">
            <a:avLst/>
          </a:prstGeom>
        </p:spPr>
      </p:pic>
      <p:sp>
        <p:nvSpPr>
          <p:cNvPr id="25" name="Slide Number Placeholder 0"/>
          <p:cNvSpPr>
            <a:spLocks noGrp="1"/>
          </p:cNvSpPr>
          <p:nvPr>
            <p:ph type="sldNum" sz="quarter" idx="4294967295"/>
          </p:nvPr>
        </p:nvSpPr>
        <p:spPr>
          <a:xfrm>
            <a:off x="11064240"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11064240" cy="320040"/>
          </a:xfrm>
          <a:prstGeom prst="rect">
            <a:avLst/>
          </a:prstGeom>
          <a:noFill/>
          <a:ln/>
        </p:spPr>
        <p:txBody>
          <a:bodyPr wrap="square" lIns="0" tIns="0" rIns="0" bIns="0" rtlCol="0" anchor="t"/>
          <a:lstStyle/>
          <a:p>
            <a:pPr indent="0" marL="0">
              <a:buNone/>
            </a:pPr>
            <a:r>
              <a:rPr lang="en-US" sz="1300" b="1" spc="300" kern="0" dirty="0">
                <a:solidFill>
                  <a:schemeClr val="accent1"/>
                </a:solidFill>
              </a:rPr>
              <a:t>7.2 · ARQUITECTURA</a:t>
            </a:r>
            <a:endParaRPr lang="en-US" sz="1300" dirty="0"/>
          </a:p>
        </p:txBody>
      </p:sp>
      <p:sp>
        <p:nvSpPr>
          <p:cNvPr id="3" name="Text 0"/>
          <p:cNvSpPr/>
          <p:nvPr>
            <p:ph idx="101" type="title" hasCustomPrompt="1"/>
          </p:nvPr>
        </p:nvSpPr>
        <p:spPr>
          <a:xfrm>
            <a:off x="548640" y="713232"/>
            <a:ext cx="11064240" cy="777240"/>
          </a:xfrm>
          <a:prstGeom prst="rect">
            <a:avLst/>
          </a:prstGeom>
          <a:noFill/>
          <a:ln/>
        </p:spPr>
        <p:txBody>
          <a:bodyPr wrap="square" lIns="0" tIns="0" rIns="0" bIns="0" rtlCol="0" anchor="t"/>
          <a:lstStyle/>
          <a:p>
            <a:pPr algn="l" indent="0" marL="0">
              <a:buNone/>
            </a:pPr>
            <a:r>
              <a:rPr lang="en-US" sz="3600" dirty="0">
                <a:solidFill>
                  <a:schemeClr val="tx1"/>
                </a:solidFill>
              </a:rPr>
              <a:t>LA APP NUNCA TOCA LA BASE DE DATOS</a:t>
            </a:r>
            <a:endParaRPr lang="en-US" sz="3600" dirty="0"/>
          </a:p>
        </p:txBody>
      </p:sp>
      <p:sp>
        <p:nvSpPr>
          <p:cNvPr id="4" name="pieza-0"/>
          <p:cNvSpPr/>
          <p:nvPr/>
        </p:nvSpPr>
        <p:spPr>
          <a:xfrm>
            <a:off x="548640" y="1783080"/>
            <a:ext cx="3108960" cy="3657600"/>
          </a:xfrm>
          <a:prstGeom prst="roundRect">
            <a:avLst>
              <a:gd name="adj" fmla="val 3529"/>
            </a:avLst>
          </a:prstGeom>
          <a:solidFill>
            <a:schemeClr val="bg2"/>
          </a:solidFill>
          <a:ln/>
        </p:spPr>
      </p:sp>
      <p:sp>
        <p:nvSpPr>
          <p:cNvPr id="5" name="pieza-0-circulo"/>
          <p:cNvSpPr/>
          <p:nvPr/>
        </p:nvSpPr>
        <p:spPr>
          <a:xfrm>
            <a:off x="822960" y="2057400"/>
            <a:ext cx="685800" cy="685800"/>
          </a:xfrm>
          <a:prstGeom prst="ellipse">
            <a:avLst/>
          </a:prstGeom>
          <a:solidFill>
            <a:schemeClr val="accent1"/>
          </a:solidFill>
          <a:ln/>
        </p:spPr>
      </p:sp>
      <p:pic>
        <p:nvPicPr>
          <p:cNvPr id="6" name="pieza-0-icono" descr="preencoded.png">    </p:cNvPr>
          <p:cNvPicPr>
            <a:picLocks noChangeAspect="1"/>
          </p:cNvPicPr>
          <p:nvPr/>
        </p:nvPicPr>
        <p:blipFill>
          <a:blip r:embed="rId1"/>
          <a:stretch>
            <a:fillRect/>
          </a:stretch>
        </p:blipFill>
        <p:spPr>
          <a:xfrm>
            <a:off x="1001268" y="2235708"/>
            <a:ext cx="329184" cy="329184"/>
          </a:xfrm>
          <a:prstGeom prst="rect">
            <a:avLst/>
          </a:prstGeom>
        </p:spPr>
      </p:pic>
      <p:sp>
        <p:nvSpPr>
          <p:cNvPr id="7" name="Text 4"/>
          <p:cNvSpPr txBox="1"/>
          <p:nvPr/>
        </p:nvSpPr>
        <p:spPr>
          <a:xfrm>
            <a:off x="1645920" y="2176272"/>
            <a:ext cx="1828800" cy="457200"/>
          </a:xfrm>
          <a:prstGeom prst="rect">
            <a:avLst/>
          </a:prstGeom>
          <a:noFill/>
          <a:ln/>
        </p:spPr>
        <p:txBody>
          <a:bodyPr wrap="square" lIns="0" tIns="0" rIns="0" bIns="0" rtlCol="0" anchor="ctr"/>
          <a:lstStyle/>
          <a:p>
            <a:pPr indent="0" marL="0">
              <a:buNone/>
            </a:pPr>
            <a:r>
              <a:rPr lang="en-US" sz="2400" dirty="0">
                <a:solidFill>
                  <a:schemeClr val="tx1"/>
                </a:solidFill>
                <a:latin typeface="+mj-lt" pitchFamily="34" charset="0"/>
                <a:ea typeface="+mj-lt" pitchFamily="34" charset="-122"/>
                <a:cs typeface="+mj-lt" pitchFamily="34" charset="-120"/>
              </a:rPr>
              <a:t>APP ANDROID</a:t>
            </a:r>
            <a:endParaRPr lang="en-US" sz="2400" dirty="0"/>
          </a:p>
        </p:txBody>
      </p:sp>
      <p:sp>
        <p:nvSpPr>
          <p:cNvPr id="8" name="Text 5"/>
          <p:cNvSpPr txBox="1"/>
          <p:nvPr/>
        </p:nvSpPr>
        <p:spPr>
          <a:xfrm>
            <a:off x="822960" y="3017520"/>
            <a:ext cx="2606040" cy="2286000"/>
          </a:xfrm>
          <a:prstGeom prst="rect">
            <a:avLst/>
          </a:prstGeom>
          <a:noFill/>
          <a:ln/>
        </p:spPr>
        <p:txBody>
          <a:bodyPr wrap="square" lIns="0" tIns="0" rIns="0" bIns="0" rtlCol="0" anchor="t"/>
          <a:lstStyle/>
          <a:p>
            <a:pPr marL="203200" indent="-203200">
              <a:spcAft>
                <a:spcPts val="800"/>
              </a:spcAft>
              <a:buSzPct val="100000"/>
              <a:buChar char="•"/>
            </a:pPr>
            <a:r>
              <a:rPr lang="en-US" sz="1500" dirty="0">
                <a:solidFill>
                  <a:schemeClr val="tx1"/>
                </a:solidFill>
              </a:rPr>
              <a:t>Java 17 y vistas XML</a:t>
            </a:r>
            <a:endParaRPr lang="en-US" sz="1500" dirty="0"/>
          </a:p>
          <a:p>
            <a:pPr marL="203200" indent="-203200">
              <a:spcAft>
                <a:spcPts val="800"/>
              </a:spcAft>
              <a:buSzPct val="100000"/>
              <a:buChar char="•"/>
            </a:pPr>
            <a:r>
              <a:rPr lang="en-US" sz="1500" dirty="0">
                <a:solidFill>
                  <a:schemeClr val="tx1"/>
                </a:solidFill>
              </a:rPr>
              <a:t>Material 3</a:t>
            </a:r>
            <a:endParaRPr lang="en-US" sz="1500" dirty="0"/>
          </a:p>
          <a:p>
            <a:pPr marL="203200" indent="-203200">
              <a:spcAft>
                <a:spcPts val="800"/>
              </a:spcAft>
              <a:buSzPct val="100000"/>
              <a:buChar char="•"/>
            </a:pPr>
            <a:r>
              <a:rPr lang="en-US" sz="1500" dirty="0">
                <a:solidFill>
                  <a:schemeClr val="tx1"/>
                </a:solidFill>
              </a:rPr>
              <a:t>MVVM con LiveData</a:t>
            </a:r>
            <a:endParaRPr lang="en-US" sz="1500" dirty="0"/>
          </a:p>
          <a:p>
            <a:pPr marL="203200" indent="-203200">
              <a:spcAft>
                <a:spcPts val="800"/>
              </a:spcAft>
              <a:buSzPct val="100000"/>
              <a:buChar char="•"/>
            </a:pPr>
            <a:r>
              <a:rPr lang="en-US" sz="1500" dirty="0">
                <a:solidFill>
                  <a:schemeClr val="tx1"/>
                </a:solidFill>
              </a:rPr>
              <a:t>Red en un hilo aparte</a:t>
            </a:r>
            <a:endParaRPr lang="en-US" sz="1500" dirty="0"/>
          </a:p>
          <a:p>
            <a:pPr marL="203200" indent="-203200">
              <a:spcAft>
                <a:spcPts val="800"/>
              </a:spcAft>
              <a:buSzPct val="100000"/>
              <a:buChar char="•"/>
            </a:pPr>
            <a:r>
              <a:rPr lang="en-US" sz="1500" dirty="0">
                <a:solidFill>
                  <a:schemeClr val="tx1"/>
                </a:solidFill>
              </a:rPr>
              <a:t>Sesión cifrada con el Keystore</a:t>
            </a:r>
            <a:endParaRPr lang="en-US" sz="1500" dirty="0"/>
          </a:p>
        </p:txBody>
      </p:sp>
      <p:sp>
        <p:nvSpPr>
          <p:cNvPr id="9" name="pieza-1"/>
          <p:cNvSpPr/>
          <p:nvPr/>
        </p:nvSpPr>
        <p:spPr>
          <a:xfrm>
            <a:off x="4544568" y="1783080"/>
            <a:ext cx="3108960" cy="3657600"/>
          </a:xfrm>
          <a:prstGeom prst="roundRect">
            <a:avLst>
              <a:gd name="adj" fmla="val 3529"/>
            </a:avLst>
          </a:prstGeom>
          <a:solidFill>
            <a:schemeClr val="bg2"/>
          </a:solidFill>
          <a:ln/>
        </p:spPr>
      </p:sp>
      <p:sp>
        <p:nvSpPr>
          <p:cNvPr id="10" name="pieza-1-circulo"/>
          <p:cNvSpPr/>
          <p:nvPr/>
        </p:nvSpPr>
        <p:spPr>
          <a:xfrm>
            <a:off x="4818888" y="2057400"/>
            <a:ext cx="685800" cy="685800"/>
          </a:xfrm>
          <a:prstGeom prst="ellipse">
            <a:avLst/>
          </a:prstGeom>
          <a:solidFill>
            <a:schemeClr val="accent1"/>
          </a:solidFill>
          <a:ln/>
        </p:spPr>
      </p:sp>
      <p:pic>
        <p:nvPicPr>
          <p:cNvPr id="11" name="pieza-1-icono" descr="preencoded.png">    </p:cNvPr>
          <p:cNvPicPr>
            <a:picLocks noChangeAspect="1"/>
          </p:cNvPicPr>
          <p:nvPr/>
        </p:nvPicPr>
        <p:blipFill>
          <a:blip r:embed="rId2"/>
          <a:stretch>
            <a:fillRect/>
          </a:stretch>
        </p:blipFill>
        <p:spPr>
          <a:xfrm>
            <a:off x="4997196" y="2235708"/>
            <a:ext cx="329184" cy="329184"/>
          </a:xfrm>
          <a:prstGeom prst="rect">
            <a:avLst/>
          </a:prstGeom>
        </p:spPr>
      </p:pic>
      <p:sp>
        <p:nvSpPr>
          <p:cNvPr id="12" name="Text 8"/>
          <p:cNvSpPr txBox="1"/>
          <p:nvPr/>
        </p:nvSpPr>
        <p:spPr>
          <a:xfrm>
            <a:off x="5641848" y="2176272"/>
            <a:ext cx="1828800" cy="457200"/>
          </a:xfrm>
          <a:prstGeom prst="rect">
            <a:avLst/>
          </a:prstGeom>
          <a:noFill/>
          <a:ln/>
        </p:spPr>
        <p:txBody>
          <a:bodyPr wrap="square" lIns="0" tIns="0" rIns="0" bIns="0" rtlCol="0" anchor="ctr"/>
          <a:lstStyle/>
          <a:p>
            <a:pPr indent="0" marL="0">
              <a:buNone/>
            </a:pPr>
            <a:r>
              <a:rPr lang="en-US" sz="2400" dirty="0">
                <a:solidFill>
                  <a:schemeClr val="tx1"/>
                </a:solidFill>
                <a:latin typeface="+mj-lt" pitchFamily="34" charset="0"/>
                <a:ea typeface="+mj-lt" pitchFamily="34" charset="-122"/>
                <a:cs typeface="+mj-lt" pitchFamily="34" charset="-120"/>
              </a:rPr>
              <a:t>API REST</a:t>
            </a:r>
            <a:endParaRPr lang="en-US" sz="2400" dirty="0"/>
          </a:p>
        </p:txBody>
      </p:sp>
      <p:sp>
        <p:nvSpPr>
          <p:cNvPr id="13" name="Text 9"/>
          <p:cNvSpPr txBox="1"/>
          <p:nvPr/>
        </p:nvSpPr>
        <p:spPr>
          <a:xfrm>
            <a:off x="4818888" y="3017520"/>
            <a:ext cx="2606040" cy="2286000"/>
          </a:xfrm>
          <a:prstGeom prst="rect">
            <a:avLst/>
          </a:prstGeom>
          <a:noFill/>
          <a:ln/>
        </p:spPr>
        <p:txBody>
          <a:bodyPr wrap="square" lIns="0" tIns="0" rIns="0" bIns="0" rtlCol="0" anchor="t"/>
          <a:lstStyle/>
          <a:p>
            <a:pPr marL="203200" indent="-203200">
              <a:spcAft>
                <a:spcPts val="800"/>
              </a:spcAft>
              <a:buSzPct val="100000"/>
              <a:buChar char="•"/>
            </a:pPr>
            <a:r>
              <a:rPr lang="en-US" sz="1500" dirty="0">
                <a:solidFill>
                  <a:schemeClr val="tx1"/>
                </a:solidFill>
              </a:rPr>
              <a:t>Java 21 y HttpServer del JDK</a:t>
            </a:r>
            <a:endParaRPr lang="en-US" sz="1500" dirty="0"/>
          </a:p>
          <a:p>
            <a:pPr marL="203200" indent="-203200">
              <a:spcAft>
                <a:spcPts val="800"/>
              </a:spcAft>
              <a:buSzPct val="100000"/>
              <a:buChar char="•"/>
            </a:pPr>
            <a:r>
              <a:rPr lang="en-US" sz="1500" dirty="0">
                <a:solidFill>
                  <a:schemeClr val="tx1"/>
                </a:solidFill>
              </a:rPr>
              <a:t>Rutas y JSON escritos a mano</a:t>
            </a:r>
            <a:endParaRPr lang="en-US" sz="1500" dirty="0"/>
          </a:p>
          <a:p>
            <a:pPr marL="203200" indent="-203200">
              <a:spcAft>
                <a:spcPts val="800"/>
              </a:spcAft>
              <a:buSzPct val="100000"/>
              <a:buChar char="•"/>
            </a:pPr>
            <a:r>
              <a:rPr lang="en-US" sz="1500" dirty="0">
                <a:solidFill>
                  <a:schemeClr val="tx1"/>
                </a:solidFill>
              </a:rPr>
              <a:t>23 rutas y 8 hilos</a:t>
            </a:r>
            <a:endParaRPr lang="en-US" sz="1500" dirty="0"/>
          </a:p>
          <a:p>
            <a:pPr marL="203200" indent="-203200">
              <a:spcAft>
                <a:spcPts val="800"/>
              </a:spcAft>
              <a:buSzPct val="100000"/>
              <a:buChar char="•"/>
            </a:pPr>
            <a:r>
              <a:rPr lang="en-US" sz="1500" dirty="0">
                <a:solidFill>
                  <a:schemeClr val="tx1"/>
                </a:solidFill>
              </a:rPr>
              <a:t>Capas http, seguridad, servicio y repositorio</a:t>
            </a:r>
            <a:endParaRPr lang="en-US" sz="1500" dirty="0"/>
          </a:p>
        </p:txBody>
      </p:sp>
      <p:sp>
        <p:nvSpPr>
          <p:cNvPr id="14" name="pieza-2"/>
          <p:cNvSpPr/>
          <p:nvPr/>
        </p:nvSpPr>
        <p:spPr>
          <a:xfrm>
            <a:off x="8531352" y="1783080"/>
            <a:ext cx="3108960" cy="3657600"/>
          </a:xfrm>
          <a:prstGeom prst="roundRect">
            <a:avLst>
              <a:gd name="adj" fmla="val 3529"/>
            </a:avLst>
          </a:prstGeom>
          <a:solidFill>
            <a:schemeClr val="bg2"/>
          </a:solidFill>
          <a:ln/>
        </p:spPr>
      </p:sp>
      <p:sp>
        <p:nvSpPr>
          <p:cNvPr id="15" name="pieza-2-circulo"/>
          <p:cNvSpPr/>
          <p:nvPr/>
        </p:nvSpPr>
        <p:spPr>
          <a:xfrm>
            <a:off x="8805672" y="2057400"/>
            <a:ext cx="685800" cy="685800"/>
          </a:xfrm>
          <a:prstGeom prst="ellipse">
            <a:avLst/>
          </a:prstGeom>
          <a:solidFill>
            <a:schemeClr val="accent1"/>
          </a:solidFill>
          <a:ln/>
        </p:spPr>
      </p:sp>
      <p:pic>
        <p:nvPicPr>
          <p:cNvPr id="16" name="pieza-2-icono" descr="preencoded.png">    </p:cNvPr>
          <p:cNvPicPr>
            <a:picLocks noChangeAspect="1"/>
          </p:cNvPicPr>
          <p:nvPr/>
        </p:nvPicPr>
        <p:blipFill>
          <a:blip r:embed="rId3"/>
          <a:stretch>
            <a:fillRect/>
          </a:stretch>
        </p:blipFill>
        <p:spPr>
          <a:xfrm>
            <a:off x="8983980" y="2235708"/>
            <a:ext cx="329184" cy="329184"/>
          </a:xfrm>
          <a:prstGeom prst="rect">
            <a:avLst/>
          </a:prstGeom>
        </p:spPr>
      </p:pic>
      <p:sp>
        <p:nvSpPr>
          <p:cNvPr id="17" name="Text 12"/>
          <p:cNvSpPr txBox="1"/>
          <p:nvPr/>
        </p:nvSpPr>
        <p:spPr>
          <a:xfrm>
            <a:off x="9628632" y="2176272"/>
            <a:ext cx="1828800" cy="457200"/>
          </a:xfrm>
          <a:prstGeom prst="rect">
            <a:avLst/>
          </a:prstGeom>
          <a:noFill/>
          <a:ln/>
        </p:spPr>
        <p:txBody>
          <a:bodyPr wrap="square" lIns="0" tIns="0" rIns="0" bIns="0" rtlCol="0" anchor="ctr"/>
          <a:lstStyle/>
          <a:p>
            <a:pPr indent="0" marL="0">
              <a:buNone/>
            </a:pPr>
            <a:r>
              <a:rPr lang="en-US" sz="2400" dirty="0">
                <a:solidFill>
                  <a:schemeClr val="tx1"/>
                </a:solidFill>
                <a:latin typeface="+mj-lt" pitchFamily="34" charset="0"/>
                <a:ea typeface="+mj-lt" pitchFamily="34" charset="-122"/>
                <a:cs typeface="+mj-lt" pitchFamily="34" charset="-120"/>
              </a:rPr>
              <a:t>MYSQL 9.7</a:t>
            </a:r>
            <a:endParaRPr lang="en-US" sz="2400" dirty="0"/>
          </a:p>
        </p:txBody>
      </p:sp>
      <p:sp>
        <p:nvSpPr>
          <p:cNvPr id="18" name="Text 13"/>
          <p:cNvSpPr txBox="1"/>
          <p:nvPr/>
        </p:nvSpPr>
        <p:spPr>
          <a:xfrm>
            <a:off x="8805672" y="3017520"/>
            <a:ext cx="2606040" cy="2286000"/>
          </a:xfrm>
          <a:prstGeom prst="rect">
            <a:avLst/>
          </a:prstGeom>
          <a:noFill/>
          <a:ln/>
        </p:spPr>
        <p:txBody>
          <a:bodyPr wrap="square" lIns="0" tIns="0" rIns="0" bIns="0" rtlCol="0" anchor="t"/>
          <a:lstStyle/>
          <a:p>
            <a:pPr marL="203200" indent="-203200">
              <a:spcAft>
                <a:spcPts val="800"/>
              </a:spcAft>
              <a:buSzPct val="100000"/>
              <a:buChar char="•"/>
            </a:pPr>
            <a:r>
              <a:rPr lang="en-US" sz="1500" dirty="0">
                <a:solidFill>
                  <a:schemeClr val="tx1"/>
                </a:solidFill>
              </a:rPr>
              <a:t>5 tablas</a:t>
            </a:r>
            <a:endParaRPr lang="en-US" sz="1500" dirty="0"/>
          </a:p>
          <a:p>
            <a:pPr marL="203200" indent="-203200">
              <a:spcAft>
                <a:spcPts val="800"/>
              </a:spcAft>
              <a:buSzPct val="100000"/>
              <a:buChar char="•"/>
            </a:pPr>
            <a:r>
              <a:rPr lang="en-US" sz="1500" dirty="0">
                <a:solidFill>
                  <a:schemeClr val="tx1"/>
                </a:solidFill>
              </a:rPr>
              <a:t>Índice único contra dobles reservas</a:t>
            </a:r>
            <a:endParaRPr lang="en-US" sz="1500" dirty="0"/>
          </a:p>
          <a:p>
            <a:pPr marL="203200" indent="-203200">
              <a:spcAft>
                <a:spcPts val="800"/>
              </a:spcAft>
              <a:buSzPct val="100000"/>
              <a:buChar char="•"/>
            </a:pPr>
            <a:r>
              <a:rPr lang="en-US" sz="1500" dirty="0">
                <a:solidFill>
                  <a:schemeClr val="tx1"/>
                </a:solidFill>
              </a:rPr>
              <a:t>Usuario de la API sin permisos sobre las tablas</a:t>
            </a:r>
            <a:endParaRPr lang="en-US" sz="1500" dirty="0"/>
          </a:p>
          <a:p>
            <a:pPr marL="203200" indent="-203200">
              <a:spcAft>
                <a:spcPts val="800"/>
              </a:spcAft>
              <a:buSzPct val="100000"/>
              <a:buChar char="•"/>
            </a:pPr>
            <a:r>
              <a:rPr lang="en-US" sz="1500" dirty="0">
                <a:solidFill>
                  <a:schemeClr val="tx1"/>
                </a:solidFill>
              </a:rPr>
              <a:t>Escucha solo en 127.0.0.1</a:t>
            </a:r>
            <a:endParaRPr lang="en-US" sz="1500" dirty="0"/>
          </a:p>
        </p:txBody>
      </p:sp>
      <p:sp>
        <p:nvSpPr>
          <p:cNvPr id="19" name="enlace-0"/>
          <p:cNvSpPr/>
          <p:nvPr/>
        </p:nvSpPr>
        <p:spPr>
          <a:xfrm>
            <a:off x="3749040" y="3611880"/>
            <a:ext cx="704088" cy="0"/>
          </a:xfrm>
          <a:prstGeom prst="line">
            <a:avLst/>
          </a:prstGeom>
          <a:noFill/>
          <a:ln w="31750">
            <a:solidFill>
              <a:schemeClr val="accent1"/>
            </a:solidFill>
            <a:prstDash val="solid"/>
            <a:headEnd type="triangle"/>
            <a:tailEnd type="triangle"/>
          </a:ln>
        </p:spPr>
      </p:sp>
      <p:sp>
        <p:nvSpPr>
          <p:cNvPr id="20" name="Text 15"/>
          <p:cNvSpPr txBox="1"/>
          <p:nvPr/>
        </p:nvSpPr>
        <p:spPr>
          <a:xfrm>
            <a:off x="3429000" y="3090672"/>
            <a:ext cx="1344168" cy="274320"/>
          </a:xfrm>
          <a:prstGeom prst="rect">
            <a:avLst/>
          </a:prstGeom>
          <a:noFill/>
          <a:ln/>
        </p:spPr>
        <p:txBody>
          <a:bodyPr wrap="square" lIns="0" tIns="0" rIns="0" bIns="0" rtlCol="0" anchor="t"/>
          <a:lstStyle/>
          <a:p>
            <a:pPr algn="ctr" indent="0" marL="0">
              <a:buNone/>
            </a:pPr>
            <a:r>
              <a:rPr lang="en-US" sz="1100" b="1" dirty="0">
                <a:solidFill>
                  <a:schemeClr val="tx2"/>
                </a:solidFill>
              </a:rPr>
              <a:t>HTTP + JSON</a:t>
            </a:r>
            <a:endParaRPr lang="en-US" sz="1100" dirty="0"/>
          </a:p>
        </p:txBody>
      </p:sp>
      <p:sp>
        <p:nvSpPr>
          <p:cNvPr id="21" name="Text 16"/>
          <p:cNvSpPr txBox="1"/>
          <p:nvPr/>
        </p:nvSpPr>
        <p:spPr>
          <a:xfrm>
            <a:off x="3429000" y="3721608"/>
            <a:ext cx="1344168" cy="274320"/>
          </a:xfrm>
          <a:prstGeom prst="rect">
            <a:avLst/>
          </a:prstGeom>
          <a:noFill/>
          <a:ln/>
        </p:spPr>
        <p:txBody>
          <a:bodyPr wrap="square" lIns="0" tIns="0" rIns="0" bIns="0" rtlCol="0" anchor="t"/>
          <a:lstStyle/>
          <a:p>
            <a:pPr algn="ctr" indent="0" marL="0">
              <a:buNone/>
            </a:pPr>
            <a:r>
              <a:rPr lang="en-US" sz="1000" dirty="0">
                <a:solidFill>
                  <a:schemeClr val="tx2"/>
                </a:solidFill>
              </a:rPr>
              <a:t>token JWT</a:t>
            </a:r>
            <a:endParaRPr lang="en-US" sz="1000" dirty="0"/>
          </a:p>
        </p:txBody>
      </p:sp>
      <p:sp>
        <p:nvSpPr>
          <p:cNvPr id="22" name="enlace-1"/>
          <p:cNvSpPr/>
          <p:nvPr/>
        </p:nvSpPr>
        <p:spPr>
          <a:xfrm>
            <a:off x="7744968" y="3611880"/>
            <a:ext cx="694944" cy="0"/>
          </a:xfrm>
          <a:prstGeom prst="line">
            <a:avLst/>
          </a:prstGeom>
          <a:noFill/>
          <a:ln w="31750">
            <a:solidFill>
              <a:schemeClr val="accent1"/>
            </a:solidFill>
            <a:prstDash val="solid"/>
            <a:headEnd type="triangle"/>
            <a:tailEnd type="triangle"/>
          </a:ln>
        </p:spPr>
      </p:sp>
      <p:sp>
        <p:nvSpPr>
          <p:cNvPr id="23" name="Text 18"/>
          <p:cNvSpPr txBox="1"/>
          <p:nvPr/>
        </p:nvSpPr>
        <p:spPr>
          <a:xfrm>
            <a:off x="7424928" y="3090672"/>
            <a:ext cx="1335024" cy="274320"/>
          </a:xfrm>
          <a:prstGeom prst="rect">
            <a:avLst/>
          </a:prstGeom>
          <a:noFill/>
          <a:ln/>
        </p:spPr>
        <p:txBody>
          <a:bodyPr wrap="square" lIns="0" tIns="0" rIns="0" bIns="0" rtlCol="0" anchor="t"/>
          <a:lstStyle/>
          <a:p>
            <a:pPr algn="ctr" indent="0" marL="0">
              <a:buNone/>
            </a:pPr>
            <a:r>
              <a:rPr lang="en-US" sz="1100" b="1" dirty="0">
                <a:solidFill>
                  <a:schemeClr val="tx2"/>
                </a:solidFill>
              </a:rPr>
              <a:t>JDBC</a:t>
            </a:r>
            <a:endParaRPr lang="en-US" sz="1100" dirty="0"/>
          </a:p>
        </p:txBody>
      </p:sp>
      <p:sp>
        <p:nvSpPr>
          <p:cNvPr id="24" name="Text 19"/>
          <p:cNvSpPr txBox="1"/>
          <p:nvPr/>
        </p:nvSpPr>
        <p:spPr>
          <a:xfrm>
            <a:off x="7424928" y="3721608"/>
            <a:ext cx="1335024" cy="274320"/>
          </a:xfrm>
          <a:prstGeom prst="rect">
            <a:avLst/>
          </a:prstGeom>
          <a:noFill/>
          <a:ln/>
        </p:spPr>
        <p:txBody>
          <a:bodyPr wrap="square" lIns="0" tIns="0" rIns="0" bIns="0" rtlCol="0" anchor="t"/>
          <a:lstStyle/>
          <a:p>
            <a:pPr algn="ctr" indent="0" marL="0">
              <a:buNone/>
            </a:pPr>
            <a:r>
              <a:rPr lang="en-US" sz="1000" dirty="0">
                <a:solidFill>
                  <a:schemeClr val="tx2"/>
                </a:solidFill>
              </a:rPr>
              <a:t>PreparedStatement</a:t>
            </a:r>
            <a:endParaRPr lang="en-US" sz="1000" dirty="0"/>
          </a:p>
        </p:txBody>
      </p:sp>
      <p:sp>
        <p:nvSpPr>
          <p:cNvPr id="25" name="Text 20"/>
          <p:cNvSpPr txBox="1"/>
          <p:nvPr/>
        </p:nvSpPr>
        <p:spPr>
          <a:xfrm>
            <a:off x="548640" y="5669280"/>
            <a:ext cx="11091672" cy="365760"/>
          </a:xfrm>
          <a:prstGeom prst="rect">
            <a:avLst/>
          </a:prstGeom>
          <a:noFill/>
          <a:ln/>
        </p:spPr>
        <p:txBody>
          <a:bodyPr wrap="square" lIns="0" tIns="0" rIns="0" bIns="0" rtlCol="0" anchor="t"/>
          <a:lstStyle/>
          <a:p>
            <a:pPr indent="0" marL="0">
              <a:buNone/>
            </a:pPr>
            <a:r>
              <a:rPr lang="en-US" sz="1500" i="1" dirty="0">
                <a:solidFill>
                  <a:schemeClr val="tx2"/>
                </a:solidFill>
              </a:rPr>
              <a:t>Solo la API habla con MySQL, así las credenciales de la base nunca viajan dentro del APK.</a:t>
            </a:r>
            <a:endParaRPr lang="en-US" sz="1500" dirty="0"/>
          </a:p>
        </p:txBody>
      </p:sp>
      <p:sp>
        <p:nvSpPr>
          <p:cNvPr id="25" name="Slide Number Placeholder 0"/>
          <p:cNvSpPr>
            <a:spLocks noGrp="1"/>
          </p:cNvSpPr>
          <p:nvPr>
            <p:ph type="sldNum" sz="quarter" idx="4294967295"/>
          </p:nvPr>
        </p:nvSpPr>
        <p:spPr>
          <a:xfrm>
            <a:off x="11064240"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11064240" cy="320040"/>
          </a:xfrm>
          <a:prstGeom prst="rect">
            <a:avLst/>
          </a:prstGeom>
          <a:noFill/>
          <a:ln/>
        </p:spPr>
        <p:txBody>
          <a:bodyPr wrap="square" lIns="0" tIns="0" rIns="0" bIns="0" rtlCol="0" anchor="t"/>
          <a:lstStyle/>
          <a:p>
            <a:pPr indent="0" marL="0">
              <a:buNone/>
            </a:pPr>
            <a:r>
              <a:rPr lang="en-US" sz="1300" b="1" spc="300" kern="0" dirty="0">
                <a:solidFill>
                  <a:schemeClr val="accent1"/>
                </a:solidFill>
              </a:rPr>
              <a:t>7.4 · SEGURIDAD</a:t>
            </a:r>
            <a:endParaRPr lang="en-US" sz="1300" dirty="0"/>
          </a:p>
        </p:txBody>
      </p:sp>
      <p:sp>
        <p:nvSpPr>
          <p:cNvPr id="3" name="Text 0"/>
          <p:cNvSpPr/>
          <p:nvPr>
            <p:ph idx="101" type="title" hasCustomPrompt="1"/>
          </p:nvPr>
        </p:nvSpPr>
        <p:spPr>
          <a:xfrm>
            <a:off x="548640" y="713232"/>
            <a:ext cx="11064240" cy="777240"/>
          </a:xfrm>
          <a:prstGeom prst="rect">
            <a:avLst/>
          </a:prstGeom>
          <a:noFill/>
          <a:ln/>
        </p:spPr>
        <p:txBody>
          <a:bodyPr wrap="square" lIns="0" tIns="0" rIns="0" bIns="0" rtlCol="0" anchor="t"/>
          <a:lstStyle/>
          <a:p>
            <a:pPr algn="l" indent="0" marL="0">
              <a:buNone/>
            </a:pPr>
            <a:r>
              <a:rPr lang="en-US" sz="3600" dirty="0">
                <a:solidFill>
                  <a:schemeClr val="tx1"/>
                </a:solidFill>
              </a:rPr>
              <a:t>SEGURIDAD REVISADA CON OWASP MASVS</a:t>
            </a:r>
            <a:endParaRPr lang="en-US" sz="3600" dirty="0"/>
          </a:p>
        </p:txBody>
      </p:sp>
      <p:sp>
        <p:nvSpPr>
          <p:cNvPr id="4" name="medida-0"/>
          <p:cNvSpPr/>
          <p:nvPr/>
        </p:nvSpPr>
        <p:spPr>
          <a:xfrm>
            <a:off x="548640" y="1737360"/>
            <a:ext cx="3514344" cy="1965960"/>
          </a:xfrm>
          <a:prstGeom prst="roundRect">
            <a:avLst>
              <a:gd name="adj" fmla="val 5581"/>
            </a:avLst>
          </a:prstGeom>
          <a:solidFill>
            <a:schemeClr val="bg2"/>
          </a:solidFill>
          <a:ln/>
        </p:spPr>
      </p:sp>
      <p:sp>
        <p:nvSpPr>
          <p:cNvPr id="5" name="medida-0-circulo"/>
          <p:cNvSpPr/>
          <p:nvPr/>
        </p:nvSpPr>
        <p:spPr>
          <a:xfrm>
            <a:off x="822960" y="2011680"/>
            <a:ext cx="594360" cy="594360"/>
          </a:xfrm>
          <a:prstGeom prst="ellipse">
            <a:avLst/>
          </a:prstGeom>
          <a:solidFill>
            <a:schemeClr val="accent1"/>
          </a:solidFill>
          <a:ln/>
        </p:spPr>
      </p:sp>
      <p:pic>
        <p:nvPicPr>
          <p:cNvPr id="6" name="medida-0-icono" descr="preencoded.png">    </p:cNvPr>
          <p:cNvPicPr>
            <a:picLocks noChangeAspect="1"/>
          </p:cNvPicPr>
          <p:nvPr/>
        </p:nvPicPr>
        <p:blipFill>
          <a:blip r:embed="rId1"/>
          <a:stretch>
            <a:fillRect/>
          </a:stretch>
        </p:blipFill>
        <p:spPr>
          <a:xfrm>
            <a:off x="977494" y="2166214"/>
            <a:ext cx="285293" cy="285293"/>
          </a:xfrm>
          <a:prstGeom prst="rect">
            <a:avLst/>
          </a:prstGeom>
        </p:spPr>
      </p:pic>
      <p:sp>
        <p:nvSpPr>
          <p:cNvPr id="7" name="Text 4"/>
          <p:cNvSpPr txBox="1"/>
          <p:nvPr/>
        </p:nvSpPr>
        <p:spPr>
          <a:xfrm>
            <a:off x="1600200" y="2103120"/>
            <a:ext cx="2234184" cy="411480"/>
          </a:xfrm>
          <a:prstGeom prst="rect">
            <a:avLst/>
          </a:prstGeom>
          <a:noFill/>
          <a:ln/>
        </p:spPr>
        <p:txBody>
          <a:bodyPr wrap="square" lIns="0" tIns="0" rIns="0" bIns="0" rtlCol="0" anchor="ctr"/>
          <a:lstStyle/>
          <a:p>
            <a:pPr indent="0" marL="0">
              <a:buNone/>
            </a:pPr>
            <a:r>
              <a:rPr lang="en-US" sz="1800" b="1" dirty="0">
                <a:solidFill>
                  <a:schemeClr val="tx1"/>
                </a:solidFill>
              </a:rPr>
              <a:t>Contraseñas</a:t>
            </a:r>
            <a:endParaRPr lang="en-US" sz="1800" dirty="0"/>
          </a:p>
        </p:txBody>
      </p:sp>
      <p:sp>
        <p:nvSpPr>
          <p:cNvPr id="8" name="Text 5"/>
          <p:cNvSpPr txBox="1"/>
          <p:nvPr/>
        </p:nvSpPr>
        <p:spPr>
          <a:xfrm>
            <a:off x="822960" y="2761488"/>
            <a:ext cx="2965704" cy="822960"/>
          </a:xfrm>
          <a:prstGeom prst="rect">
            <a:avLst/>
          </a:prstGeom>
          <a:noFill/>
          <a:ln/>
        </p:spPr>
        <p:txBody>
          <a:bodyPr wrap="square" lIns="0" tIns="0" rIns="0" bIns="0" rtlCol="0" anchor="t"/>
          <a:lstStyle/>
          <a:p>
            <a:pPr indent="0" marL="0">
              <a:buNone/>
            </a:pPr>
            <a:r>
              <a:rPr lang="en-US" sz="1400" dirty="0">
                <a:solidFill>
                  <a:schemeClr val="tx2"/>
                </a:solidFill>
              </a:rPr>
              <a:t>PBKDF2-HMAC-SHA256 con 600.000 iteraciones y una sal de 16 bytes</a:t>
            </a:r>
            <a:endParaRPr lang="en-US" sz="1400" dirty="0"/>
          </a:p>
        </p:txBody>
      </p:sp>
      <p:sp>
        <p:nvSpPr>
          <p:cNvPr id="9" name="medida-1"/>
          <p:cNvSpPr/>
          <p:nvPr/>
        </p:nvSpPr>
        <p:spPr>
          <a:xfrm>
            <a:off x="4337304" y="1737360"/>
            <a:ext cx="3514344" cy="1965960"/>
          </a:xfrm>
          <a:prstGeom prst="roundRect">
            <a:avLst>
              <a:gd name="adj" fmla="val 5581"/>
            </a:avLst>
          </a:prstGeom>
          <a:solidFill>
            <a:schemeClr val="bg2"/>
          </a:solidFill>
          <a:ln/>
        </p:spPr>
      </p:sp>
      <p:sp>
        <p:nvSpPr>
          <p:cNvPr id="10" name="medida-1-circulo"/>
          <p:cNvSpPr/>
          <p:nvPr/>
        </p:nvSpPr>
        <p:spPr>
          <a:xfrm>
            <a:off x="4611624" y="2011680"/>
            <a:ext cx="594360" cy="594360"/>
          </a:xfrm>
          <a:prstGeom prst="ellipse">
            <a:avLst/>
          </a:prstGeom>
          <a:solidFill>
            <a:schemeClr val="accent1"/>
          </a:solidFill>
          <a:ln/>
        </p:spPr>
      </p:sp>
      <p:pic>
        <p:nvPicPr>
          <p:cNvPr id="11" name="medida-1-icono" descr="preencoded.png">    </p:cNvPr>
          <p:cNvPicPr>
            <a:picLocks noChangeAspect="1"/>
          </p:cNvPicPr>
          <p:nvPr/>
        </p:nvPicPr>
        <p:blipFill>
          <a:blip r:embed="rId2"/>
          <a:stretch>
            <a:fillRect/>
          </a:stretch>
        </p:blipFill>
        <p:spPr>
          <a:xfrm>
            <a:off x="4766158" y="2166214"/>
            <a:ext cx="285293" cy="285293"/>
          </a:xfrm>
          <a:prstGeom prst="rect">
            <a:avLst/>
          </a:prstGeom>
        </p:spPr>
      </p:pic>
      <p:sp>
        <p:nvSpPr>
          <p:cNvPr id="12" name="Text 8"/>
          <p:cNvSpPr txBox="1"/>
          <p:nvPr/>
        </p:nvSpPr>
        <p:spPr>
          <a:xfrm>
            <a:off x="5388864" y="2103120"/>
            <a:ext cx="2234184" cy="411480"/>
          </a:xfrm>
          <a:prstGeom prst="rect">
            <a:avLst/>
          </a:prstGeom>
          <a:noFill/>
          <a:ln/>
        </p:spPr>
        <p:txBody>
          <a:bodyPr wrap="square" lIns="0" tIns="0" rIns="0" bIns="0" rtlCol="0" anchor="ctr"/>
          <a:lstStyle/>
          <a:p>
            <a:pPr indent="0" marL="0">
              <a:buNone/>
            </a:pPr>
            <a:r>
              <a:rPr lang="en-US" sz="1800" b="1" dirty="0">
                <a:solidFill>
                  <a:schemeClr val="tx1"/>
                </a:solidFill>
              </a:rPr>
              <a:t>Token de sesión</a:t>
            </a:r>
            <a:endParaRPr lang="en-US" sz="1800" dirty="0"/>
          </a:p>
        </p:txBody>
      </p:sp>
      <p:sp>
        <p:nvSpPr>
          <p:cNvPr id="13" name="Text 9"/>
          <p:cNvSpPr txBox="1"/>
          <p:nvPr/>
        </p:nvSpPr>
        <p:spPr>
          <a:xfrm>
            <a:off x="4611624" y="2761488"/>
            <a:ext cx="2965704" cy="822960"/>
          </a:xfrm>
          <a:prstGeom prst="rect">
            <a:avLst/>
          </a:prstGeom>
          <a:noFill/>
          <a:ln/>
        </p:spPr>
        <p:txBody>
          <a:bodyPr wrap="square" lIns="0" tIns="0" rIns="0" bIns="0" rtlCol="0" anchor="t"/>
          <a:lstStyle/>
          <a:p>
            <a:pPr indent="0" marL="0">
              <a:buNone/>
            </a:pPr>
            <a:r>
              <a:rPr lang="en-US" sz="1400" dirty="0">
                <a:solidFill>
                  <a:schemeClr val="tx2"/>
                </a:solidFill>
              </a:rPr>
              <a:t>JWT HS256 firmado a mano con una clave de 32 bytes o más, válido 7 días</a:t>
            </a:r>
            <a:endParaRPr lang="en-US" sz="1400" dirty="0"/>
          </a:p>
        </p:txBody>
      </p:sp>
      <p:sp>
        <p:nvSpPr>
          <p:cNvPr id="14" name="medida-2"/>
          <p:cNvSpPr/>
          <p:nvPr/>
        </p:nvSpPr>
        <p:spPr>
          <a:xfrm>
            <a:off x="8125968" y="1737360"/>
            <a:ext cx="3514344" cy="1965960"/>
          </a:xfrm>
          <a:prstGeom prst="roundRect">
            <a:avLst>
              <a:gd name="adj" fmla="val 5581"/>
            </a:avLst>
          </a:prstGeom>
          <a:solidFill>
            <a:schemeClr val="bg2"/>
          </a:solidFill>
          <a:ln/>
        </p:spPr>
      </p:sp>
      <p:sp>
        <p:nvSpPr>
          <p:cNvPr id="15" name="medida-2-circulo"/>
          <p:cNvSpPr/>
          <p:nvPr/>
        </p:nvSpPr>
        <p:spPr>
          <a:xfrm>
            <a:off x="8400288" y="2011680"/>
            <a:ext cx="594360" cy="594360"/>
          </a:xfrm>
          <a:prstGeom prst="ellipse">
            <a:avLst/>
          </a:prstGeom>
          <a:solidFill>
            <a:schemeClr val="accent1"/>
          </a:solidFill>
          <a:ln/>
        </p:spPr>
      </p:sp>
      <p:pic>
        <p:nvPicPr>
          <p:cNvPr id="16" name="medida-2-icono" descr="preencoded.png">    </p:cNvPr>
          <p:cNvPicPr>
            <a:picLocks noChangeAspect="1"/>
          </p:cNvPicPr>
          <p:nvPr/>
        </p:nvPicPr>
        <p:blipFill>
          <a:blip r:embed="rId3"/>
          <a:stretch>
            <a:fillRect/>
          </a:stretch>
        </p:blipFill>
        <p:spPr>
          <a:xfrm>
            <a:off x="8554822" y="2166214"/>
            <a:ext cx="285293" cy="285293"/>
          </a:xfrm>
          <a:prstGeom prst="rect">
            <a:avLst/>
          </a:prstGeom>
        </p:spPr>
      </p:pic>
      <p:sp>
        <p:nvSpPr>
          <p:cNvPr id="17" name="Text 12"/>
          <p:cNvSpPr txBox="1"/>
          <p:nvPr/>
        </p:nvSpPr>
        <p:spPr>
          <a:xfrm>
            <a:off x="9177528" y="2103120"/>
            <a:ext cx="2234184" cy="411480"/>
          </a:xfrm>
          <a:prstGeom prst="rect">
            <a:avLst/>
          </a:prstGeom>
          <a:noFill/>
          <a:ln/>
        </p:spPr>
        <p:txBody>
          <a:bodyPr wrap="square" lIns="0" tIns="0" rIns="0" bIns="0" rtlCol="0" anchor="ctr"/>
          <a:lstStyle/>
          <a:p>
            <a:pPr indent="0" marL="0">
              <a:buNone/>
            </a:pPr>
            <a:r>
              <a:rPr lang="en-US" sz="1800" b="1" dirty="0">
                <a:solidFill>
                  <a:schemeClr val="tx1"/>
                </a:solidFill>
              </a:rPr>
              <a:t>Sesión en el móvil</a:t>
            </a:r>
            <a:endParaRPr lang="en-US" sz="1800" dirty="0"/>
          </a:p>
        </p:txBody>
      </p:sp>
      <p:sp>
        <p:nvSpPr>
          <p:cNvPr id="18" name="Text 13"/>
          <p:cNvSpPr txBox="1"/>
          <p:nvPr/>
        </p:nvSpPr>
        <p:spPr>
          <a:xfrm>
            <a:off x="8400288" y="2761488"/>
            <a:ext cx="2965704" cy="822960"/>
          </a:xfrm>
          <a:prstGeom prst="rect">
            <a:avLst/>
          </a:prstGeom>
          <a:noFill/>
          <a:ln/>
        </p:spPr>
        <p:txBody>
          <a:bodyPr wrap="square" lIns="0" tIns="0" rIns="0" bIns="0" rtlCol="0" anchor="t"/>
          <a:lstStyle/>
          <a:p>
            <a:pPr indent="0" marL="0">
              <a:buNone/>
            </a:pPr>
            <a:r>
              <a:rPr lang="en-US" sz="1400" dirty="0">
                <a:solidFill>
                  <a:schemeClr val="tx2"/>
                </a:solidFill>
              </a:rPr>
              <a:t>Cifrada con AES-GCM y una clave que vive en el Android Keystore</a:t>
            </a:r>
            <a:endParaRPr lang="en-US" sz="1400" dirty="0"/>
          </a:p>
        </p:txBody>
      </p:sp>
      <p:sp>
        <p:nvSpPr>
          <p:cNvPr id="19" name="medida-3"/>
          <p:cNvSpPr/>
          <p:nvPr/>
        </p:nvSpPr>
        <p:spPr>
          <a:xfrm>
            <a:off x="548640" y="3977640"/>
            <a:ext cx="3514344" cy="1965960"/>
          </a:xfrm>
          <a:prstGeom prst="roundRect">
            <a:avLst>
              <a:gd name="adj" fmla="val 5581"/>
            </a:avLst>
          </a:prstGeom>
          <a:solidFill>
            <a:schemeClr val="bg2"/>
          </a:solidFill>
          <a:ln/>
        </p:spPr>
      </p:sp>
      <p:sp>
        <p:nvSpPr>
          <p:cNvPr id="20" name="medida-3-circulo"/>
          <p:cNvSpPr/>
          <p:nvPr/>
        </p:nvSpPr>
        <p:spPr>
          <a:xfrm>
            <a:off x="822960" y="4251960"/>
            <a:ext cx="594360" cy="594360"/>
          </a:xfrm>
          <a:prstGeom prst="ellipse">
            <a:avLst/>
          </a:prstGeom>
          <a:solidFill>
            <a:schemeClr val="accent1"/>
          </a:solidFill>
          <a:ln/>
        </p:spPr>
      </p:sp>
      <p:pic>
        <p:nvPicPr>
          <p:cNvPr id="21" name="medida-3-icono" descr="preencoded.png">    </p:cNvPr>
          <p:cNvPicPr>
            <a:picLocks noChangeAspect="1"/>
          </p:cNvPicPr>
          <p:nvPr/>
        </p:nvPicPr>
        <p:blipFill>
          <a:blip r:embed="rId4"/>
          <a:stretch>
            <a:fillRect/>
          </a:stretch>
        </p:blipFill>
        <p:spPr>
          <a:xfrm>
            <a:off x="977494" y="4406494"/>
            <a:ext cx="285293" cy="285293"/>
          </a:xfrm>
          <a:prstGeom prst="rect">
            <a:avLst/>
          </a:prstGeom>
        </p:spPr>
      </p:pic>
      <p:sp>
        <p:nvSpPr>
          <p:cNvPr id="22" name="Text 16"/>
          <p:cNvSpPr txBox="1"/>
          <p:nvPr/>
        </p:nvSpPr>
        <p:spPr>
          <a:xfrm>
            <a:off x="1600200" y="4343400"/>
            <a:ext cx="2234184" cy="411480"/>
          </a:xfrm>
          <a:prstGeom prst="rect">
            <a:avLst/>
          </a:prstGeom>
          <a:noFill/>
          <a:ln/>
        </p:spPr>
        <p:txBody>
          <a:bodyPr wrap="square" lIns="0" tIns="0" rIns="0" bIns="0" rtlCol="0" anchor="ctr"/>
          <a:lstStyle/>
          <a:p>
            <a:pPr indent="0" marL="0">
              <a:buNone/>
            </a:pPr>
            <a:r>
              <a:rPr lang="en-US" sz="1800" b="1" dirty="0">
                <a:solidFill>
                  <a:schemeClr val="tx1"/>
                </a:solidFill>
              </a:rPr>
              <a:t>Intentos de acceso</a:t>
            </a:r>
            <a:endParaRPr lang="en-US" sz="1800" dirty="0"/>
          </a:p>
        </p:txBody>
      </p:sp>
      <p:sp>
        <p:nvSpPr>
          <p:cNvPr id="23" name="Text 17"/>
          <p:cNvSpPr txBox="1"/>
          <p:nvPr/>
        </p:nvSpPr>
        <p:spPr>
          <a:xfrm>
            <a:off x="822960" y="5001768"/>
            <a:ext cx="2965704" cy="822960"/>
          </a:xfrm>
          <a:prstGeom prst="rect">
            <a:avLst/>
          </a:prstGeom>
          <a:noFill/>
          <a:ln/>
        </p:spPr>
        <p:txBody>
          <a:bodyPr wrap="square" lIns="0" tIns="0" rIns="0" bIns="0" rtlCol="0" anchor="t"/>
          <a:lstStyle/>
          <a:p>
            <a:pPr indent="0" marL="0">
              <a:buNone/>
            </a:pPr>
            <a:r>
              <a:rPr lang="en-US" sz="1400" dirty="0">
                <a:solidFill>
                  <a:schemeClr val="tx2"/>
                </a:solidFill>
              </a:rPr>
              <a:t>Tras 5 fallos en 15 minutos la API responde 429</a:t>
            </a:r>
            <a:endParaRPr lang="en-US" sz="1400" dirty="0"/>
          </a:p>
        </p:txBody>
      </p:sp>
      <p:sp>
        <p:nvSpPr>
          <p:cNvPr id="24" name="medida-4"/>
          <p:cNvSpPr/>
          <p:nvPr/>
        </p:nvSpPr>
        <p:spPr>
          <a:xfrm>
            <a:off x="4337304" y="3977640"/>
            <a:ext cx="3514344" cy="1965960"/>
          </a:xfrm>
          <a:prstGeom prst="roundRect">
            <a:avLst>
              <a:gd name="adj" fmla="val 5581"/>
            </a:avLst>
          </a:prstGeom>
          <a:solidFill>
            <a:schemeClr val="bg2"/>
          </a:solidFill>
          <a:ln/>
        </p:spPr>
      </p:sp>
      <p:sp>
        <p:nvSpPr>
          <p:cNvPr id="25" name="medida-4-circulo"/>
          <p:cNvSpPr/>
          <p:nvPr/>
        </p:nvSpPr>
        <p:spPr>
          <a:xfrm>
            <a:off x="4611624" y="4251960"/>
            <a:ext cx="594360" cy="594360"/>
          </a:xfrm>
          <a:prstGeom prst="ellipse">
            <a:avLst/>
          </a:prstGeom>
          <a:solidFill>
            <a:schemeClr val="accent1"/>
          </a:solidFill>
          <a:ln/>
        </p:spPr>
      </p:sp>
      <p:pic>
        <p:nvPicPr>
          <p:cNvPr id="26" name="medida-4-icono" descr="preencoded.png">    </p:cNvPr>
          <p:cNvPicPr>
            <a:picLocks noChangeAspect="1"/>
          </p:cNvPicPr>
          <p:nvPr/>
        </p:nvPicPr>
        <p:blipFill>
          <a:blip r:embed="rId5"/>
          <a:stretch>
            <a:fillRect/>
          </a:stretch>
        </p:blipFill>
        <p:spPr>
          <a:xfrm>
            <a:off x="4766158" y="4406494"/>
            <a:ext cx="285293" cy="285293"/>
          </a:xfrm>
          <a:prstGeom prst="rect">
            <a:avLst/>
          </a:prstGeom>
        </p:spPr>
      </p:pic>
      <p:sp>
        <p:nvSpPr>
          <p:cNvPr id="27" name="Text 20"/>
          <p:cNvSpPr txBox="1"/>
          <p:nvPr/>
        </p:nvSpPr>
        <p:spPr>
          <a:xfrm>
            <a:off x="5388864" y="4343400"/>
            <a:ext cx="2234184" cy="411480"/>
          </a:xfrm>
          <a:prstGeom prst="rect">
            <a:avLst/>
          </a:prstGeom>
          <a:noFill/>
          <a:ln/>
        </p:spPr>
        <p:txBody>
          <a:bodyPr wrap="square" lIns="0" tIns="0" rIns="0" bIns="0" rtlCol="0" anchor="ctr"/>
          <a:lstStyle/>
          <a:p>
            <a:pPr indent="0" marL="0">
              <a:buNone/>
            </a:pPr>
            <a:r>
              <a:rPr lang="en-US" sz="1800" b="1" dirty="0">
                <a:solidFill>
                  <a:schemeClr val="tx1"/>
                </a:solidFill>
              </a:rPr>
              <a:t>Consultas</a:t>
            </a:r>
            <a:endParaRPr lang="en-US" sz="1800" dirty="0"/>
          </a:p>
        </p:txBody>
      </p:sp>
      <p:sp>
        <p:nvSpPr>
          <p:cNvPr id="28" name="Text 21"/>
          <p:cNvSpPr txBox="1"/>
          <p:nvPr/>
        </p:nvSpPr>
        <p:spPr>
          <a:xfrm>
            <a:off x="4611624" y="5001768"/>
            <a:ext cx="2965704" cy="822960"/>
          </a:xfrm>
          <a:prstGeom prst="rect">
            <a:avLst/>
          </a:prstGeom>
          <a:noFill/>
          <a:ln/>
        </p:spPr>
        <p:txBody>
          <a:bodyPr wrap="square" lIns="0" tIns="0" rIns="0" bIns="0" rtlCol="0" anchor="t"/>
          <a:lstStyle/>
          <a:p>
            <a:pPr indent="0" marL="0">
              <a:buNone/>
            </a:pPr>
            <a:r>
              <a:rPr lang="en-US" sz="1400" dirty="0">
                <a:solidFill>
                  <a:schemeClr val="tx2"/>
                </a:solidFill>
              </a:rPr>
              <a:t>Siempre con PreparedStatement, nunca SQL concatenado</a:t>
            </a:r>
            <a:endParaRPr lang="en-US" sz="1400" dirty="0"/>
          </a:p>
        </p:txBody>
      </p:sp>
      <p:sp>
        <p:nvSpPr>
          <p:cNvPr id="29" name="medida-5"/>
          <p:cNvSpPr/>
          <p:nvPr/>
        </p:nvSpPr>
        <p:spPr>
          <a:xfrm>
            <a:off x="8125968" y="3977640"/>
            <a:ext cx="3514344" cy="1965960"/>
          </a:xfrm>
          <a:prstGeom prst="roundRect">
            <a:avLst>
              <a:gd name="adj" fmla="val 5581"/>
            </a:avLst>
          </a:prstGeom>
          <a:solidFill>
            <a:schemeClr val="bg2"/>
          </a:solidFill>
          <a:ln/>
        </p:spPr>
      </p:sp>
      <p:sp>
        <p:nvSpPr>
          <p:cNvPr id="30" name="medida-5-circulo"/>
          <p:cNvSpPr/>
          <p:nvPr/>
        </p:nvSpPr>
        <p:spPr>
          <a:xfrm>
            <a:off x="8400288" y="4251960"/>
            <a:ext cx="594360" cy="594360"/>
          </a:xfrm>
          <a:prstGeom prst="ellipse">
            <a:avLst/>
          </a:prstGeom>
          <a:solidFill>
            <a:schemeClr val="accent1"/>
          </a:solidFill>
          <a:ln/>
        </p:spPr>
      </p:sp>
      <p:pic>
        <p:nvPicPr>
          <p:cNvPr id="31" name="medida-5-icono" descr="preencoded.png">    </p:cNvPr>
          <p:cNvPicPr>
            <a:picLocks noChangeAspect="1"/>
          </p:cNvPicPr>
          <p:nvPr/>
        </p:nvPicPr>
        <p:blipFill>
          <a:blip r:embed="rId6"/>
          <a:stretch>
            <a:fillRect/>
          </a:stretch>
        </p:blipFill>
        <p:spPr>
          <a:xfrm>
            <a:off x="8554822" y="4406494"/>
            <a:ext cx="285293" cy="285293"/>
          </a:xfrm>
          <a:prstGeom prst="rect">
            <a:avLst/>
          </a:prstGeom>
        </p:spPr>
      </p:pic>
      <p:sp>
        <p:nvSpPr>
          <p:cNvPr id="32" name="Text 24"/>
          <p:cNvSpPr txBox="1"/>
          <p:nvPr/>
        </p:nvSpPr>
        <p:spPr>
          <a:xfrm>
            <a:off x="9177528" y="4343400"/>
            <a:ext cx="2234184" cy="411480"/>
          </a:xfrm>
          <a:prstGeom prst="rect">
            <a:avLst/>
          </a:prstGeom>
          <a:noFill/>
          <a:ln/>
        </p:spPr>
        <p:txBody>
          <a:bodyPr wrap="square" lIns="0" tIns="0" rIns="0" bIns="0" rtlCol="0" anchor="ctr"/>
          <a:lstStyle/>
          <a:p>
            <a:pPr indent="0" marL="0">
              <a:buNone/>
            </a:pPr>
            <a:r>
              <a:rPr lang="en-US" sz="1800" b="1" dirty="0">
                <a:solidFill>
                  <a:schemeClr val="tx1"/>
                </a:solidFill>
              </a:rPr>
              <a:t>Red y copias</a:t>
            </a:r>
            <a:endParaRPr lang="en-US" sz="1800" dirty="0"/>
          </a:p>
        </p:txBody>
      </p:sp>
      <p:sp>
        <p:nvSpPr>
          <p:cNvPr id="33" name="Text 25"/>
          <p:cNvSpPr txBox="1"/>
          <p:nvPr/>
        </p:nvSpPr>
        <p:spPr>
          <a:xfrm>
            <a:off x="8400288" y="5001768"/>
            <a:ext cx="2965704" cy="822960"/>
          </a:xfrm>
          <a:prstGeom prst="rect">
            <a:avLst/>
          </a:prstGeom>
          <a:noFill/>
          <a:ln/>
        </p:spPr>
        <p:txBody>
          <a:bodyPr wrap="square" lIns="0" tIns="0" rIns="0" bIns="0" rtlCol="0" anchor="t"/>
          <a:lstStyle/>
          <a:p>
            <a:pPr indent="0" marL="0">
              <a:buNone/>
            </a:pPr>
            <a:r>
              <a:rPr lang="en-US" sz="1400" dirty="0">
                <a:solidFill>
                  <a:schemeClr val="tx2"/>
                </a:solidFill>
              </a:rPr>
              <a:t>HTTP en claro solo hacia el emulador en debug, y copias de seguridad de la app desactivadas</a:t>
            </a:r>
            <a:endParaRPr lang="en-US" sz="1400" dirty="0"/>
          </a:p>
        </p:txBody>
      </p:sp>
      <p:sp>
        <p:nvSpPr>
          <p:cNvPr id="25" name="Slide Number Placeholder 0"/>
          <p:cNvSpPr>
            <a:spLocks noGrp="1"/>
          </p:cNvSpPr>
          <p:nvPr>
            <p:ph type="sldNum" sz="quarter" idx="4294967295"/>
          </p:nvPr>
        </p:nvSpPr>
        <p:spPr>
          <a:xfrm>
            <a:off x="11064240"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11064240" cy="320040"/>
          </a:xfrm>
          <a:prstGeom prst="rect">
            <a:avLst/>
          </a:prstGeom>
          <a:noFill/>
          <a:ln/>
        </p:spPr>
        <p:txBody>
          <a:bodyPr wrap="square" lIns="0" tIns="0" rIns="0" bIns="0" rtlCol="0" anchor="t"/>
          <a:lstStyle/>
          <a:p>
            <a:pPr indent="0" marL="0">
              <a:buNone/>
            </a:pPr>
            <a:r>
              <a:rPr lang="en-US" sz="1300" b="1" spc="300" kern="0" dirty="0">
                <a:solidFill>
                  <a:schemeClr val="accent1"/>
                </a:solidFill>
              </a:rPr>
              <a:t>7.5 · CONCURRENCIA</a:t>
            </a:r>
            <a:endParaRPr lang="en-US" sz="1300" dirty="0"/>
          </a:p>
        </p:txBody>
      </p:sp>
      <p:sp>
        <p:nvSpPr>
          <p:cNvPr id="3" name="Text 0"/>
          <p:cNvSpPr/>
          <p:nvPr>
            <p:ph idx="101" type="title" hasCustomPrompt="1"/>
          </p:nvPr>
        </p:nvSpPr>
        <p:spPr>
          <a:xfrm>
            <a:off x="548640" y="713232"/>
            <a:ext cx="11064240" cy="777240"/>
          </a:xfrm>
          <a:prstGeom prst="rect">
            <a:avLst/>
          </a:prstGeom>
          <a:noFill/>
          <a:ln/>
        </p:spPr>
        <p:txBody>
          <a:bodyPr wrap="square" lIns="0" tIns="0" rIns="0" bIns="0" rtlCol="0" anchor="t"/>
          <a:lstStyle/>
          <a:p>
            <a:pPr algn="l" indent="0" marL="0">
              <a:buNone/>
            </a:pPr>
            <a:r>
              <a:rPr lang="en-US" sz="3600" dirty="0">
                <a:solidFill>
                  <a:schemeClr val="bg1"/>
                </a:solidFill>
              </a:rPr>
              <a:t>DOS CLIENTES Y UNA SOLA PLAZA LIBRE</a:t>
            </a:r>
            <a:endParaRPr lang="en-US" sz="3600" dirty="0"/>
          </a:p>
        </p:txBody>
      </p:sp>
      <p:sp>
        <p:nvSpPr>
          <p:cNvPr id="4" name="paso-0"/>
          <p:cNvSpPr/>
          <p:nvPr/>
        </p:nvSpPr>
        <p:spPr>
          <a:xfrm>
            <a:off x="548640" y="1783080"/>
            <a:ext cx="502920" cy="502920"/>
          </a:xfrm>
          <a:prstGeom prst="ellipse">
            <a:avLst/>
          </a:prstGeom>
          <a:solidFill>
            <a:schemeClr val="accent1"/>
          </a:solidFill>
          <a:ln/>
        </p:spPr>
      </p:sp>
      <p:sp>
        <p:nvSpPr>
          <p:cNvPr id="5" name="Text 3"/>
          <p:cNvSpPr txBox="1"/>
          <p:nvPr/>
        </p:nvSpPr>
        <p:spPr>
          <a:xfrm>
            <a:off x="548640" y="178308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6" name="Text 4"/>
          <p:cNvSpPr txBox="1"/>
          <p:nvPr/>
        </p:nvSpPr>
        <p:spPr>
          <a:xfrm>
            <a:off x="1280160" y="1801368"/>
            <a:ext cx="4389120" cy="548640"/>
          </a:xfrm>
          <a:prstGeom prst="rect">
            <a:avLst/>
          </a:prstGeom>
          <a:noFill/>
          <a:ln/>
        </p:spPr>
        <p:txBody>
          <a:bodyPr wrap="square" lIns="0" tIns="0" rIns="0" bIns="0" rtlCol="0" anchor="ctr"/>
          <a:lstStyle/>
          <a:p>
            <a:pPr indent="0" marL="0">
              <a:buNone/>
            </a:pPr>
            <a:r>
              <a:rPr lang="en-US" sz="1600" dirty="0">
                <a:solidFill>
                  <a:schemeClr val="bg1"/>
                </a:solidFill>
              </a:rPr>
              <a:t>Cada petición cuenta las citas del día y ve 0 de 1</a:t>
            </a:r>
            <a:endParaRPr lang="en-US" sz="1600" dirty="0"/>
          </a:p>
        </p:txBody>
      </p:sp>
      <p:sp>
        <p:nvSpPr>
          <p:cNvPr id="7" name="paso-1"/>
          <p:cNvSpPr/>
          <p:nvPr/>
        </p:nvSpPr>
        <p:spPr>
          <a:xfrm>
            <a:off x="548640" y="2560320"/>
            <a:ext cx="502920" cy="502920"/>
          </a:xfrm>
          <a:prstGeom prst="ellipse">
            <a:avLst/>
          </a:prstGeom>
          <a:solidFill>
            <a:schemeClr val="accent1"/>
          </a:solidFill>
          <a:ln/>
        </p:spPr>
      </p:sp>
      <p:sp>
        <p:nvSpPr>
          <p:cNvPr id="8" name="Text 6"/>
          <p:cNvSpPr txBox="1"/>
          <p:nvPr/>
        </p:nvSpPr>
        <p:spPr>
          <a:xfrm>
            <a:off x="548640" y="256032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9" name="Text 7"/>
          <p:cNvSpPr txBox="1"/>
          <p:nvPr/>
        </p:nvSpPr>
        <p:spPr>
          <a:xfrm>
            <a:off x="1280160" y="2578608"/>
            <a:ext cx="4389120" cy="548640"/>
          </a:xfrm>
          <a:prstGeom prst="rect">
            <a:avLst/>
          </a:prstGeom>
          <a:noFill/>
          <a:ln/>
        </p:spPr>
        <p:txBody>
          <a:bodyPr wrap="square" lIns="0" tIns="0" rIns="0" bIns="0" rtlCol="0" anchor="ctr"/>
          <a:lstStyle/>
          <a:p>
            <a:pPr indent="0" marL="0">
              <a:buNone/>
            </a:pPr>
            <a:r>
              <a:rPr lang="en-US" sz="1600" dirty="0">
                <a:solidFill>
                  <a:schemeClr val="bg1"/>
                </a:solidFill>
              </a:rPr>
              <a:t>Las dos creen que queda sitio e insertan su cita</a:t>
            </a:r>
            <a:endParaRPr lang="en-US" sz="1600" dirty="0"/>
          </a:p>
        </p:txBody>
      </p:sp>
      <p:sp>
        <p:nvSpPr>
          <p:cNvPr id="10" name="paso-2"/>
          <p:cNvSpPr/>
          <p:nvPr/>
        </p:nvSpPr>
        <p:spPr>
          <a:xfrm>
            <a:off x="548640" y="3337560"/>
            <a:ext cx="502920" cy="502920"/>
          </a:xfrm>
          <a:prstGeom prst="ellipse">
            <a:avLst/>
          </a:prstGeom>
          <a:solidFill>
            <a:schemeClr val="accent1"/>
          </a:solidFill>
          <a:ln/>
        </p:spPr>
      </p:sp>
      <p:sp>
        <p:nvSpPr>
          <p:cNvPr id="11" name="Text 9"/>
          <p:cNvSpPr txBox="1"/>
          <p:nvPr/>
        </p:nvSpPr>
        <p:spPr>
          <a:xfrm>
            <a:off x="548640" y="333756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2" name="Text 10"/>
          <p:cNvSpPr txBox="1"/>
          <p:nvPr/>
        </p:nvSpPr>
        <p:spPr>
          <a:xfrm>
            <a:off x="1280160" y="3355848"/>
            <a:ext cx="4389120" cy="548640"/>
          </a:xfrm>
          <a:prstGeom prst="rect">
            <a:avLst/>
          </a:prstGeom>
          <a:noFill/>
          <a:ln/>
        </p:spPr>
        <p:txBody>
          <a:bodyPr wrap="square" lIns="0" tIns="0" rIns="0" bIns="0" rtlCol="0" anchor="ctr"/>
          <a:lstStyle/>
          <a:p>
            <a:pPr indent="0" marL="0">
              <a:buNone/>
            </a:pPr>
            <a:r>
              <a:rPr lang="en-US" sz="1600" dirty="0">
                <a:solidFill>
                  <a:schemeClr val="bg1"/>
                </a:solidFill>
              </a:rPr>
              <a:t>El día acaba con dos citas cuando el cupo era una</a:t>
            </a:r>
            <a:endParaRPr lang="en-US" sz="1600" dirty="0"/>
          </a:p>
        </p:txBody>
      </p:sp>
      <p:sp>
        <p:nvSpPr>
          <p:cNvPr id="13" name="solucion"/>
          <p:cNvSpPr/>
          <p:nvPr/>
        </p:nvSpPr>
        <p:spPr>
          <a:xfrm>
            <a:off x="548640" y="4206240"/>
            <a:ext cx="5120640" cy="1920240"/>
          </a:xfrm>
          <a:prstGeom prst="roundRect">
            <a:avLst>
              <a:gd name="adj" fmla="val 5714"/>
            </a:avLst>
          </a:prstGeom>
          <a:solidFill>
            <a:srgbClr val="1E1E21"/>
          </a:solidFill>
          <a:ln/>
        </p:spPr>
      </p:sp>
      <p:sp>
        <p:nvSpPr>
          <p:cNvPr id="14" name="Text 12"/>
          <p:cNvSpPr txBox="1"/>
          <p:nvPr/>
        </p:nvSpPr>
        <p:spPr>
          <a:xfrm>
            <a:off x="822960" y="4389120"/>
            <a:ext cx="4572000" cy="320040"/>
          </a:xfrm>
          <a:prstGeom prst="rect">
            <a:avLst/>
          </a:prstGeom>
          <a:noFill/>
          <a:ln/>
        </p:spPr>
        <p:txBody>
          <a:bodyPr wrap="square" lIns="0" tIns="0" rIns="0" bIns="0" rtlCol="0" anchor="t"/>
          <a:lstStyle/>
          <a:p>
            <a:pPr indent="0" marL="0">
              <a:buNone/>
            </a:pPr>
            <a:r>
              <a:rPr lang="en-US" sz="1300" b="1" spc="200" kern="0" dirty="0">
                <a:solidFill>
                  <a:schemeClr val="accent1"/>
                </a:solidFill>
              </a:rPr>
              <a:t>LA SOLUCIÓN</a:t>
            </a:r>
            <a:endParaRPr lang="en-US" sz="1300" dirty="0"/>
          </a:p>
        </p:txBody>
      </p:sp>
      <p:sp>
        <p:nvSpPr>
          <p:cNvPr id="15" name="Text 13"/>
          <p:cNvSpPr txBox="1"/>
          <p:nvPr/>
        </p:nvSpPr>
        <p:spPr>
          <a:xfrm>
            <a:off x="822960" y="4754880"/>
            <a:ext cx="4572000" cy="1234440"/>
          </a:xfrm>
          <a:prstGeom prst="rect">
            <a:avLst/>
          </a:prstGeom>
          <a:noFill/>
          <a:ln/>
        </p:spPr>
        <p:txBody>
          <a:bodyPr wrap="square" lIns="0" tIns="0" rIns="0" bIns="0" rtlCol="0" anchor="t"/>
          <a:lstStyle/>
          <a:p>
            <a:pPr indent="0" marL="0">
              <a:buNone/>
            </a:pPr>
            <a:r>
              <a:rPr lang="en-US" sz="1500" dirty="0">
                <a:solidFill>
                  <a:schemeClr val="bg1"/>
                </a:solidFill>
              </a:rPr>
              <a:t>Un cerrojo por fecha con synchronized. Contar e insertar van dentro de la misma transacción, y el índice único queda como última defensa.</a:t>
            </a:r>
            <a:endParaRPr lang="en-US" sz="1500" dirty="0"/>
          </a:p>
        </p:txBody>
      </p:sp>
      <p:graphicFrame>
        <p:nvGraphicFramePr>
          <p:cNvPr id="16" name="grafico-concurrencia" descr=""/>
          <p:cNvGraphicFramePr/>
          <p:nvPr/>
        </p:nvGraphicFramePr>
        <p:xfrm>
          <a:off x="6126480" y="1691640"/>
          <a:ext cx="5486400" cy="4069080"/>
        </p:xfrm>
        <a:graphic xmlns:a="http://schemas.openxmlformats.org/drawingml/2006/main">
          <a:graphicData uri="http://schemas.openxmlformats.org/drawingml/2006/chart">
            <c:chart xmlns:c="http://schemas.openxmlformats.org/drawingml/2006/chart" r:id="rId1"/>
          </a:graphicData>
        </a:graphic>
      </p:graphicFrame>
      <p:sp>
        <p:nvSpPr>
          <p:cNvPr id="17" name="Text 14"/>
          <p:cNvSpPr txBox="1"/>
          <p:nvPr/>
        </p:nvSpPr>
        <p:spPr>
          <a:xfrm>
            <a:off x="6126480" y="5806440"/>
            <a:ext cx="5486400" cy="411480"/>
          </a:xfrm>
          <a:prstGeom prst="rect">
            <a:avLst/>
          </a:prstGeom>
          <a:noFill/>
          <a:ln/>
        </p:spPr>
        <p:txBody>
          <a:bodyPr wrap="square" lIns="0" tIns="0" rIns="0" bIns="0" rtlCol="0" anchor="t"/>
          <a:lstStyle/>
          <a:p>
            <a:pPr indent="0" marL="0">
              <a:buNone/>
            </a:pPr>
            <a:r>
              <a:rPr lang="en-US" sz="1200" dirty="0">
                <a:solidFill>
                  <a:schemeClr val="accent3"/>
                </a:solidFill>
              </a:rPr>
              <a:t>Prueba automática: 5 hilos que salen a la vez con un CountDownLatch y un repositorio que tarda 300 ms en contar.</a:t>
            </a:r>
            <a:endParaRPr lang="en-US" sz="1200" dirty="0"/>
          </a:p>
        </p:txBody>
      </p:sp>
      <p:sp>
        <p:nvSpPr>
          <p:cNvPr id="25" name="Slide Number Placeholder 0"/>
          <p:cNvSpPr>
            <a:spLocks noGrp="1"/>
          </p:cNvSpPr>
          <p:nvPr>
            <p:ph type="sldNum" sz="quarter" idx="4294967295"/>
          </p:nvPr>
        </p:nvSpPr>
        <p:spPr>
          <a:xfrm>
            <a:off x="11064240"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11064240" cy="320040"/>
          </a:xfrm>
          <a:prstGeom prst="rect">
            <a:avLst/>
          </a:prstGeom>
          <a:noFill/>
          <a:ln/>
        </p:spPr>
        <p:txBody>
          <a:bodyPr wrap="square" lIns="0" tIns="0" rIns="0" bIns="0" rtlCol="0" anchor="t"/>
          <a:lstStyle/>
          <a:p>
            <a:pPr indent="0" marL="0">
              <a:buNone/>
            </a:pPr>
            <a:r>
              <a:rPr lang="en-US" sz="1300" b="1" spc="300" kern="0" dirty="0">
                <a:solidFill>
                  <a:schemeClr val="accent1"/>
                </a:solidFill>
              </a:rPr>
              <a:t>7.8 · PRUEBAS</a:t>
            </a:r>
            <a:endParaRPr lang="en-US" sz="1300" dirty="0"/>
          </a:p>
        </p:txBody>
      </p:sp>
      <p:sp>
        <p:nvSpPr>
          <p:cNvPr id="3" name="Text 0"/>
          <p:cNvSpPr/>
          <p:nvPr>
            <p:ph idx="101" type="title" hasCustomPrompt="1"/>
          </p:nvPr>
        </p:nvSpPr>
        <p:spPr>
          <a:xfrm>
            <a:off x="548640" y="713232"/>
            <a:ext cx="11064240" cy="777240"/>
          </a:xfrm>
          <a:prstGeom prst="rect">
            <a:avLst/>
          </a:prstGeom>
          <a:noFill/>
          <a:ln/>
        </p:spPr>
        <p:txBody>
          <a:bodyPr wrap="square" lIns="0" tIns="0" rIns="0" bIns="0" rtlCol="0" anchor="t"/>
          <a:lstStyle/>
          <a:p>
            <a:pPr algn="l" indent="0" marL="0">
              <a:buNone/>
            </a:pPr>
            <a:r>
              <a:rPr lang="en-US" sz="3600" dirty="0">
                <a:solidFill>
                  <a:schemeClr val="tx1"/>
                </a:solidFill>
              </a:rPr>
              <a:t>134 PRUEBAS AUTOMÁTICAS EN VERDE</a:t>
            </a:r>
            <a:endParaRPr lang="en-US" sz="3600" dirty="0"/>
          </a:p>
        </p:txBody>
      </p:sp>
      <p:sp>
        <p:nvSpPr>
          <p:cNvPr id="4" name="cifra-88"/>
          <p:cNvSpPr/>
          <p:nvPr/>
        </p:nvSpPr>
        <p:spPr>
          <a:xfrm>
            <a:off x="548640" y="1737360"/>
            <a:ext cx="3514344" cy="2331720"/>
          </a:xfrm>
          <a:prstGeom prst="roundRect">
            <a:avLst>
              <a:gd name="adj" fmla="val 4706"/>
            </a:avLst>
          </a:prstGeom>
          <a:solidFill>
            <a:schemeClr val="bg2"/>
          </a:solidFill>
          <a:ln/>
        </p:spPr>
      </p:sp>
      <p:sp>
        <p:nvSpPr>
          <p:cNvPr id="5" name="Text 3"/>
          <p:cNvSpPr txBox="1"/>
          <p:nvPr/>
        </p:nvSpPr>
        <p:spPr>
          <a:xfrm>
            <a:off x="868680" y="1874520"/>
            <a:ext cx="1828800" cy="1005840"/>
          </a:xfrm>
          <a:prstGeom prst="rect">
            <a:avLst/>
          </a:prstGeom>
          <a:noFill/>
          <a:ln/>
        </p:spPr>
        <p:txBody>
          <a:bodyPr wrap="square" lIns="0" tIns="0" rIns="0" bIns="0" rtlCol="0" anchor="t"/>
          <a:lstStyle/>
          <a:p>
            <a:pPr indent="0" marL="0">
              <a:buNone/>
            </a:pPr>
            <a:r>
              <a:rPr lang="en-US" sz="6600" dirty="0">
                <a:solidFill>
                  <a:schemeClr val="accent1"/>
                </a:solidFill>
                <a:latin typeface="+mj-lt" pitchFamily="34" charset="0"/>
                <a:ea typeface="+mj-lt" pitchFamily="34" charset="-122"/>
                <a:cs typeface="+mj-lt" pitchFamily="34" charset="-120"/>
              </a:rPr>
              <a:t>88</a:t>
            </a:r>
            <a:endParaRPr lang="en-US" sz="6600" dirty="0"/>
          </a:p>
        </p:txBody>
      </p:sp>
      <p:sp>
        <p:nvSpPr>
          <p:cNvPr id="6" name="Text 4"/>
          <p:cNvSpPr txBox="1"/>
          <p:nvPr/>
        </p:nvSpPr>
        <p:spPr>
          <a:xfrm>
            <a:off x="868680" y="2880360"/>
            <a:ext cx="2874264" cy="365760"/>
          </a:xfrm>
          <a:prstGeom prst="rect">
            <a:avLst/>
          </a:prstGeom>
          <a:noFill/>
          <a:ln/>
        </p:spPr>
        <p:txBody>
          <a:bodyPr wrap="square" lIns="0" tIns="0" rIns="0" bIns="0" rtlCol="0" anchor="t"/>
          <a:lstStyle/>
          <a:p>
            <a:pPr indent="0" marL="0">
              <a:buNone/>
            </a:pPr>
            <a:r>
              <a:rPr lang="en-US" sz="1800" b="1" dirty="0">
                <a:solidFill>
                  <a:schemeClr val="tx1"/>
                </a:solidFill>
              </a:rPr>
              <a:t>pruebas de la API</a:t>
            </a:r>
            <a:endParaRPr lang="en-US" sz="1800" dirty="0"/>
          </a:p>
        </p:txBody>
      </p:sp>
      <p:sp>
        <p:nvSpPr>
          <p:cNvPr id="7" name="Text 5"/>
          <p:cNvSpPr txBox="1"/>
          <p:nvPr/>
        </p:nvSpPr>
        <p:spPr>
          <a:xfrm>
            <a:off x="868680" y="3273552"/>
            <a:ext cx="2874264" cy="685800"/>
          </a:xfrm>
          <a:prstGeom prst="rect">
            <a:avLst/>
          </a:prstGeom>
          <a:noFill/>
          <a:ln/>
        </p:spPr>
        <p:txBody>
          <a:bodyPr wrap="square" lIns="0" tIns="0" rIns="0" bIns="0" rtlCol="0" anchor="t"/>
          <a:lstStyle/>
          <a:p>
            <a:pPr indent="0" marL="0">
              <a:buNone/>
            </a:pPr>
            <a:r>
              <a:rPr lang="en-US" sz="1400" dirty="0">
                <a:solidFill>
                  <a:schemeClr val="tx2"/>
                </a:solidFill>
              </a:rPr>
              <a:t>11 clases de JUnit 6 con una base de datos aparte y un reloj que se puede mover</a:t>
            </a:r>
            <a:endParaRPr lang="en-US" sz="1400" dirty="0"/>
          </a:p>
        </p:txBody>
      </p:sp>
      <p:sp>
        <p:nvSpPr>
          <p:cNvPr id="8" name="cifra-25"/>
          <p:cNvSpPr/>
          <p:nvPr/>
        </p:nvSpPr>
        <p:spPr>
          <a:xfrm>
            <a:off x="4337304" y="1737360"/>
            <a:ext cx="3514344" cy="2331720"/>
          </a:xfrm>
          <a:prstGeom prst="roundRect">
            <a:avLst>
              <a:gd name="adj" fmla="val 4706"/>
            </a:avLst>
          </a:prstGeom>
          <a:solidFill>
            <a:schemeClr val="bg2"/>
          </a:solidFill>
          <a:ln/>
        </p:spPr>
      </p:sp>
      <p:sp>
        <p:nvSpPr>
          <p:cNvPr id="9" name="Text 7"/>
          <p:cNvSpPr txBox="1"/>
          <p:nvPr/>
        </p:nvSpPr>
        <p:spPr>
          <a:xfrm>
            <a:off x="4657344" y="1874520"/>
            <a:ext cx="1828800" cy="1005840"/>
          </a:xfrm>
          <a:prstGeom prst="rect">
            <a:avLst/>
          </a:prstGeom>
          <a:noFill/>
          <a:ln/>
        </p:spPr>
        <p:txBody>
          <a:bodyPr wrap="square" lIns="0" tIns="0" rIns="0" bIns="0" rtlCol="0" anchor="t"/>
          <a:lstStyle/>
          <a:p>
            <a:pPr indent="0" marL="0">
              <a:buNone/>
            </a:pPr>
            <a:r>
              <a:rPr lang="en-US" sz="6600" dirty="0">
                <a:solidFill>
                  <a:schemeClr val="accent1"/>
                </a:solidFill>
                <a:latin typeface="+mj-lt" pitchFamily="34" charset="0"/>
                <a:ea typeface="+mj-lt" pitchFamily="34" charset="-122"/>
                <a:cs typeface="+mj-lt" pitchFamily="34" charset="-120"/>
              </a:rPr>
              <a:t>25</a:t>
            </a:r>
            <a:endParaRPr lang="en-US" sz="6600" dirty="0"/>
          </a:p>
        </p:txBody>
      </p:sp>
      <p:sp>
        <p:nvSpPr>
          <p:cNvPr id="10" name="Text 8"/>
          <p:cNvSpPr txBox="1"/>
          <p:nvPr/>
        </p:nvSpPr>
        <p:spPr>
          <a:xfrm>
            <a:off x="4657344" y="2880360"/>
            <a:ext cx="2874264" cy="365760"/>
          </a:xfrm>
          <a:prstGeom prst="rect">
            <a:avLst/>
          </a:prstGeom>
          <a:noFill/>
          <a:ln/>
        </p:spPr>
        <p:txBody>
          <a:bodyPr wrap="square" lIns="0" tIns="0" rIns="0" bIns="0" rtlCol="0" anchor="t"/>
          <a:lstStyle/>
          <a:p>
            <a:pPr indent="0" marL="0">
              <a:buNone/>
            </a:pPr>
            <a:r>
              <a:rPr lang="en-US" sz="1800" b="1" dirty="0">
                <a:solidFill>
                  <a:schemeClr val="tx1"/>
                </a:solidFill>
              </a:rPr>
              <a:t>pruebas de la app</a:t>
            </a:r>
            <a:endParaRPr lang="en-US" sz="1800" dirty="0"/>
          </a:p>
        </p:txBody>
      </p:sp>
      <p:sp>
        <p:nvSpPr>
          <p:cNvPr id="11" name="Text 9"/>
          <p:cNvSpPr txBox="1"/>
          <p:nvPr/>
        </p:nvSpPr>
        <p:spPr>
          <a:xfrm>
            <a:off x="4657344" y="3273552"/>
            <a:ext cx="2874264" cy="685800"/>
          </a:xfrm>
          <a:prstGeom prst="rect">
            <a:avLst/>
          </a:prstGeom>
          <a:noFill/>
          <a:ln/>
        </p:spPr>
        <p:txBody>
          <a:bodyPr wrap="square" lIns="0" tIns="0" rIns="0" bIns="0" rtlCol="0" anchor="t"/>
          <a:lstStyle/>
          <a:p>
            <a:pPr indent="0" marL="0">
              <a:buNone/>
            </a:pPr>
            <a:r>
              <a:rPr lang="en-US" sz="1400" dirty="0">
                <a:solidFill>
                  <a:schemeClr val="tx2"/>
                </a:solidFill>
              </a:rPr>
              <a:t>Modelos, calendario, formatos y validaciones del registro</a:t>
            </a:r>
            <a:endParaRPr lang="en-US" sz="1400" dirty="0"/>
          </a:p>
        </p:txBody>
      </p:sp>
      <p:sp>
        <p:nvSpPr>
          <p:cNvPr id="12" name="cifra-21"/>
          <p:cNvSpPr/>
          <p:nvPr/>
        </p:nvSpPr>
        <p:spPr>
          <a:xfrm>
            <a:off x="8125968" y="1737360"/>
            <a:ext cx="3514344" cy="2331720"/>
          </a:xfrm>
          <a:prstGeom prst="roundRect">
            <a:avLst>
              <a:gd name="adj" fmla="val 4706"/>
            </a:avLst>
          </a:prstGeom>
          <a:solidFill>
            <a:schemeClr val="bg2"/>
          </a:solidFill>
          <a:ln/>
        </p:spPr>
      </p:sp>
      <p:sp>
        <p:nvSpPr>
          <p:cNvPr id="13" name="Text 11"/>
          <p:cNvSpPr txBox="1"/>
          <p:nvPr/>
        </p:nvSpPr>
        <p:spPr>
          <a:xfrm>
            <a:off x="8446008" y="1874520"/>
            <a:ext cx="1828800" cy="1005840"/>
          </a:xfrm>
          <a:prstGeom prst="rect">
            <a:avLst/>
          </a:prstGeom>
          <a:noFill/>
          <a:ln/>
        </p:spPr>
        <p:txBody>
          <a:bodyPr wrap="square" lIns="0" tIns="0" rIns="0" bIns="0" rtlCol="0" anchor="t"/>
          <a:lstStyle/>
          <a:p>
            <a:pPr indent="0" marL="0">
              <a:buNone/>
            </a:pPr>
            <a:r>
              <a:rPr lang="en-US" sz="6600" dirty="0">
                <a:solidFill>
                  <a:schemeClr val="accent1"/>
                </a:solidFill>
                <a:latin typeface="+mj-lt" pitchFamily="34" charset="0"/>
                <a:ea typeface="+mj-lt" pitchFamily="34" charset="-122"/>
                <a:cs typeface="+mj-lt" pitchFamily="34" charset="-120"/>
              </a:rPr>
              <a:t>21</a:t>
            </a:r>
            <a:endParaRPr lang="en-US" sz="6600" dirty="0"/>
          </a:p>
        </p:txBody>
      </p:sp>
      <p:sp>
        <p:nvSpPr>
          <p:cNvPr id="14" name="Text 12"/>
          <p:cNvSpPr txBox="1"/>
          <p:nvPr/>
        </p:nvSpPr>
        <p:spPr>
          <a:xfrm>
            <a:off x="8446008" y="2880360"/>
            <a:ext cx="2874264" cy="365760"/>
          </a:xfrm>
          <a:prstGeom prst="rect">
            <a:avLst/>
          </a:prstGeom>
          <a:noFill/>
          <a:ln/>
        </p:spPr>
        <p:txBody>
          <a:bodyPr wrap="square" lIns="0" tIns="0" rIns="0" bIns="0" rtlCol="0" anchor="t"/>
          <a:lstStyle/>
          <a:p>
            <a:pPr indent="0" marL="0">
              <a:buNone/>
            </a:pPr>
            <a:r>
              <a:rPr lang="en-US" sz="1800" b="1" dirty="0">
                <a:solidFill>
                  <a:schemeClr val="tx1"/>
                </a:solidFill>
              </a:rPr>
              <a:t>pruebas del esquema</a:t>
            </a:r>
            <a:endParaRPr lang="en-US" sz="1800" dirty="0"/>
          </a:p>
        </p:txBody>
      </p:sp>
      <p:sp>
        <p:nvSpPr>
          <p:cNvPr id="15" name="Text 13"/>
          <p:cNvSpPr txBox="1"/>
          <p:nvPr/>
        </p:nvSpPr>
        <p:spPr>
          <a:xfrm>
            <a:off x="8446008" y="3273552"/>
            <a:ext cx="2874264" cy="685800"/>
          </a:xfrm>
          <a:prstGeom prst="rect">
            <a:avLst/>
          </a:prstGeom>
          <a:noFill/>
          <a:ln/>
        </p:spPr>
        <p:txBody>
          <a:bodyPr wrap="square" lIns="0" tIns="0" rIns="0" bIns="0" rtlCol="0" anchor="t"/>
          <a:lstStyle/>
          <a:p>
            <a:pPr indent="0" marL="0">
              <a:buNone/>
            </a:pPr>
            <a:r>
              <a:rPr lang="en-US" sz="1400" dirty="0">
                <a:solidFill>
                  <a:schemeClr val="tx2"/>
                </a:solidFill>
              </a:rPr>
              <a:t>Restricciones, índice único y datos de ejemplo en MySQL</a:t>
            </a:r>
            <a:endParaRPr lang="en-US" sz="1400" dirty="0"/>
          </a:p>
        </p:txBody>
      </p:sp>
      <p:sp>
        <p:nvSpPr>
          <p:cNvPr id="16" name="manual-0"/>
          <p:cNvSpPr/>
          <p:nvPr/>
        </p:nvSpPr>
        <p:spPr>
          <a:xfrm>
            <a:off x="548640" y="4343400"/>
            <a:ext cx="5408676" cy="1737360"/>
          </a:xfrm>
          <a:prstGeom prst="roundRect">
            <a:avLst>
              <a:gd name="adj" fmla="val 6316"/>
            </a:avLst>
          </a:prstGeom>
          <a:solidFill>
            <a:schemeClr val="bg2"/>
          </a:solidFill>
          <a:ln/>
        </p:spPr>
      </p:sp>
      <p:sp>
        <p:nvSpPr>
          <p:cNvPr id="17" name="manual-0-circulo"/>
          <p:cNvSpPr/>
          <p:nvPr/>
        </p:nvSpPr>
        <p:spPr>
          <a:xfrm>
            <a:off x="822960" y="4572000"/>
            <a:ext cx="640080" cy="640080"/>
          </a:xfrm>
          <a:prstGeom prst="ellipse">
            <a:avLst/>
          </a:prstGeom>
          <a:solidFill>
            <a:schemeClr val="accent1"/>
          </a:solidFill>
          <a:ln/>
        </p:spPr>
      </p:sp>
      <p:pic>
        <p:nvPicPr>
          <p:cNvPr id="18" name="manual-0-icono" descr="preencoded.png">    </p:cNvPr>
          <p:cNvPicPr>
            <a:picLocks noChangeAspect="1"/>
          </p:cNvPicPr>
          <p:nvPr/>
        </p:nvPicPr>
        <p:blipFill>
          <a:blip r:embed="rId1"/>
          <a:stretch>
            <a:fillRect/>
          </a:stretch>
        </p:blipFill>
        <p:spPr>
          <a:xfrm>
            <a:off x="989381" y="4738421"/>
            <a:ext cx="307238" cy="307238"/>
          </a:xfrm>
          <a:prstGeom prst="rect">
            <a:avLst/>
          </a:prstGeom>
        </p:spPr>
      </p:pic>
      <p:sp>
        <p:nvSpPr>
          <p:cNvPr id="19" name="Text 16"/>
          <p:cNvSpPr txBox="1"/>
          <p:nvPr/>
        </p:nvSpPr>
        <p:spPr>
          <a:xfrm>
            <a:off x="1691640" y="4572000"/>
            <a:ext cx="3991356" cy="365760"/>
          </a:xfrm>
          <a:prstGeom prst="rect">
            <a:avLst/>
          </a:prstGeom>
          <a:noFill/>
          <a:ln/>
        </p:spPr>
        <p:txBody>
          <a:bodyPr wrap="square" lIns="0" tIns="0" rIns="0" bIns="0" rtlCol="0" anchor="t"/>
          <a:lstStyle/>
          <a:p>
            <a:pPr indent="0" marL="0">
              <a:buNone/>
            </a:pPr>
            <a:r>
              <a:rPr lang="en-US" sz="1800" b="1" dirty="0">
                <a:solidFill>
                  <a:schemeClr val="tx1"/>
                </a:solidFill>
              </a:rPr>
              <a:t>Recorrido en el emulador</a:t>
            </a:r>
            <a:endParaRPr lang="en-US" sz="1800" dirty="0"/>
          </a:p>
        </p:txBody>
      </p:sp>
      <p:sp>
        <p:nvSpPr>
          <p:cNvPr id="20" name="Text 17"/>
          <p:cNvSpPr txBox="1"/>
          <p:nvPr/>
        </p:nvSpPr>
        <p:spPr>
          <a:xfrm>
            <a:off x="1691640" y="4983480"/>
            <a:ext cx="3991356" cy="822960"/>
          </a:xfrm>
          <a:prstGeom prst="rect">
            <a:avLst/>
          </a:prstGeom>
          <a:noFill/>
          <a:ln/>
        </p:spPr>
        <p:txBody>
          <a:bodyPr wrap="square" lIns="0" tIns="0" rIns="0" bIns="0" rtlCol="0" anchor="t"/>
          <a:lstStyle/>
          <a:p>
            <a:pPr indent="0" marL="0">
              <a:buNone/>
            </a:pPr>
            <a:r>
              <a:rPr lang="en-US" sz="1400" dirty="0">
                <a:solidFill>
                  <a:schemeClr val="tx2"/>
                </a:solidFill>
              </a:rPr>
              <a:t>7 casos, del registro con código a la cita confirmada en la agenda, todos correctos</a:t>
            </a:r>
            <a:endParaRPr lang="en-US" sz="1400" dirty="0"/>
          </a:p>
        </p:txBody>
      </p:sp>
      <p:sp>
        <p:nvSpPr>
          <p:cNvPr id="21" name="manual-1"/>
          <p:cNvSpPr/>
          <p:nvPr/>
        </p:nvSpPr>
        <p:spPr>
          <a:xfrm>
            <a:off x="6231636" y="4343400"/>
            <a:ext cx="5408676" cy="1737360"/>
          </a:xfrm>
          <a:prstGeom prst="roundRect">
            <a:avLst>
              <a:gd name="adj" fmla="val 6316"/>
            </a:avLst>
          </a:prstGeom>
          <a:solidFill>
            <a:schemeClr val="bg2"/>
          </a:solidFill>
          <a:ln/>
        </p:spPr>
      </p:sp>
      <p:sp>
        <p:nvSpPr>
          <p:cNvPr id="22" name="manual-1-circulo"/>
          <p:cNvSpPr/>
          <p:nvPr/>
        </p:nvSpPr>
        <p:spPr>
          <a:xfrm>
            <a:off x="6505956" y="4572000"/>
            <a:ext cx="640080" cy="640080"/>
          </a:xfrm>
          <a:prstGeom prst="ellipse">
            <a:avLst/>
          </a:prstGeom>
          <a:solidFill>
            <a:schemeClr val="accent1"/>
          </a:solidFill>
          <a:ln/>
        </p:spPr>
      </p:sp>
      <p:pic>
        <p:nvPicPr>
          <p:cNvPr id="23" name="manual-1-icono" descr="preencoded.png">    </p:cNvPr>
          <p:cNvPicPr>
            <a:picLocks noChangeAspect="1"/>
          </p:cNvPicPr>
          <p:nvPr/>
        </p:nvPicPr>
        <p:blipFill>
          <a:blip r:embed="rId2"/>
          <a:stretch>
            <a:fillRect/>
          </a:stretch>
        </p:blipFill>
        <p:spPr>
          <a:xfrm>
            <a:off x="6672377" y="4738421"/>
            <a:ext cx="307238" cy="307238"/>
          </a:xfrm>
          <a:prstGeom prst="rect">
            <a:avLst/>
          </a:prstGeom>
        </p:spPr>
      </p:pic>
      <p:sp>
        <p:nvSpPr>
          <p:cNvPr id="24" name="Text 20"/>
          <p:cNvSpPr txBox="1"/>
          <p:nvPr/>
        </p:nvSpPr>
        <p:spPr>
          <a:xfrm>
            <a:off x="7374636" y="4572000"/>
            <a:ext cx="3991356" cy="365760"/>
          </a:xfrm>
          <a:prstGeom prst="rect">
            <a:avLst/>
          </a:prstGeom>
          <a:noFill/>
          <a:ln/>
        </p:spPr>
        <p:txBody>
          <a:bodyPr wrap="square" lIns="0" tIns="0" rIns="0" bIns="0" rtlCol="0" anchor="t"/>
          <a:lstStyle/>
          <a:p>
            <a:pPr indent="0" marL="0">
              <a:buNone/>
            </a:pPr>
            <a:r>
              <a:rPr lang="en-US" sz="1800" b="1" dirty="0">
                <a:solidFill>
                  <a:schemeClr val="tx1"/>
                </a:solidFill>
              </a:rPr>
              <a:t>Comprobaciones con curl</a:t>
            </a:r>
            <a:endParaRPr lang="en-US" sz="1800" dirty="0"/>
          </a:p>
        </p:txBody>
      </p:sp>
      <p:sp>
        <p:nvSpPr>
          <p:cNvPr id="25" name="Text 21"/>
          <p:cNvSpPr txBox="1"/>
          <p:nvPr/>
        </p:nvSpPr>
        <p:spPr>
          <a:xfrm>
            <a:off x="7374636" y="4983480"/>
            <a:ext cx="3991356" cy="822960"/>
          </a:xfrm>
          <a:prstGeom prst="rect">
            <a:avLst/>
          </a:prstGeom>
          <a:noFill/>
          <a:ln/>
        </p:spPr>
        <p:txBody>
          <a:bodyPr wrap="square" lIns="0" tIns="0" rIns="0" bIns="0" rtlCol="0" anchor="t"/>
          <a:lstStyle/>
          <a:p>
            <a:pPr indent="0" marL="0">
              <a:buNone/>
            </a:pPr>
            <a:r>
              <a:rPr lang="en-US" sz="1400" dirty="0">
                <a:solidFill>
                  <a:schemeClr val="tx2"/>
                </a:solidFill>
              </a:rPr>
              <a:t>8 respuestas de la API revisadas a mano: 200, 401, 404, 405 y 400 con su código de error</a:t>
            </a:r>
            <a:endParaRPr lang="en-US" sz="1400" dirty="0"/>
          </a:p>
        </p:txBody>
      </p:sp>
      <p:sp>
        <p:nvSpPr>
          <p:cNvPr id="25" name="Slide Number Placeholder 0"/>
          <p:cNvSpPr>
            <a:spLocks noGrp="1"/>
          </p:cNvSpPr>
          <p:nvPr>
            <p:ph type="sldNum" sz="quarter" idx="4294967295"/>
          </p:nvPr>
        </p:nvSpPr>
        <p:spPr>
          <a:xfrm>
            <a:off x="11064240"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11064240" cy="320040"/>
          </a:xfrm>
          <a:prstGeom prst="rect">
            <a:avLst/>
          </a:prstGeom>
          <a:noFill/>
          <a:ln/>
        </p:spPr>
        <p:txBody>
          <a:bodyPr wrap="square" lIns="0" tIns="0" rIns="0" bIns="0" rtlCol="0" anchor="t"/>
          <a:lstStyle/>
          <a:p>
            <a:pPr indent="0" marL="0">
              <a:buNone/>
            </a:pPr>
            <a:r>
              <a:rPr lang="en-US" sz="1300" b="1" spc="300" kern="0" dirty="0">
                <a:solidFill>
                  <a:schemeClr val="accent1"/>
                </a:solidFill>
              </a:rPr>
              <a:t>DEMOSTRACIÓN</a:t>
            </a:r>
            <a:endParaRPr lang="en-US" sz="1300" dirty="0"/>
          </a:p>
        </p:txBody>
      </p:sp>
      <p:sp>
        <p:nvSpPr>
          <p:cNvPr id="3" name="Text 0"/>
          <p:cNvSpPr/>
          <p:nvPr>
            <p:ph idx="101" type="title" hasCustomPrompt="1"/>
          </p:nvPr>
        </p:nvSpPr>
        <p:spPr>
          <a:xfrm>
            <a:off x="548640" y="713232"/>
            <a:ext cx="11064240" cy="777240"/>
          </a:xfrm>
          <a:prstGeom prst="rect">
            <a:avLst/>
          </a:prstGeom>
          <a:noFill/>
          <a:ln/>
        </p:spPr>
        <p:txBody>
          <a:bodyPr wrap="square" lIns="0" tIns="0" rIns="0" bIns="0" rtlCol="0" anchor="t"/>
          <a:lstStyle/>
          <a:p>
            <a:pPr algn="l" indent="0" marL="0">
              <a:buNone/>
            </a:pPr>
            <a:r>
              <a:rPr lang="en-US" sz="3600" dirty="0">
                <a:solidFill>
                  <a:schemeClr val="tx1"/>
                </a:solidFill>
              </a:rPr>
              <a:t>LA APP FUNCIONANDO EN EL EMULADOR</a:t>
            </a:r>
            <a:endParaRPr lang="en-US" sz="3600" dirty="0"/>
          </a:p>
        </p:txBody>
      </p:sp>
      <p:sp>
        <p:nvSpPr>
          <p:cNvPr id="4" name="demo-A1-inicio-sesion-marco"/>
          <p:cNvSpPr/>
          <p:nvPr/>
        </p:nvSpPr>
        <p:spPr>
          <a:xfrm>
            <a:off x="548640" y="1737360"/>
            <a:ext cx="1856232" cy="3968496"/>
          </a:xfrm>
          <a:prstGeom prst="roundRect">
            <a:avLst>
              <a:gd name="adj" fmla="val 7882"/>
            </a:avLst>
          </a:prstGeom>
          <a:solidFill>
            <a:srgbClr val="1E1E21"/>
          </a:solidFill>
          <a:ln/>
          <a:effectLst>
            <a:outerShdw sx="100000" sy="100000" kx="0" ky="0" algn="bl" rotWithShape="0" blurRad="127000" dist="50800" dir="5400000">
              <a:srgbClr val="000000">
                <a:alpha val="25000"/>
              </a:srgbClr>
            </a:outerShdw>
          </a:effectLst>
        </p:spPr>
      </p:sp>
      <p:pic>
        <p:nvPicPr>
          <p:cNvPr id="5" name="demo-A1-inicio-sesion-imagen" descr="C:\Dev\clandestino-tfg\docs\capturas\A1-inicio-sesion.png">    </p:cNvPr>
          <p:cNvPicPr>
            <a:picLocks noChangeAspect="1"/>
          </p:cNvPicPr>
          <p:nvPr/>
        </p:nvPicPr>
        <p:blipFill>
          <a:blip r:embed="rId1"/>
          <a:stretch>
            <a:fillRect/>
          </a:stretch>
        </p:blipFill>
        <p:spPr>
          <a:xfrm>
            <a:off x="612648" y="1801368"/>
            <a:ext cx="1728216" cy="3840480"/>
          </a:xfrm>
          <a:prstGeom prst="rect">
            <a:avLst/>
          </a:prstGeom>
        </p:spPr>
      </p:pic>
      <p:sp>
        <p:nvSpPr>
          <p:cNvPr id="6" name="Text 3"/>
          <p:cNvSpPr txBox="1"/>
          <p:nvPr/>
        </p:nvSpPr>
        <p:spPr>
          <a:xfrm>
            <a:off x="548640" y="5779008"/>
            <a:ext cx="1856232" cy="320040"/>
          </a:xfrm>
          <a:prstGeom prst="rect">
            <a:avLst/>
          </a:prstGeom>
          <a:noFill/>
          <a:ln/>
        </p:spPr>
        <p:txBody>
          <a:bodyPr wrap="square" lIns="0" tIns="0" rIns="0" bIns="0" rtlCol="0" anchor="t"/>
          <a:lstStyle/>
          <a:p>
            <a:pPr algn="ctr" indent="0" marL="0">
              <a:buNone/>
            </a:pPr>
            <a:r>
              <a:rPr lang="en-US" sz="1400" b="1" dirty="0">
                <a:solidFill>
                  <a:schemeClr val="tx1"/>
                </a:solidFill>
              </a:rPr>
              <a:t>1 · Entrar</a:t>
            </a:r>
            <a:endParaRPr lang="en-US" sz="1400" dirty="0"/>
          </a:p>
        </p:txBody>
      </p:sp>
      <p:sp>
        <p:nvSpPr>
          <p:cNvPr id="7" name="demo-C2-pedir-cita-marco"/>
          <p:cNvSpPr/>
          <p:nvPr/>
        </p:nvSpPr>
        <p:spPr>
          <a:xfrm>
            <a:off x="2857500" y="1737360"/>
            <a:ext cx="1856232" cy="3968496"/>
          </a:xfrm>
          <a:prstGeom prst="roundRect">
            <a:avLst>
              <a:gd name="adj" fmla="val 7882"/>
            </a:avLst>
          </a:prstGeom>
          <a:solidFill>
            <a:srgbClr val="1E1E21"/>
          </a:solidFill>
          <a:ln/>
          <a:effectLst>
            <a:outerShdw sx="100000" sy="100000" kx="0" ky="0" algn="bl" rotWithShape="0" blurRad="127000" dist="50800" dir="5400000">
              <a:srgbClr val="000000">
                <a:alpha val="25000"/>
              </a:srgbClr>
            </a:outerShdw>
          </a:effectLst>
        </p:spPr>
      </p:sp>
      <p:pic>
        <p:nvPicPr>
          <p:cNvPr id="8" name="demo-C2-pedir-cita-imagen" descr="C:\Dev\clandestino-tfg\docs\capturas\C2-pedir-cita.png">    </p:cNvPr>
          <p:cNvPicPr>
            <a:picLocks noChangeAspect="1"/>
          </p:cNvPicPr>
          <p:nvPr/>
        </p:nvPicPr>
        <p:blipFill>
          <a:blip r:embed="rId2"/>
          <a:stretch>
            <a:fillRect/>
          </a:stretch>
        </p:blipFill>
        <p:spPr>
          <a:xfrm>
            <a:off x="2921508" y="1801368"/>
            <a:ext cx="1728216" cy="3840480"/>
          </a:xfrm>
          <a:prstGeom prst="rect">
            <a:avLst/>
          </a:prstGeom>
        </p:spPr>
      </p:pic>
      <p:sp>
        <p:nvSpPr>
          <p:cNvPr id="9" name="Text 5"/>
          <p:cNvSpPr txBox="1"/>
          <p:nvPr/>
        </p:nvSpPr>
        <p:spPr>
          <a:xfrm>
            <a:off x="2857500" y="5779008"/>
            <a:ext cx="1856232" cy="320040"/>
          </a:xfrm>
          <a:prstGeom prst="rect">
            <a:avLst/>
          </a:prstGeom>
          <a:noFill/>
          <a:ln/>
        </p:spPr>
        <p:txBody>
          <a:bodyPr wrap="square" lIns="0" tIns="0" rIns="0" bIns="0" rtlCol="0" anchor="t"/>
          <a:lstStyle/>
          <a:p>
            <a:pPr algn="ctr" indent="0" marL="0">
              <a:buNone/>
            </a:pPr>
            <a:r>
              <a:rPr lang="en-US" sz="1400" b="1" dirty="0">
                <a:solidFill>
                  <a:schemeClr val="tx1"/>
                </a:solidFill>
              </a:rPr>
              <a:t>2 · Pedir cita</a:t>
            </a:r>
            <a:endParaRPr lang="en-US" sz="1400" dirty="0"/>
          </a:p>
        </p:txBody>
      </p:sp>
      <p:sp>
        <p:nvSpPr>
          <p:cNvPr id="10" name="demo-D1-solicitudes-marco"/>
          <p:cNvSpPr/>
          <p:nvPr/>
        </p:nvSpPr>
        <p:spPr>
          <a:xfrm>
            <a:off x="5166360" y="1737360"/>
            <a:ext cx="1856232" cy="3968496"/>
          </a:xfrm>
          <a:prstGeom prst="roundRect">
            <a:avLst>
              <a:gd name="adj" fmla="val 7882"/>
            </a:avLst>
          </a:prstGeom>
          <a:solidFill>
            <a:srgbClr val="1E1E21"/>
          </a:solidFill>
          <a:ln/>
          <a:effectLst>
            <a:outerShdw sx="100000" sy="100000" kx="0" ky="0" algn="bl" rotWithShape="0" blurRad="127000" dist="50800" dir="5400000">
              <a:srgbClr val="000000">
                <a:alpha val="25000"/>
              </a:srgbClr>
            </a:outerShdw>
          </a:effectLst>
        </p:spPr>
      </p:sp>
      <p:pic>
        <p:nvPicPr>
          <p:cNvPr id="11" name="demo-D1-solicitudes-imagen" descr="C:\Dev\clandestino-tfg\docs\capturas\D1-solicitudes.png">    </p:cNvPr>
          <p:cNvPicPr>
            <a:picLocks noChangeAspect="1"/>
          </p:cNvPicPr>
          <p:nvPr/>
        </p:nvPicPr>
        <p:blipFill>
          <a:blip r:embed="rId3"/>
          <a:stretch>
            <a:fillRect/>
          </a:stretch>
        </p:blipFill>
        <p:spPr>
          <a:xfrm>
            <a:off x="5230368" y="1801368"/>
            <a:ext cx="1728216" cy="3840480"/>
          </a:xfrm>
          <a:prstGeom prst="rect">
            <a:avLst/>
          </a:prstGeom>
        </p:spPr>
      </p:pic>
      <p:sp>
        <p:nvSpPr>
          <p:cNvPr id="12" name="Text 7"/>
          <p:cNvSpPr txBox="1"/>
          <p:nvPr/>
        </p:nvSpPr>
        <p:spPr>
          <a:xfrm>
            <a:off x="5166360" y="5779008"/>
            <a:ext cx="1856232" cy="320040"/>
          </a:xfrm>
          <a:prstGeom prst="rect">
            <a:avLst/>
          </a:prstGeom>
          <a:noFill/>
          <a:ln/>
        </p:spPr>
        <p:txBody>
          <a:bodyPr wrap="square" lIns="0" tIns="0" rIns="0" bIns="0" rtlCol="0" anchor="t"/>
          <a:lstStyle/>
          <a:p>
            <a:pPr algn="ctr" indent="0" marL="0">
              <a:buNone/>
            </a:pPr>
            <a:r>
              <a:rPr lang="en-US" sz="1400" b="1" dirty="0">
                <a:solidFill>
                  <a:schemeClr val="tx1"/>
                </a:solidFill>
              </a:rPr>
              <a:t>3 · Solicitudes</a:t>
            </a:r>
            <a:endParaRPr lang="en-US" sz="1400" dirty="0"/>
          </a:p>
        </p:txBody>
      </p:sp>
      <p:sp>
        <p:nvSpPr>
          <p:cNvPr id="13" name="demo-D2-agenda-marco"/>
          <p:cNvSpPr/>
          <p:nvPr/>
        </p:nvSpPr>
        <p:spPr>
          <a:xfrm>
            <a:off x="7475220" y="1737360"/>
            <a:ext cx="1856232" cy="3968496"/>
          </a:xfrm>
          <a:prstGeom prst="roundRect">
            <a:avLst>
              <a:gd name="adj" fmla="val 7882"/>
            </a:avLst>
          </a:prstGeom>
          <a:solidFill>
            <a:srgbClr val="1E1E21"/>
          </a:solidFill>
          <a:ln/>
          <a:effectLst>
            <a:outerShdw sx="100000" sy="100000" kx="0" ky="0" algn="bl" rotWithShape="0" blurRad="127000" dist="50800" dir="5400000">
              <a:srgbClr val="000000">
                <a:alpha val="25000"/>
              </a:srgbClr>
            </a:outerShdw>
          </a:effectLst>
        </p:spPr>
      </p:sp>
      <p:pic>
        <p:nvPicPr>
          <p:cNvPr id="14" name="demo-D2-agenda-imagen" descr="C:\Dev\clandestino-tfg\docs\capturas\D2-agenda.png">    </p:cNvPr>
          <p:cNvPicPr>
            <a:picLocks noChangeAspect="1"/>
          </p:cNvPicPr>
          <p:nvPr/>
        </p:nvPicPr>
        <p:blipFill>
          <a:blip r:embed="rId4"/>
          <a:stretch>
            <a:fillRect/>
          </a:stretch>
        </p:blipFill>
        <p:spPr>
          <a:xfrm>
            <a:off x="7539228" y="1801368"/>
            <a:ext cx="1728216" cy="3840480"/>
          </a:xfrm>
          <a:prstGeom prst="rect">
            <a:avLst/>
          </a:prstGeom>
        </p:spPr>
      </p:pic>
      <p:sp>
        <p:nvSpPr>
          <p:cNvPr id="15" name="Text 9"/>
          <p:cNvSpPr txBox="1"/>
          <p:nvPr/>
        </p:nvSpPr>
        <p:spPr>
          <a:xfrm>
            <a:off x="7475220" y="5779008"/>
            <a:ext cx="1856232" cy="320040"/>
          </a:xfrm>
          <a:prstGeom prst="rect">
            <a:avLst/>
          </a:prstGeom>
          <a:noFill/>
          <a:ln/>
        </p:spPr>
        <p:txBody>
          <a:bodyPr wrap="square" lIns="0" tIns="0" rIns="0" bIns="0" rtlCol="0" anchor="t"/>
          <a:lstStyle/>
          <a:p>
            <a:pPr algn="ctr" indent="0" marL="0">
              <a:buNone/>
            </a:pPr>
            <a:r>
              <a:rPr lang="en-US" sz="1400" b="1" dirty="0">
                <a:solidFill>
                  <a:schemeClr val="tx1"/>
                </a:solidFill>
              </a:rPr>
              <a:t>4 · Agenda</a:t>
            </a:r>
            <a:endParaRPr lang="en-US" sz="1400" dirty="0"/>
          </a:p>
        </p:txBody>
      </p:sp>
      <p:sp>
        <p:nvSpPr>
          <p:cNvPr id="16" name="demo-D3-horarios-marco"/>
          <p:cNvSpPr/>
          <p:nvPr/>
        </p:nvSpPr>
        <p:spPr>
          <a:xfrm>
            <a:off x="9784080" y="1737360"/>
            <a:ext cx="1856232" cy="3968496"/>
          </a:xfrm>
          <a:prstGeom prst="roundRect">
            <a:avLst>
              <a:gd name="adj" fmla="val 7882"/>
            </a:avLst>
          </a:prstGeom>
          <a:solidFill>
            <a:srgbClr val="1E1E21"/>
          </a:solidFill>
          <a:ln/>
          <a:effectLst>
            <a:outerShdw sx="100000" sy="100000" kx="0" ky="0" algn="bl" rotWithShape="0" blurRad="127000" dist="50800" dir="5400000">
              <a:srgbClr val="000000">
                <a:alpha val="25000"/>
              </a:srgbClr>
            </a:outerShdw>
          </a:effectLst>
        </p:spPr>
      </p:sp>
      <p:pic>
        <p:nvPicPr>
          <p:cNvPr id="17" name="demo-D3-horarios-imagen" descr="C:\Dev\clandestino-tfg\docs\capturas\D3-horarios.png">    </p:cNvPr>
          <p:cNvPicPr>
            <a:picLocks noChangeAspect="1"/>
          </p:cNvPicPr>
          <p:nvPr/>
        </p:nvPicPr>
        <p:blipFill>
          <a:blip r:embed="rId5"/>
          <a:stretch>
            <a:fillRect/>
          </a:stretch>
        </p:blipFill>
        <p:spPr>
          <a:xfrm>
            <a:off x="9848088" y="1801368"/>
            <a:ext cx="1728216" cy="3840480"/>
          </a:xfrm>
          <a:prstGeom prst="rect">
            <a:avLst/>
          </a:prstGeom>
        </p:spPr>
      </p:pic>
      <p:sp>
        <p:nvSpPr>
          <p:cNvPr id="18" name="Text 11"/>
          <p:cNvSpPr txBox="1"/>
          <p:nvPr/>
        </p:nvSpPr>
        <p:spPr>
          <a:xfrm>
            <a:off x="9784080" y="5779008"/>
            <a:ext cx="1856232" cy="320040"/>
          </a:xfrm>
          <a:prstGeom prst="rect">
            <a:avLst/>
          </a:prstGeom>
          <a:noFill/>
          <a:ln/>
        </p:spPr>
        <p:txBody>
          <a:bodyPr wrap="square" lIns="0" tIns="0" rIns="0" bIns="0" rtlCol="0" anchor="t"/>
          <a:lstStyle/>
          <a:p>
            <a:pPr algn="ctr" indent="0" marL="0">
              <a:buNone/>
            </a:pPr>
            <a:r>
              <a:rPr lang="en-US" sz="1400" b="1" dirty="0">
                <a:solidFill>
                  <a:schemeClr val="tx1"/>
                </a:solidFill>
              </a:rPr>
              <a:t>5 · Horarios</a:t>
            </a:r>
            <a:endParaRPr lang="en-US" sz="1400" dirty="0"/>
          </a:p>
        </p:txBody>
      </p:sp>
      <p:sp>
        <p:nvSpPr>
          <p:cNvPr id="25" name="Slide Number Placeholder 0"/>
          <p:cNvSpPr>
            <a:spLocks noGrp="1"/>
          </p:cNvSpPr>
          <p:nvPr>
            <p:ph type="sldNum" sz="quarter" idx="4294967295"/>
          </p:nvPr>
        </p:nvSpPr>
        <p:spPr>
          <a:xfrm>
            <a:off x="11064240"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11064240" cy="320040"/>
          </a:xfrm>
          <a:prstGeom prst="rect">
            <a:avLst/>
          </a:prstGeom>
          <a:noFill/>
          <a:ln/>
        </p:spPr>
        <p:txBody>
          <a:bodyPr wrap="square" lIns="0" tIns="0" rIns="0" bIns="0" rtlCol="0" anchor="t"/>
          <a:lstStyle/>
          <a:p>
            <a:pPr indent="0" marL="0">
              <a:buNone/>
            </a:pPr>
            <a:r>
              <a:rPr lang="en-US" sz="1300" b="1" spc="300" kern="0" dirty="0">
                <a:solidFill>
                  <a:schemeClr val="accent1"/>
                </a:solidFill>
              </a:rPr>
              <a:t>8 · CONCLUSIONES</a:t>
            </a:r>
            <a:endParaRPr lang="en-US" sz="1300" dirty="0"/>
          </a:p>
        </p:txBody>
      </p:sp>
      <p:sp>
        <p:nvSpPr>
          <p:cNvPr id="3" name="Text 0"/>
          <p:cNvSpPr/>
          <p:nvPr>
            <p:ph idx="101" type="title" hasCustomPrompt="1"/>
          </p:nvPr>
        </p:nvSpPr>
        <p:spPr>
          <a:xfrm>
            <a:off x="548640" y="713232"/>
            <a:ext cx="11064240" cy="777240"/>
          </a:xfrm>
          <a:prstGeom prst="rect">
            <a:avLst/>
          </a:prstGeom>
          <a:noFill/>
          <a:ln/>
        </p:spPr>
        <p:txBody>
          <a:bodyPr wrap="square" lIns="0" tIns="0" rIns="0" bIns="0" rtlCol="0" anchor="t"/>
          <a:lstStyle/>
          <a:p>
            <a:pPr algn="l" indent="0" marL="0">
              <a:buNone/>
            </a:pPr>
            <a:r>
              <a:rPr lang="en-US" sz="3600" dirty="0">
                <a:solidFill>
                  <a:schemeClr val="tx1"/>
                </a:solidFill>
              </a:rPr>
              <a:t>OBJETIVOS CUMPLIDOS Y LO QUE FALTA</a:t>
            </a:r>
            <a:endParaRPr lang="en-US" sz="3600" dirty="0"/>
          </a:p>
        </p:txBody>
      </p:sp>
      <p:sp>
        <p:nvSpPr>
          <p:cNvPr id="4" name="col-cumplido"/>
          <p:cNvSpPr/>
          <p:nvPr/>
        </p:nvSpPr>
        <p:spPr>
          <a:xfrm>
            <a:off x="548640" y="1737360"/>
            <a:ext cx="3514344" cy="4389120"/>
          </a:xfrm>
          <a:prstGeom prst="roundRect">
            <a:avLst>
              <a:gd name="adj" fmla="val 3122"/>
            </a:avLst>
          </a:prstGeom>
          <a:solidFill>
            <a:schemeClr val="tx1"/>
          </a:solidFill>
          <a:ln/>
        </p:spPr>
      </p:sp>
      <p:sp>
        <p:nvSpPr>
          <p:cNvPr id="5" name="Text 3"/>
          <p:cNvSpPr txBox="1"/>
          <p:nvPr/>
        </p:nvSpPr>
        <p:spPr>
          <a:xfrm>
            <a:off x="868680" y="1920240"/>
            <a:ext cx="2926080" cy="1051560"/>
          </a:xfrm>
          <a:prstGeom prst="rect">
            <a:avLst/>
          </a:prstGeom>
          <a:noFill/>
          <a:ln/>
        </p:spPr>
        <p:txBody>
          <a:bodyPr wrap="square" lIns="0" tIns="0" rIns="0" bIns="0" rtlCol="0" anchor="t"/>
          <a:lstStyle/>
          <a:p>
            <a:pPr indent="0" marL="0">
              <a:buNone/>
            </a:pPr>
            <a:r>
              <a:rPr lang="en-US" sz="6400" dirty="0">
                <a:solidFill>
                  <a:schemeClr val="accent1"/>
                </a:solidFill>
                <a:latin typeface="+mj-lt" pitchFamily="34" charset="0"/>
                <a:ea typeface="+mj-lt" pitchFamily="34" charset="-122"/>
                <a:cs typeface="+mj-lt" pitchFamily="34" charset="-120"/>
              </a:rPr>
              <a:t>5 / 5</a:t>
            </a:r>
            <a:endParaRPr lang="en-US" sz="6400" dirty="0"/>
          </a:p>
        </p:txBody>
      </p:sp>
      <p:sp>
        <p:nvSpPr>
          <p:cNvPr id="6" name="Text 4"/>
          <p:cNvSpPr txBox="1"/>
          <p:nvPr/>
        </p:nvSpPr>
        <p:spPr>
          <a:xfrm>
            <a:off x="868680" y="2971800"/>
            <a:ext cx="2926080" cy="411480"/>
          </a:xfrm>
          <a:prstGeom prst="rect">
            <a:avLst/>
          </a:prstGeom>
          <a:noFill/>
          <a:ln/>
        </p:spPr>
        <p:txBody>
          <a:bodyPr wrap="square" lIns="0" tIns="0" rIns="0" bIns="0" rtlCol="0" anchor="t"/>
          <a:lstStyle/>
          <a:p>
            <a:pPr indent="0" marL="0">
              <a:buNone/>
            </a:pPr>
            <a:r>
              <a:rPr lang="en-US" sz="2000" b="1" dirty="0">
                <a:solidFill>
                  <a:schemeClr val="bg1"/>
                </a:solidFill>
              </a:rPr>
              <a:t>objetivos cumplidos</a:t>
            </a:r>
            <a:endParaRPr lang="en-US" sz="2000" dirty="0"/>
          </a:p>
        </p:txBody>
      </p:sp>
      <p:sp>
        <p:nvSpPr>
          <p:cNvPr id="7" name="Text 5"/>
          <p:cNvSpPr txBox="1"/>
          <p:nvPr/>
        </p:nvSpPr>
        <p:spPr>
          <a:xfrm>
            <a:off x="868680" y="3611880"/>
            <a:ext cx="2926080" cy="2286000"/>
          </a:xfrm>
          <a:prstGeom prst="rect">
            <a:avLst/>
          </a:prstGeom>
          <a:noFill/>
          <a:ln/>
        </p:spPr>
        <p:txBody>
          <a:bodyPr wrap="square" lIns="0" tIns="0" rIns="0" bIns="0" rtlCol="0" anchor="t"/>
          <a:lstStyle/>
          <a:p>
            <a:pPr marL="203200" indent="-203200">
              <a:spcAft>
                <a:spcPts val="800"/>
              </a:spcAft>
              <a:buSzPct val="100000"/>
              <a:buChar char="•"/>
            </a:pPr>
            <a:r>
              <a:rPr lang="en-US" sz="1500" dirty="0">
                <a:solidFill>
                  <a:schemeClr val="accent6"/>
                </a:solidFill>
              </a:rPr>
              <a:t>Prototipo P1 completo</a:t>
            </a:r>
            <a:endParaRPr lang="en-US" sz="1500" dirty="0"/>
          </a:p>
          <a:p>
            <a:pPr marL="203200" indent="-203200">
              <a:spcAft>
                <a:spcPts val="800"/>
              </a:spcAft>
              <a:buSzPct val="100000"/>
              <a:buChar char="•"/>
            </a:pPr>
            <a:r>
              <a:rPr lang="en-US" sz="1500" dirty="0">
                <a:solidFill>
                  <a:schemeClr val="accent6"/>
                </a:solidFill>
              </a:rPr>
              <a:t>Los 30 requisitos funcionales programados</a:t>
            </a:r>
            <a:endParaRPr lang="en-US" sz="1500" dirty="0"/>
          </a:p>
          <a:p>
            <a:pPr marL="203200" indent="-203200">
              <a:spcAft>
                <a:spcPts val="800"/>
              </a:spcAft>
              <a:buSzPct val="100000"/>
              <a:buChar char="•"/>
            </a:pPr>
            <a:r>
              <a:rPr lang="en-US" sz="1500" dirty="0">
                <a:solidFill>
                  <a:schemeClr val="accent6"/>
                </a:solidFill>
              </a:rPr>
              <a:t>Recorrido completo documentado con capturas</a:t>
            </a:r>
            <a:endParaRPr lang="en-US" sz="1500" dirty="0"/>
          </a:p>
        </p:txBody>
      </p:sp>
      <p:sp>
        <p:nvSpPr>
          <p:cNvPr id="8" name="col-Limitaciones"/>
          <p:cNvSpPr/>
          <p:nvPr/>
        </p:nvSpPr>
        <p:spPr>
          <a:xfrm>
            <a:off x="4337304" y="1737360"/>
            <a:ext cx="3514344" cy="4389120"/>
          </a:xfrm>
          <a:prstGeom prst="roundRect">
            <a:avLst>
              <a:gd name="adj" fmla="val 3122"/>
            </a:avLst>
          </a:prstGeom>
          <a:solidFill>
            <a:schemeClr val="bg2"/>
          </a:solidFill>
          <a:ln/>
        </p:spPr>
      </p:sp>
      <p:sp>
        <p:nvSpPr>
          <p:cNvPr id="9" name="col-Limitaciones-circulo"/>
          <p:cNvSpPr/>
          <p:nvPr/>
        </p:nvSpPr>
        <p:spPr>
          <a:xfrm>
            <a:off x="4657344" y="2011680"/>
            <a:ext cx="640080" cy="640080"/>
          </a:xfrm>
          <a:prstGeom prst="ellipse">
            <a:avLst/>
          </a:prstGeom>
          <a:solidFill>
            <a:schemeClr val="accent1"/>
          </a:solidFill>
          <a:ln/>
        </p:spPr>
      </p:sp>
      <p:pic>
        <p:nvPicPr>
          <p:cNvPr id="10" name="col-Limitaciones-icono" descr="preencoded.png">    </p:cNvPr>
          <p:cNvPicPr>
            <a:picLocks noChangeAspect="1"/>
          </p:cNvPicPr>
          <p:nvPr/>
        </p:nvPicPr>
        <p:blipFill>
          <a:blip r:embed="rId1"/>
          <a:stretch>
            <a:fillRect/>
          </a:stretch>
        </p:blipFill>
        <p:spPr>
          <a:xfrm>
            <a:off x="4823765" y="2178101"/>
            <a:ext cx="307238" cy="307238"/>
          </a:xfrm>
          <a:prstGeom prst="rect">
            <a:avLst/>
          </a:prstGeom>
        </p:spPr>
      </p:pic>
      <p:sp>
        <p:nvSpPr>
          <p:cNvPr id="11" name="Text 8"/>
          <p:cNvSpPr txBox="1"/>
          <p:nvPr/>
        </p:nvSpPr>
        <p:spPr>
          <a:xfrm>
            <a:off x="5480304" y="2103120"/>
            <a:ext cx="2142744" cy="457200"/>
          </a:xfrm>
          <a:prstGeom prst="rect">
            <a:avLst/>
          </a:prstGeom>
          <a:noFill/>
          <a:ln/>
        </p:spPr>
        <p:txBody>
          <a:bodyPr wrap="square" lIns="0" tIns="0" rIns="0" bIns="0" rtlCol="0" anchor="ctr"/>
          <a:lstStyle/>
          <a:p>
            <a:pPr indent="0" marL="0">
              <a:buNone/>
            </a:pPr>
            <a:r>
              <a:rPr lang="en-US" sz="2000" b="1" dirty="0">
                <a:solidFill>
                  <a:schemeClr val="tx1"/>
                </a:solidFill>
              </a:rPr>
              <a:t>Limitaciones</a:t>
            </a:r>
            <a:endParaRPr lang="en-US" sz="2000" dirty="0"/>
          </a:p>
        </p:txBody>
      </p:sp>
      <p:sp>
        <p:nvSpPr>
          <p:cNvPr id="12" name="Text 9"/>
          <p:cNvSpPr txBox="1"/>
          <p:nvPr/>
        </p:nvSpPr>
        <p:spPr>
          <a:xfrm>
            <a:off x="4657344" y="2926080"/>
            <a:ext cx="2919984" cy="3017520"/>
          </a:xfrm>
          <a:prstGeom prst="rect">
            <a:avLst/>
          </a:prstGeom>
          <a:noFill/>
          <a:ln/>
        </p:spPr>
        <p:txBody>
          <a:bodyPr wrap="square" lIns="0" tIns="0" rIns="0" bIns="0" rtlCol="0" anchor="t"/>
          <a:lstStyle/>
          <a:p>
            <a:pPr marL="203200" indent="-203200">
              <a:spcAft>
                <a:spcPts val="800"/>
              </a:spcAft>
              <a:buSzPct val="100000"/>
              <a:buChar char="•"/>
            </a:pPr>
            <a:r>
              <a:rPr lang="en-US" sz="1500" dirty="0">
                <a:solidFill>
                  <a:schemeClr val="tx1"/>
                </a:solidFill>
              </a:rPr>
              <a:t>Sin HTTPS, solo apto para uso local</a:t>
            </a:r>
            <a:endParaRPr lang="en-US" sz="1500" dirty="0"/>
          </a:p>
          <a:p>
            <a:pPr marL="203200" indent="-203200">
              <a:spcAft>
                <a:spcPts val="800"/>
              </a:spcAft>
              <a:buSzPct val="100000"/>
              <a:buChar char="•"/>
            </a:pPr>
            <a:r>
              <a:rPr lang="en-US" sz="1500" dirty="0">
                <a:solidFill>
                  <a:schemeClr val="tx1"/>
                </a:solidFill>
              </a:rPr>
              <a:t>El cerrojo vive en la memoria de una única API</a:t>
            </a:r>
            <a:endParaRPr lang="en-US" sz="1500" dirty="0"/>
          </a:p>
          <a:p>
            <a:pPr marL="203200" indent="-203200">
              <a:spcAft>
                <a:spcPts val="800"/>
              </a:spcAft>
              <a:buSzPct val="100000"/>
              <a:buChar char="•"/>
            </a:pPr>
            <a:r>
              <a:rPr lang="en-US" sz="1500" dirty="0">
                <a:solidFill>
                  <a:schemeClr val="tx1"/>
                </a:solidFill>
              </a:rPr>
              <a:t>Las solicitudes pendientes no caducan solas</a:t>
            </a:r>
            <a:endParaRPr lang="en-US" sz="1500" dirty="0"/>
          </a:p>
          <a:p>
            <a:pPr marL="203200" indent="-203200">
              <a:spcAft>
                <a:spcPts val="800"/>
              </a:spcAft>
              <a:buSzPct val="100000"/>
              <a:buChar char="•"/>
            </a:pPr>
            <a:r>
              <a:rPr lang="en-US" sz="1500" dirty="0">
                <a:solidFill>
                  <a:schemeClr val="tx1"/>
                </a:solidFill>
              </a:rPr>
              <a:t>Sin pruebas de interfaz ni copia automática</a:t>
            </a:r>
            <a:endParaRPr lang="en-US" sz="1500" dirty="0"/>
          </a:p>
        </p:txBody>
      </p:sp>
      <p:sp>
        <p:nvSpPr>
          <p:cNvPr id="13" name="col-Trabajo futuro"/>
          <p:cNvSpPr/>
          <p:nvPr/>
        </p:nvSpPr>
        <p:spPr>
          <a:xfrm>
            <a:off x="8125968" y="1737360"/>
            <a:ext cx="3514344" cy="4389120"/>
          </a:xfrm>
          <a:prstGeom prst="roundRect">
            <a:avLst>
              <a:gd name="adj" fmla="val 3122"/>
            </a:avLst>
          </a:prstGeom>
          <a:solidFill>
            <a:schemeClr val="bg2"/>
          </a:solidFill>
          <a:ln/>
        </p:spPr>
      </p:sp>
      <p:sp>
        <p:nvSpPr>
          <p:cNvPr id="14" name="col-Trabajo futuro-circulo"/>
          <p:cNvSpPr/>
          <p:nvPr/>
        </p:nvSpPr>
        <p:spPr>
          <a:xfrm>
            <a:off x="8446008" y="2011680"/>
            <a:ext cx="640080" cy="640080"/>
          </a:xfrm>
          <a:prstGeom prst="ellipse">
            <a:avLst/>
          </a:prstGeom>
          <a:solidFill>
            <a:schemeClr val="accent1"/>
          </a:solidFill>
          <a:ln/>
        </p:spPr>
      </p:sp>
      <p:pic>
        <p:nvPicPr>
          <p:cNvPr id="15" name="col-Trabajo futuro-icono" descr="preencoded.png">    </p:cNvPr>
          <p:cNvPicPr>
            <a:picLocks noChangeAspect="1"/>
          </p:cNvPicPr>
          <p:nvPr/>
        </p:nvPicPr>
        <p:blipFill>
          <a:blip r:embed="rId2"/>
          <a:stretch>
            <a:fillRect/>
          </a:stretch>
        </p:blipFill>
        <p:spPr>
          <a:xfrm>
            <a:off x="8612429" y="2178101"/>
            <a:ext cx="307238" cy="307238"/>
          </a:xfrm>
          <a:prstGeom prst="rect">
            <a:avLst/>
          </a:prstGeom>
        </p:spPr>
      </p:pic>
      <p:sp>
        <p:nvSpPr>
          <p:cNvPr id="16" name="Text 12"/>
          <p:cNvSpPr txBox="1"/>
          <p:nvPr/>
        </p:nvSpPr>
        <p:spPr>
          <a:xfrm>
            <a:off x="9268968" y="2103120"/>
            <a:ext cx="2142744" cy="457200"/>
          </a:xfrm>
          <a:prstGeom prst="rect">
            <a:avLst/>
          </a:prstGeom>
          <a:noFill/>
          <a:ln/>
        </p:spPr>
        <p:txBody>
          <a:bodyPr wrap="square" lIns="0" tIns="0" rIns="0" bIns="0" rtlCol="0" anchor="ctr"/>
          <a:lstStyle/>
          <a:p>
            <a:pPr indent="0" marL="0">
              <a:buNone/>
            </a:pPr>
            <a:r>
              <a:rPr lang="en-US" sz="2000" b="1" dirty="0">
                <a:solidFill>
                  <a:schemeClr val="tx1"/>
                </a:solidFill>
              </a:rPr>
              <a:t>Trabajo futuro</a:t>
            </a:r>
            <a:endParaRPr lang="en-US" sz="2000" dirty="0"/>
          </a:p>
        </p:txBody>
      </p:sp>
      <p:sp>
        <p:nvSpPr>
          <p:cNvPr id="17" name="Text 13"/>
          <p:cNvSpPr txBox="1"/>
          <p:nvPr/>
        </p:nvSpPr>
        <p:spPr>
          <a:xfrm>
            <a:off x="8446008" y="2926080"/>
            <a:ext cx="2919984" cy="3017520"/>
          </a:xfrm>
          <a:prstGeom prst="rect">
            <a:avLst/>
          </a:prstGeom>
          <a:noFill/>
          <a:ln/>
        </p:spPr>
        <p:txBody>
          <a:bodyPr wrap="square" lIns="0" tIns="0" rIns="0" bIns="0" rtlCol="0" anchor="t"/>
          <a:lstStyle/>
          <a:p>
            <a:pPr marL="203200" indent="-203200">
              <a:spcAft>
                <a:spcPts val="800"/>
              </a:spcAft>
              <a:buSzPct val="100000"/>
              <a:buChar char="•"/>
            </a:pPr>
            <a:r>
              <a:rPr lang="en-US" sz="1500" dirty="0">
                <a:solidFill>
                  <a:schemeClr val="tx1"/>
                </a:solidFill>
              </a:rPr>
              <a:t>Funciones P2: cita creada por el barbero y caducidad de solicitudes</a:t>
            </a:r>
            <a:endParaRPr lang="en-US" sz="1500" dirty="0"/>
          </a:p>
          <a:p>
            <a:pPr marL="203200" indent="-203200">
              <a:spcAft>
                <a:spcPts val="800"/>
              </a:spcAft>
              <a:buSzPct val="100000"/>
              <a:buChar char="•"/>
            </a:pPr>
            <a:r>
              <a:rPr lang="en-US" sz="1500" dirty="0">
                <a:solidFill>
                  <a:schemeClr val="tx1"/>
                </a:solidFill>
              </a:rPr>
              <a:t>Avisos al cliente</a:t>
            </a:r>
            <a:endParaRPr lang="en-US" sz="1500" dirty="0"/>
          </a:p>
          <a:p>
            <a:pPr marL="203200" indent="-203200">
              <a:spcAft>
                <a:spcPts val="800"/>
              </a:spcAft>
              <a:buSzPct val="100000"/>
              <a:buChar char="•"/>
            </a:pPr>
            <a:r>
              <a:rPr lang="en-US" sz="1500" dirty="0">
                <a:solidFill>
                  <a:schemeClr val="tx1"/>
                </a:solidFill>
              </a:rPr>
              <a:t>Resumen mensual de ingresos</a:t>
            </a:r>
            <a:endParaRPr lang="en-US" sz="1500" dirty="0"/>
          </a:p>
          <a:p>
            <a:pPr marL="203200" indent="-203200">
              <a:spcAft>
                <a:spcPts val="800"/>
              </a:spcAft>
              <a:buSzPct val="100000"/>
              <a:buChar char="•"/>
            </a:pPr>
            <a:r>
              <a:rPr lang="en-US" sz="1500" dirty="0">
                <a:solidFill>
                  <a:schemeClr val="tx1"/>
                </a:solidFill>
              </a:rPr>
              <a:t>API publicada con HTTPS</a:t>
            </a:r>
            <a:endParaRPr lang="en-US" sz="1500" dirty="0"/>
          </a:p>
        </p:txBody>
      </p:sp>
      <p:sp>
        <p:nvSpPr>
          <p:cNvPr id="25" name="Slide Number Placeholder 0"/>
          <p:cNvSpPr>
            <a:spLocks noGrp="1"/>
          </p:cNvSpPr>
          <p:nvPr>
            <p:ph type="sldNum" sz="quarter" idx="4294967295"/>
          </p:nvPr>
        </p:nvSpPr>
        <p:spPr>
          <a:xfrm>
            <a:off x="11064240"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640080" y="2011680"/>
            <a:ext cx="6858000" cy="1463040"/>
          </a:xfrm>
          <a:prstGeom prst="rect">
            <a:avLst/>
          </a:prstGeom>
          <a:noFill/>
          <a:ln/>
        </p:spPr>
        <p:txBody>
          <a:bodyPr wrap="square" lIns="0" tIns="0" rIns="0" bIns="0" rtlCol="0" anchor="t"/>
          <a:lstStyle/>
          <a:p>
            <a:pPr indent="0" marL="0">
              <a:buNone/>
            </a:pPr>
            <a:r>
              <a:rPr lang="en-US" sz="9600" dirty="0">
                <a:solidFill>
                  <a:schemeClr val="bg1"/>
                </a:solidFill>
                <a:latin typeface="+mj-lt" pitchFamily="34" charset="0"/>
                <a:ea typeface="+mj-lt" pitchFamily="34" charset="-122"/>
                <a:cs typeface="+mj-lt" pitchFamily="34" charset="-120"/>
              </a:rPr>
              <a:t>GRACIAS</a:t>
            </a:r>
            <a:endParaRPr lang="en-US" sz="9600" dirty="0"/>
          </a:p>
        </p:txBody>
      </p:sp>
      <p:sp>
        <p:nvSpPr>
          <p:cNvPr id="3" name="Text 1"/>
          <p:cNvSpPr txBox="1"/>
          <p:nvPr/>
        </p:nvSpPr>
        <p:spPr>
          <a:xfrm>
            <a:off x="640080" y="3657600"/>
            <a:ext cx="6858000" cy="411480"/>
          </a:xfrm>
          <a:prstGeom prst="rect">
            <a:avLst/>
          </a:prstGeom>
          <a:noFill/>
          <a:ln/>
        </p:spPr>
        <p:txBody>
          <a:bodyPr wrap="square" lIns="0" tIns="0" rIns="0" bIns="0" rtlCol="0" anchor="t"/>
          <a:lstStyle/>
          <a:p>
            <a:pPr indent="0" marL="0">
              <a:buNone/>
            </a:pPr>
            <a:r>
              <a:rPr lang="en-US" sz="2000" b="1" dirty="0">
                <a:solidFill>
                  <a:schemeClr val="bg1"/>
                </a:solidFill>
              </a:rPr>
              <a:t>Clandestino · [Nombre del alumno]</a:t>
            </a:r>
            <a:endParaRPr lang="en-US" sz="2000" dirty="0"/>
          </a:p>
        </p:txBody>
      </p:sp>
      <p:sp>
        <p:nvSpPr>
          <p:cNvPr id="4" name="Text 2"/>
          <p:cNvSpPr txBox="1"/>
          <p:nvPr/>
        </p:nvSpPr>
        <p:spPr>
          <a:xfrm>
            <a:off x="640080" y="4114800"/>
            <a:ext cx="6858000" cy="365760"/>
          </a:xfrm>
          <a:prstGeom prst="rect">
            <a:avLst/>
          </a:prstGeom>
          <a:noFill/>
          <a:ln/>
        </p:spPr>
        <p:txBody>
          <a:bodyPr wrap="square" lIns="0" tIns="0" rIns="0" bIns="0" rtlCol="0" anchor="t"/>
          <a:lstStyle/>
          <a:p>
            <a:pPr indent="0" marL="0">
              <a:buNone/>
            </a:pPr>
            <a:r>
              <a:rPr lang="en-US" sz="1600" dirty="0">
                <a:solidFill>
                  <a:schemeClr val="accent3"/>
                </a:solidFill>
              </a:rPr>
              <a:t>Código y memoria: [URL del repositorio]</a:t>
            </a:r>
            <a:endParaRPr lang="en-US" sz="1600" dirty="0"/>
          </a:p>
        </p:txBody>
      </p:sp>
      <p:sp>
        <p:nvSpPr>
          <p:cNvPr id="5" name="cierre-c1-marco"/>
          <p:cNvSpPr/>
          <p:nvPr/>
        </p:nvSpPr>
        <p:spPr>
          <a:xfrm>
            <a:off x="8778240" y="914400"/>
            <a:ext cx="2185416" cy="4700016"/>
          </a:xfrm>
          <a:prstGeom prst="roundRect">
            <a:avLst>
              <a:gd name="adj" fmla="val 6695"/>
            </a:avLst>
          </a:prstGeom>
          <a:solidFill>
            <a:srgbClr val="1E1E21"/>
          </a:solidFill>
          <a:ln/>
        </p:spPr>
      </p:sp>
      <p:pic>
        <p:nvPicPr>
          <p:cNvPr id="6" name="cierre-c1-imagen" descr="C:\Dev\clandestino-tfg\docs\capturas\C1-mis-citas.png">    </p:cNvPr>
          <p:cNvPicPr>
            <a:picLocks noChangeAspect="1"/>
          </p:cNvPicPr>
          <p:nvPr/>
        </p:nvPicPr>
        <p:blipFill>
          <a:blip r:embed="rId1"/>
          <a:stretch>
            <a:fillRect/>
          </a:stretch>
        </p:blipFill>
        <p:spPr>
          <a:xfrm>
            <a:off x="8842248" y="978408"/>
            <a:ext cx="2057400" cy="4572000"/>
          </a:xfrm>
          <a:prstGeom prst="rect">
            <a:avLst/>
          </a:prstGeom>
        </p:spPr>
      </p:pic>
    </p:spTree>
  </p:cSld>
  <p:clrMapOvr>
    <a:masterClrMapping/>
  </p:clrMapOvr>
</p:sld>
</file>

<file path=ppt/theme/theme1.xml><?xml version="1.0" encoding="utf-8"?>
<a:theme xmlns:a="http://schemas.openxmlformats.org/drawingml/2006/main" name="Clandestino">
  <a:themeElements>
    <a:clrScheme name="Clandestino">
      <a:dk1>
        <a:srgbClr val="121212"/>
      </a:dk1>
      <a:lt1>
        <a:srgbClr val="FFFFFF"/>
      </a:lt1>
      <a:dk2>
        <a:srgbClr val="5A5A5E"/>
      </a:dk2>
      <a:lt2>
        <a:srgbClr val="F2F2F4"/>
      </a:lt2>
      <a:accent1>
        <a:srgbClr val="DD0426"/>
      </a:accent1>
      <a:accent2>
        <a:srgbClr val="C40320"/>
      </a:accent2>
      <a:accent3>
        <a:srgbClr val="8E8E93"/>
      </a:accent3>
      <a:accent4>
        <a:srgbClr val="1D4ED8"/>
      </a:accent4>
      <a:accent5>
        <a:srgbClr val="FCE6E9"/>
      </a:accent5>
      <a:accent6>
        <a:srgbClr val="DADADF"/>
      </a:accent6>
      <a:hlink>
        <a:srgbClr val="DD0426"/>
      </a:hlink>
      <a:folHlink>
        <a:srgbClr val="C40320"/>
      </a:folHlink>
    </a:clrScheme>
    <a:fontScheme name="Clandestino">
      <a:majorFont>
        <a:latin typeface="Impac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Clandestino · Defensa del TFG</dc:title>
  <dc:subject>PptxGenJS Presentation</dc:subject>
  <dc:creator>[Nombre del alumno]</dc:creator>
  <cp:lastModifiedBy>[Nombre del alumno]</cp:lastModifiedBy>
  <cp:revision>1</cp:revision>
  <dcterms:created xsi:type="dcterms:W3CDTF">2026-10-16T08:47:52Z</dcterms:created>
  <dcterms:modified xsi:type="dcterms:W3CDTF">2026-10-16T08:47:52Z</dcterms:modified>
</cp:coreProperties>
</file>